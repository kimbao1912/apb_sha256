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316" r:id="rId5"/>
    <p:sldId id="259" r:id="rId6"/>
    <p:sldId id="274" r:id="rId7"/>
    <p:sldId id="275" r:id="rId8"/>
    <p:sldId id="312" r:id="rId9"/>
    <p:sldId id="306" r:id="rId10"/>
    <p:sldId id="307" r:id="rId11"/>
    <p:sldId id="308" r:id="rId12"/>
    <p:sldId id="309" r:id="rId13"/>
    <p:sldId id="310" r:id="rId14"/>
    <p:sldId id="311" r:id="rId15"/>
    <p:sldId id="317" r:id="rId16"/>
    <p:sldId id="318" r:id="rId17"/>
    <p:sldId id="319" r:id="rId18"/>
    <p:sldId id="320" r:id="rId19"/>
    <p:sldId id="277" r:id="rId20"/>
    <p:sldId id="278" r:id="rId21"/>
    <p:sldId id="280" r:id="rId22"/>
    <p:sldId id="276" r:id="rId23"/>
    <p:sldId id="279" r:id="rId24"/>
    <p:sldId id="283" r:id="rId25"/>
    <p:sldId id="285" r:id="rId26"/>
    <p:sldId id="287" r:id="rId27"/>
    <p:sldId id="291" r:id="rId28"/>
    <p:sldId id="292" r:id="rId29"/>
    <p:sldId id="260" r:id="rId30"/>
    <p:sldId id="313" r:id="rId31"/>
    <p:sldId id="324" r:id="rId32"/>
    <p:sldId id="325" r:id="rId33"/>
    <p:sldId id="322" r:id="rId34"/>
    <p:sldId id="323" r:id="rId35"/>
    <p:sldId id="298" r:id="rId36"/>
    <p:sldId id="299" r:id="rId37"/>
    <p:sldId id="300" r:id="rId38"/>
    <p:sldId id="264" r:id="rId39"/>
    <p:sldId id="321" r:id="rId40"/>
    <p:sldId id="327" r:id="rId41"/>
    <p:sldId id="328" r:id="rId42"/>
    <p:sldId id="329" r:id="rId43"/>
    <p:sldId id="326" r:id="rId44"/>
    <p:sldId id="314" r:id="rId45"/>
    <p:sldId id="315" r:id="rId46"/>
    <p:sldId id="269" r:id="rId47"/>
    <p:sldId id="270" r:id="rId48"/>
    <p:sldId id="302" r:id="rId49"/>
    <p:sldId id="330" r:id="rId50"/>
    <p:sldId id="303" r:id="rId51"/>
    <p:sldId id="331" r:id="rId52"/>
    <p:sldId id="332" r:id="rId53"/>
    <p:sldId id="333" r:id="rId54"/>
    <p:sldId id="305" r:id="rId55"/>
    <p:sldId id="273" r:id="rId5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4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varScale="1">
        <p:scale>
          <a:sx n="76" d="100"/>
          <a:sy n="76" d="100"/>
        </p:scale>
        <p:origin x="53"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08317" y="480313"/>
            <a:ext cx="7871459" cy="575310"/>
          </a:xfrm>
          <a:prstGeom prst="rect">
            <a:avLst/>
          </a:prstGeom>
        </p:spPr>
        <p:txBody>
          <a:bodyPr wrap="square" lIns="0" tIns="0" rIns="0" bIns="0">
            <a:spAutoFit/>
          </a:bodyPr>
          <a:lstStyle>
            <a:lvl1pPr>
              <a:defRPr sz="3600" b="1" i="0">
                <a:solidFill>
                  <a:srgbClr val="7C45A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5" name="Holder 5"/>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Holder 6"/>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7C45A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5" name="Holder 5"/>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Holder 6"/>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7C45A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6" name="Holder 6"/>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7" name="Holder 7"/>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809625"/>
            <a:ext cx="11810999" cy="3438525"/>
          </a:xfrm>
          <a:prstGeom prst="rect">
            <a:avLst/>
          </a:prstGeom>
        </p:spPr>
      </p:pic>
      <p:sp>
        <p:nvSpPr>
          <p:cNvPr id="2" name="Holder 2"/>
          <p:cNvSpPr>
            <a:spLocks noGrp="1"/>
          </p:cNvSpPr>
          <p:nvPr>
            <p:ph type="title"/>
          </p:nvPr>
        </p:nvSpPr>
        <p:spPr/>
        <p:txBody>
          <a:bodyPr lIns="0" tIns="0" rIns="0" bIns="0"/>
          <a:lstStyle>
            <a:lvl1pPr>
              <a:defRPr sz="3600" b="1" i="0">
                <a:solidFill>
                  <a:srgbClr val="7C45A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4" name="Holder 4"/>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Holder 5"/>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3" name="Holder 3"/>
          <p:cNvSpPr>
            <a:spLocks noGrp="1"/>
          </p:cNvSpPr>
          <p:nvPr>
            <p:ph type="dt" sz="half" idx="6"/>
          </p:nvPr>
        </p:nvSpPr>
        <p:spPr/>
        <p:txBody>
          <a:bodyPr lIns="0" tIns="0" rIns="0" bIns="0"/>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Holder 4"/>
          <p:cNvSpPr>
            <a:spLocks noGrp="1"/>
          </p:cNvSpPr>
          <p:nvPr>
            <p:ph type="sldNum" sz="quarter" idx="7"/>
          </p:nvPr>
        </p:nvSpPr>
        <p:spPr/>
        <p:txBody>
          <a:bodyPr lIns="0" tIns="0" rIns="0" bIns="0"/>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8317" y="370616"/>
            <a:ext cx="7871459" cy="1234440"/>
          </a:xfrm>
          <a:prstGeom prst="rect">
            <a:avLst/>
          </a:prstGeom>
        </p:spPr>
        <p:txBody>
          <a:bodyPr wrap="square" lIns="0" tIns="0" rIns="0" bIns="0">
            <a:spAutoFit/>
          </a:bodyPr>
          <a:lstStyle>
            <a:lvl1pPr>
              <a:defRPr sz="3600" b="1" i="0">
                <a:solidFill>
                  <a:srgbClr val="7C45AD"/>
                </a:solidFill>
                <a:latin typeface="Arial"/>
                <a:cs typeface="Arial"/>
              </a:defRPr>
            </a:lvl1pPr>
          </a:lstStyle>
          <a:p>
            <a:endParaRPr/>
          </a:p>
        </p:txBody>
      </p:sp>
      <p:sp>
        <p:nvSpPr>
          <p:cNvPr id="3" name="Holder 3"/>
          <p:cNvSpPr>
            <a:spLocks noGrp="1"/>
          </p:cNvSpPr>
          <p:nvPr>
            <p:ph type="body" idx="1"/>
          </p:nvPr>
        </p:nvSpPr>
        <p:spPr>
          <a:xfrm>
            <a:off x="476250" y="1898650"/>
            <a:ext cx="7112000" cy="356489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0138156" y="6594240"/>
            <a:ext cx="1029334" cy="142875"/>
          </a:xfrm>
          <a:prstGeom prst="rect">
            <a:avLst/>
          </a:prstGeom>
        </p:spPr>
        <p:txBody>
          <a:bodyPr wrap="square" lIns="0" tIns="0" rIns="0" bIns="0">
            <a:spAutoFit/>
          </a:bodyPr>
          <a:lstStyle>
            <a:lvl1pPr>
              <a:defRPr sz="800" b="0" i="0">
                <a:solidFill>
                  <a:srgbClr val="626C81"/>
                </a:solidFill>
                <a:latin typeface="Arial"/>
                <a:cs typeface="Arial"/>
              </a:defRPr>
            </a:lvl1pPr>
          </a:lstStyle>
          <a:p>
            <a:pPr marL="12700">
              <a:lnSpc>
                <a:spcPct val="100000"/>
              </a:lnSpc>
              <a:spcBef>
                <a:spcPts val="45"/>
              </a:spcBef>
            </a:pPr>
            <a:r>
              <a:rPr dirty="0"/>
              <a:t>©</a:t>
            </a:r>
            <a:r>
              <a:rPr spc="-45" dirty="0"/>
              <a:t> </a:t>
            </a:r>
            <a:r>
              <a:rPr dirty="0"/>
              <a:t>2025</a:t>
            </a:r>
            <a:r>
              <a:rPr spc="-15" dirty="0"/>
              <a:t> </a:t>
            </a:r>
            <a:r>
              <a:rPr dirty="0"/>
              <a:t>–</a:t>
            </a:r>
            <a:r>
              <a:rPr spc="-20" dirty="0"/>
              <a:t> </a:t>
            </a:r>
            <a:r>
              <a:rPr dirty="0"/>
              <a:t>Long</a:t>
            </a:r>
            <a:r>
              <a:rPr spc="-10" dirty="0"/>
              <a:t> Hoang</a:t>
            </a:r>
          </a:p>
        </p:txBody>
      </p:sp>
      <p:sp>
        <p:nvSpPr>
          <p:cNvPr id="5" name="Holder 5"/>
          <p:cNvSpPr>
            <a:spLocks noGrp="1"/>
          </p:cNvSpPr>
          <p:nvPr>
            <p:ph type="dt" sz="half" idx="6"/>
          </p:nvPr>
        </p:nvSpPr>
        <p:spPr>
          <a:xfrm>
            <a:off x="5679059" y="6567917"/>
            <a:ext cx="833754" cy="142875"/>
          </a:xfrm>
          <a:prstGeom prst="rect">
            <a:avLst/>
          </a:prstGeom>
        </p:spPr>
        <p:txBody>
          <a:bodyPr wrap="square" lIns="0" tIns="0" rIns="0" bIns="0">
            <a:spAutoFit/>
          </a:bodyPr>
          <a:lstStyle>
            <a:lvl1pPr>
              <a:defRPr sz="800" b="1" i="0">
                <a:solidFill>
                  <a:srgbClr val="626C81"/>
                </a:solidFill>
                <a:latin typeface="Arial"/>
                <a:cs typeface="Arial"/>
              </a:defRPr>
            </a:lvl1p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6" name="Holder 6"/>
          <p:cNvSpPr>
            <a:spLocks noGrp="1"/>
          </p:cNvSpPr>
          <p:nvPr>
            <p:ph type="sldNum" sz="quarter" idx="7"/>
          </p:nvPr>
        </p:nvSpPr>
        <p:spPr>
          <a:xfrm>
            <a:off x="11541759" y="6567917"/>
            <a:ext cx="165734" cy="142875"/>
          </a:xfrm>
          <a:prstGeom prst="rect">
            <a:avLst/>
          </a:prstGeom>
        </p:spPr>
        <p:txBody>
          <a:bodyPr wrap="square" lIns="0" tIns="0" rIns="0" bIns="0">
            <a:spAutoFit/>
          </a:bodyPr>
          <a:lstStyle>
            <a:lvl1pPr>
              <a:defRPr sz="800" b="0" i="0">
                <a:solidFill>
                  <a:srgbClr val="626C81"/>
                </a:solidFill>
                <a:latin typeface="Arial"/>
                <a:cs typeface="Arial"/>
              </a:defRPr>
            </a:lvl1pPr>
          </a:lstStyle>
          <a:p>
            <a:pPr marL="38100">
              <a:lnSpc>
                <a:spcPct val="100000"/>
              </a:lnSpc>
              <a:spcBef>
                <a:spcPts val="5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pic>
          <p:nvPicPr>
            <p:cNvPr id="4" name="object 4"/>
            <p:cNvPicPr/>
            <p:nvPr/>
          </p:nvPicPr>
          <p:blipFill>
            <a:blip r:embed="rId3" cstate="print"/>
            <a:stretch>
              <a:fillRect/>
            </a:stretch>
          </p:blipFill>
          <p:spPr>
            <a:xfrm>
              <a:off x="0" y="1200150"/>
              <a:ext cx="9163049" cy="4457700"/>
            </a:xfrm>
            <a:prstGeom prst="rect">
              <a:avLst/>
            </a:prstGeom>
          </p:spPr>
        </p:pic>
        <p:pic>
          <p:nvPicPr>
            <p:cNvPr id="5" name="object 5"/>
            <p:cNvPicPr/>
            <p:nvPr/>
          </p:nvPicPr>
          <p:blipFill>
            <a:blip r:embed="rId4" cstate="print"/>
            <a:stretch>
              <a:fillRect/>
            </a:stretch>
          </p:blipFill>
          <p:spPr>
            <a:xfrm>
              <a:off x="0" y="923925"/>
              <a:ext cx="9001124" cy="5000625"/>
            </a:xfrm>
            <a:prstGeom prst="rect">
              <a:avLst/>
            </a:prstGeom>
          </p:spPr>
        </p:pic>
        <p:pic>
          <p:nvPicPr>
            <p:cNvPr id="6" name="object 6"/>
            <p:cNvPicPr/>
            <p:nvPr/>
          </p:nvPicPr>
          <p:blipFill>
            <a:blip r:embed="rId5" cstate="print"/>
            <a:stretch>
              <a:fillRect/>
            </a:stretch>
          </p:blipFill>
          <p:spPr>
            <a:xfrm>
              <a:off x="0" y="952500"/>
              <a:ext cx="8972549" cy="4943475"/>
            </a:xfrm>
            <a:prstGeom prst="rect">
              <a:avLst/>
            </a:prstGeom>
          </p:spPr>
        </p:pic>
      </p:grpSp>
      <p:sp>
        <p:nvSpPr>
          <p:cNvPr id="7" name="object 7"/>
          <p:cNvSpPr txBox="1">
            <a:spLocks noGrp="1"/>
          </p:cNvSpPr>
          <p:nvPr>
            <p:ph type="title"/>
          </p:nvPr>
        </p:nvSpPr>
        <p:spPr>
          <a:xfrm>
            <a:off x="513715" y="2614930"/>
            <a:ext cx="7469505" cy="1012190"/>
          </a:xfrm>
          <a:prstGeom prst="rect">
            <a:avLst/>
          </a:prstGeom>
        </p:spPr>
        <p:txBody>
          <a:bodyPr vert="horz" wrap="square" lIns="0" tIns="13335" rIns="0" bIns="0" rtlCol="0">
            <a:spAutoFit/>
          </a:bodyPr>
          <a:lstStyle/>
          <a:p>
            <a:pPr marL="12700">
              <a:lnSpc>
                <a:spcPct val="100000"/>
              </a:lnSpc>
              <a:spcBef>
                <a:spcPts val="105"/>
              </a:spcBef>
            </a:pPr>
            <a:r>
              <a:rPr dirty="0">
                <a:solidFill>
                  <a:srgbClr val="FFFFFF"/>
                </a:solidFill>
              </a:rPr>
              <a:t>Design</a:t>
            </a:r>
            <a:r>
              <a:rPr spc="-204" dirty="0">
                <a:solidFill>
                  <a:srgbClr val="FFFFFF"/>
                </a:solidFill>
              </a:rPr>
              <a:t> </a:t>
            </a:r>
            <a:r>
              <a:rPr spc="-10" dirty="0">
                <a:solidFill>
                  <a:srgbClr val="FFFFFF"/>
                </a:solidFill>
              </a:rPr>
              <a:t>Specifications</a:t>
            </a:r>
          </a:p>
          <a:p>
            <a:pPr marL="12700">
              <a:lnSpc>
                <a:spcPct val="100000"/>
              </a:lnSpc>
              <a:spcBef>
                <a:spcPts val="135"/>
              </a:spcBef>
            </a:pPr>
            <a:r>
              <a:rPr lang="en-US" sz="2750" b="0" dirty="0">
                <a:solidFill>
                  <a:srgbClr val="A6A8AB"/>
                </a:solidFill>
                <a:latin typeface="Arial"/>
                <a:cs typeface="Arial"/>
              </a:rPr>
              <a:t>IP APB BUS PROTOCOL &amp; </a:t>
            </a:r>
            <a:r>
              <a:rPr lang="vi-VN" sz="2750" b="0" dirty="0">
                <a:solidFill>
                  <a:srgbClr val="A6A8AB"/>
                </a:solidFill>
                <a:latin typeface="Arial"/>
                <a:cs typeface="Arial"/>
              </a:rPr>
              <a:t>SHA-256</a:t>
            </a:r>
            <a:endParaRPr sz="275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2190750"/>
            <a:ext cx="10010775" cy="819150"/>
          </a:xfrm>
          <a:prstGeom prst="rect">
            <a:avLst/>
          </a:prstGeom>
        </p:spPr>
      </p:pic>
      <p:pic>
        <p:nvPicPr>
          <p:cNvPr id="3" name="object 3"/>
          <p:cNvPicPr/>
          <p:nvPr/>
        </p:nvPicPr>
        <p:blipFill>
          <a:blip r:embed="rId2" cstate="print"/>
          <a:stretch>
            <a:fillRect/>
          </a:stretch>
        </p:blipFill>
        <p:spPr>
          <a:xfrm>
            <a:off x="0" y="352425"/>
            <a:ext cx="12191999" cy="1276350"/>
          </a:xfrm>
          <a:prstGeom prst="rect">
            <a:avLst/>
          </a:prstGeom>
        </p:spPr>
      </p:pic>
      <p:pic>
        <p:nvPicPr>
          <p:cNvPr id="4" name="object 4"/>
          <p:cNvPicPr/>
          <p:nvPr/>
        </p:nvPicPr>
        <p:blipFill>
          <a:blip r:embed="rId3" cstate="print"/>
          <a:stretch>
            <a:fillRect/>
          </a:stretch>
        </p:blipFill>
        <p:spPr>
          <a:xfrm>
            <a:off x="0" y="276225"/>
            <a:ext cx="12191999" cy="19050"/>
          </a:xfrm>
          <a:prstGeom prst="rect">
            <a:avLst/>
          </a:prstGeom>
        </p:spPr>
      </p:pic>
      <p:sp>
        <p:nvSpPr>
          <p:cNvPr id="5" name="object 5"/>
          <p:cNvSpPr txBox="1">
            <a:spLocks noGrp="1"/>
          </p:cNvSpPr>
          <p:nvPr>
            <p:ph type="title"/>
          </p:nvPr>
        </p:nvSpPr>
        <p:spPr>
          <a:prstGeom prst="rect">
            <a:avLst/>
          </a:prstGeom>
        </p:spPr>
        <p:txBody>
          <a:bodyPr vert="horz" wrap="square" lIns="0" tIns="253842" rIns="0" bIns="0" rtlCol="0">
            <a:spAutoFit/>
          </a:bodyPr>
          <a:lstStyle/>
          <a:p>
            <a:pPr marL="25400">
              <a:lnSpc>
                <a:spcPct val="100000"/>
              </a:lnSpc>
              <a:spcBef>
                <a:spcPts val="130"/>
              </a:spcBef>
            </a:pPr>
            <a:r>
              <a:rPr sz="4400" dirty="0"/>
              <a:t>Table</a:t>
            </a:r>
            <a:r>
              <a:rPr sz="4400" spc="-50" dirty="0"/>
              <a:t> </a:t>
            </a:r>
            <a:r>
              <a:rPr sz="4400" spc="-10" dirty="0"/>
              <a:t>Content</a:t>
            </a:r>
            <a:endParaRPr sz="4400"/>
          </a:p>
        </p:txBody>
      </p:sp>
      <p:sp>
        <p:nvSpPr>
          <p:cNvPr id="6" name="object 6"/>
          <p:cNvSpPr/>
          <p:nvPr/>
        </p:nvSpPr>
        <p:spPr>
          <a:xfrm>
            <a:off x="523875" y="2247900"/>
            <a:ext cx="723900" cy="704850"/>
          </a:xfrm>
          <a:custGeom>
            <a:avLst/>
            <a:gdLst/>
            <a:ahLst/>
            <a:cxnLst/>
            <a:rect l="l" t="t" r="r" b="b"/>
            <a:pathLst>
              <a:path w="723900" h="704850">
                <a:moveTo>
                  <a:pt x="361911" y="0"/>
                </a:moveTo>
                <a:lnTo>
                  <a:pt x="308432" y="3810"/>
                </a:lnTo>
                <a:lnTo>
                  <a:pt x="257390" y="14859"/>
                </a:lnTo>
                <a:lnTo>
                  <a:pt x="209346" y="32765"/>
                </a:lnTo>
                <a:lnTo>
                  <a:pt x="164858" y="56769"/>
                </a:lnTo>
                <a:lnTo>
                  <a:pt x="124485" y="86360"/>
                </a:lnTo>
                <a:lnTo>
                  <a:pt x="88773" y="121158"/>
                </a:lnTo>
                <a:lnTo>
                  <a:pt x="58305" y="160527"/>
                </a:lnTo>
                <a:lnTo>
                  <a:pt x="33642" y="203835"/>
                </a:lnTo>
                <a:lnTo>
                  <a:pt x="15328" y="250571"/>
                </a:lnTo>
                <a:lnTo>
                  <a:pt x="3924" y="300227"/>
                </a:lnTo>
                <a:lnTo>
                  <a:pt x="0" y="352298"/>
                </a:lnTo>
                <a:lnTo>
                  <a:pt x="990" y="378587"/>
                </a:lnTo>
                <a:lnTo>
                  <a:pt x="8724" y="429513"/>
                </a:lnTo>
                <a:lnTo>
                  <a:pt x="23647" y="477900"/>
                </a:lnTo>
                <a:lnTo>
                  <a:pt x="45212" y="522986"/>
                </a:lnTo>
                <a:lnTo>
                  <a:pt x="72859" y="564388"/>
                </a:lnTo>
                <a:lnTo>
                  <a:pt x="106006" y="601472"/>
                </a:lnTo>
                <a:lnTo>
                  <a:pt x="144119" y="633729"/>
                </a:lnTo>
                <a:lnTo>
                  <a:pt x="186626" y="660653"/>
                </a:lnTo>
                <a:lnTo>
                  <a:pt x="232968" y="681609"/>
                </a:lnTo>
                <a:lnTo>
                  <a:pt x="282575" y="696087"/>
                </a:lnTo>
                <a:lnTo>
                  <a:pt x="334911" y="703707"/>
                </a:lnTo>
                <a:lnTo>
                  <a:pt x="361911" y="704596"/>
                </a:lnTo>
                <a:lnTo>
                  <a:pt x="388924" y="703707"/>
                </a:lnTo>
                <a:lnTo>
                  <a:pt x="441248" y="696087"/>
                </a:lnTo>
                <a:lnTo>
                  <a:pt x="490867" y="681609"/>
                </a:lnTo>
                <a:lnTo>
                  <a:pt x="537210" y="660653"/>
                </a:lnTo>
                <a:lnTo>
                  <a:pt x="579704" y="633729"/>
                </a:lnTo>
                <a:lnTo>
                  <a:pt x="617816" y="601472"/>
                </a:lnTo>
                <a:lnTo>
                  <a:pt x="650976" y="564388"/>
                </a:lnTo>
                <a:lnTo>
                  <a:pt x="678611" y="522986"/>
                </a:lnTo>
                <a:lnTo>
                  <a:pt x="700176" y="477900"/>
                </a:lnTo>
                <a:lnTo>
                  <a:pt x="715098" y="429513"/>
                </a:lnTo>
                <a:lnTo>
                  <a:pt x="722833" y="378587"/>
                </a:lnTo>
                <a:lnTo>
                  <a:pt x="723823" y="352298"/>
                </a:lnTo>
                <a:lnTo>
                  <a:pt x="722833" y="326009"/>
                </a:lnTo>
                <a:lnTo>
                  <a:pt x="715098" y="275082"/>
                </a:lnTo>
                <a:lnTo>
                  <a:pt x="700176" y="226822"/>
                </a:lnTo>
                <a:lnTo>
                  <a:pt x="678611" y="181610"/>
                </a:lnTo>
                <a:lnTo>
                  <a:pt x="650976" y="140335"/>
                </a:lnTo>
                <a:lnTo>
                  <a:pt x="617816" y="103250"/>
                </a:lnTo>
                <a:lnTo>
                  <a:pt x="579704" y="70865"/>
                </a:lnTo>
                <a:lnTo>
                  <a:pt x="537210" y="44069"/>
                </a:lnTo>
                <a:lnTo>
                  <a:pt x="490867" y="22987"/>
                </a:lnTo>
                <a:lnTo>
                  <a:pt x="441248" y="8509"/>
                </a:lnTo>
                <a:lnTo>
                  <a:pt x="388924" y="1015"/>
                </a:lnTo>
                <a:lnTo>
                  <a:pt x="361911" y="0"/>
                </a:lnTo>
                <a:close/>
              </a:path>
            </a:pathLst>
          </a:custGeom>
          <a:solidFill>
            <a:srgbClr val="7C45AD"/>
          </a:solidFill>
        </p:spPr>
        <p:txBody>
          <a:bodyPr wrap="square" lIns="0" tIns="0" rIns="0" bIns="0" rtlCol="0"/>
          <a:lstStyle/>
          <a:p>
            <a:endParaRPr/>
          </a:p>
        </p:txBody>
      </p:sp>
      <p:sp>
        <p:nvSpPr>
          <p:cNvPr id="7" name="object 7"/>
          <p:cNvSpPr/>
          <p:nvPr/>
        </p:nvSpPr>
        <p:spPr>
          <a:xfrm>
            <a:off x="523875" y="3248025"/>
            <a:ext cx="723900" cy="704850"/>
          </a:xfrm>
          <a:custGeom>
            <a:avLst/>
            <a:gdLst/>
            <a:ahLst/>
            <a:cxnLst/>
            <a:rect l="l" t="t" r="r" b="b"/>
            <a:pathLst>
              <a:path w="723900" h="704850">
                <a:moveTo>
                  <a:pt x="361911" y="0"/>
                </a:moveTo>
                <a:lnTo>
                  <a:pt x="308432" y="3810"/>
                </a:lnTo>
                <a:lnTo>
                  <a:pt x="257390" y="14859"/>
                </a:lnTo>
                <a:lnTo>
                  <a:pt x="209346" y="32765"/>
                </a:lnTo>
                <a:lnTo>
                  <a:pt x="164858" y="56769"/>
                </a:lnTo>
                <a:lnTo>
                  <a:pt x="124485" y="86360"/>
                </a:lnTo>
                <a:lnTo>
                  <a:pt x="88773" y="121158"/>
                </a:lnTo>
                <a:lnTo>
                  <a:pt x="58305" y="160527"/>
                </a:lnTo>
                <a:lnTo>
                  <a:pt x="33642" y="203835"/>
                </a:lnTo>
                <a:lnTo>
                  <a:pt x="15328" y="250571"/>
                </a:lnTo>
                <a:lnTo>
                  <a:pt x="3924" y="300227"/>
                </a:lnTo>
                <a:lnTo>
                  <a:pt x="0" y="352298"/>
                </a:lnTo>
                <a:lnTo>
                  <a:pt x="990" y="378587"/>
                </a:lnTo>
                <a:lnTo>
                  <a:pt x="8724" y="429513"/>
                </a:lnTo>
                <a:lnTo>
                  <a:pt x="23647" y="477900"/>
                </a:lnTo>
                <a:lnTo>
                  <a:pt x="45212" y="522986"/>
                </a:lnTo>
                <a:lnTo>
                  <a:pt x="72859" y="564388"/>
                </a:lnTo>
                <a:lnTo>
                  <a:pt x="106006" y="601472"/>
                </a:lnTo>
                <a:lnTo>
                  <a:pt x="144119" y="633730"/>
                </a:lnTo>
                <a:lnTo>
                  <a:pt x="186626" y="660654"/>
                </a:lnTo>
                <a:lnTo>
                  <a:pt x="232968" y="681608"/>
                </a:lnTo>
                <a:lnTo>
                  <a:pt x="282575" y="696087"/>
                </a:lnTo>
                <a:lnTo>
                  <a:pt x="334911" y="703707"/>
                </a:lnTo>
                <a:lnTo>
                  <a:pt x="361911" y="704595"/>
                </a:lnTo>
                <a:lnTo>
                  <a:pt x="388924" y="703707"/>
                </a:lnTo>
                <a:lnTo>
                  <a:pt x="441248" y="696087"/>
                </a:lnTo>
                <a:lnTo>
                  <a:pt x="490867" y="681608"/>
                </a:lnTo>
                <a:lnTo>
                  <a:pt x="537210" y="660654"/>
                </a:lnTo>
                <a:lnTo>
                  <a:pt x="579704" y="633730"/>
                </a:lnTo>
                <a:lnTo>
                  <a:pt x="617816" y="601472"/>
                </a:lnTo>
                <a:lnTo>
                  <a:pt x="650976" y="564388"/>
                </a:lnTo>
                <a:lnTo>
                  <a:pt x="678611" y="522986"/>
                </a:lnTo>
                <a:lnTo>
                  <a:pt x="700176" y="477900"/>
                </a:lnTo>
                <a:lnTo>
                  <a:pt x="715098" y="429513"/>
                </a:lnTo>
                <a:lnTo>
                  <a:pt x="722833" y="378587"/>
                </a:lnTo>
                <a:lnTo>
                  <a:pt x="723823" y="352298"/>
                </a:lnTo>
                <a:lnTo>
                  <a:pt x="722833" y="326009"/>
                </a:lnTo>
                <a:lnTo>
                  <a:pt x="715098" y="275082"/>
                </a:lnTo>
                <a:lnTo>
                  <a:pt x="700176" y="226822"/>
                </a:lnTo>
                <a:lnTo>
                  <a:pt x="678611" y="181610"/>
                </a:lnTo>
                <a:lnTo>
                  <a:pt x="650976" y="140335"/>
                </a:lnTo>
                <a:lnTo>
                  <a:pt x="617816" y="103250"/>
                </a:lnTo>
                <a:lnTo>
                  <a:pt x="579704" y="70865"/>
                </a:lnTo>
                <a:lnTo>
                  <a:pt x="537210" y="44069"/>
                </a:lnTo>
                <a:lnTo>
                  <a:pt x="490867" y="22987"/>
                </a:lnTo>
                <a:lnTo>
                  <a:pt x="441248" y="8509"/>
                </a:lnTo>
                <a:lnTo>
                  <a:pt x="388924" y="1015"/>
                </a:lnTo>
                <a:lnTo>
                  <a:pt x="361911" y="0"/>
                </a:lnTo>
                <a:close/>
              </a:path>
            </a:pathLst>
          </a:custGeom>
          <a:solidFill>
            <a:srgbClr val="7C45AD"/>
          </a:solidFill>
        </p:spPr>
        <p:txBody>
          <a:bodyPr wrap="square" lIns="0" tIns="0" rIns="0" bIns="0" rtlCol="0"/>
          <a:lstStyle/>
          <a:p>
            <a:endParaRPr/>
          </a:p>
        </p:txBody>
      </p:sp>
      <p:sp>
        <p:nvSpPr>
          <p:cNvPr id="8" name="object 8"/>
          <p:cNvSpPr/>
          <p:nvPr/>
        </p:nvSpPr>
        <p:spPr>
          <a:xfrm>
            <a:off x="523875" y="4248150"/>
            <a:ext cx="723900" cy="704850"/>
          </a:xfrm>
          <a:custGeom>
            <a:avLst/>
            <a:gdLst/>
            <a:ahLst/>
            <a:cxnLst/>
            <a:rect l="l" t="t" r="r" b="b"/>
            <a:pathLst>
              <a:path w="723900" h="704850">
                <a:moveTo>
                  <a:pt x="361911" y="0"/>
                </a:moveTo>
                <a:lnTo>
                  <a:pt x="308432" y="3810"/>
                </a:lnTo>
                <a:lnTo>
                  <a:pt x="257390" y="14858"/>
                </a:lnTo>
                <a:lnTo>
                  <a:pt x="209346" y="32766"/>
                </a:lnTo>
                <a:lnTo>
                  <a:pt x="164858" y="56768"/>
                </a:lnTo>
                <a:lnTo>
                  <a:pt x="124485" y="86360"/>
                </a:lnTo>
                <a:lnTo>
                  <a:pt x="88773" y="121157"/>
                </a:lnTo>
                <a:lnTo>
                  <a:pt x="58305" y="160527"/>
                </a:lnTo>
                <a:lnTo>
                  <a:pt x="33642" y="203835"/>
                </a:lnTo>
                <a:lnTo>
                  <a:pt x="15328" y="250570"/>
                </a:lnTo>
                <a:lnTo>
                  <a:pt x="3924" y="300227"/>
                </a:lnTo>
                <a:lnTo>
                  <a:pt x="0" y="352298"/>
                </a:lnTo>
                <a:lnTo>
                  <a:pt x="990" y="378587"/>
                </a:lnTo>
                <a:lnTo>
                  <a:pt x="8724" y="429513"/>
                </a:lnTo>
                <a:lnTo>
                  <a:pt x="23647" y="477900"/>
                </a:lnTo>
                <a:lnTo>
                  <a:pt x="45212" y="522986"/>
                </a:lnTo>
                <a:lnTo>
                  <a:pt x="72859" y="564388"/>
                </a:lnTo>
                <a:lnTo>
                  <a:pt x="106006" y="601472"/>
                </a:lnTo>
                <a:lnTo>
                  <a:pt x="144119" y="633730"/>
                </a:lnTo>
                <a:lnTo>
                  <a:pt x="186626" y="660654"/>
                </a:lnTo>
                <a:lnTo>
                  <a:pt x="232968" y="681608"/>
                </a:lnTo>
                <a:lnTo>
                  <a:pt x="282575" y="696087"/>
                </a:lnTo>
                <a:lnTo>
                  <a:pt x="334911" y="703707"/>
                </a:lnTo>
                <a:lnTo>
                  <a:pt x="361911" y="704595"/>
                </a:lnTo>
                <a:lnTo>
                  <a:pt x="388924" y="703707"/>
                </a:lnTo>
                <a:lnTo>
                  <a:pt x="441248" y="696087"/>
                </a:lnTo>
                <a:lnTo>
                  <a:pt x="490867" y="681608"/>
                </a:lnTo>
                <a:lnTo>
                  <a:pt x="537210" y="660654"/>
                </a:lnTo>
                <a:lnTo>
                  <a:pt x="579704" y="633730"/>
                </a:lnTo>
                <a:lnTo>
                  <a:pt x="617816" y="601472"/>
                </a:lnTo>
                <a:lnTo>
                  <a:pt x="650976" y="564388"/>
                </a:lnTo>
                <a:lnTo>
                  <a:pt x="678611" y="522986"/>
                </a:lnTo>
                <a:lnTo>
                  <a:pt x="700176" y="477900"/>
                </a:lnTo>
                <a:lnTo>
                  <a:pt x="715098" y="429513"/>
                </a:lnTo>
                <a:lnTo>
                  <a:pt x="722833" y="378587"/>
                </a:lnTo>
                <a:lnTo>
                  <a:pt x="723823" y="352298"/>
                </a:lnTo>
                <a:lnTo>
                  <a:pt x="722833" y="326008"/>
                </a:lnTo>
                <a:lnTo>
                  <a:pt x="715098" y="275081"/>
                </a:lnTo>
                <a:lnTo>
                  <a:pt x="700176" y="226822"/>
                </a:lnTo>
                <a:lnTo>
                  <a:pt x="678611" y="181610"/>
                </a:lnTo>
                <a:lnTo>
                  <a:pt x="650976" y="140335"/>
                </a:lnTo>
                <a:lnTo>
                  <a:pt x="617816" y="103250"/>
                </a:lnTo>
                <a:lnTo>
                  <a:pt x="579704" y="70866"/>
                </a:lnTo>
                <a:lnTo>
                  <a:pt x="537210" y="44068"/>
                </a:lnTo>
                <a:lnTo>
                  <a:pt x="490867" y="22987"/>
                </a:lnTo>
                <a:lnTo>
                  <a:pt x="441248" y="8508"/>
                </a:lnTo>
                <a:lnTo>
                  <a:pt x="388924" y="1016"/>
                </a:lnTo>
                <a:lnTo>
                  <a:pt x="361911" y="0"/>
                </a:lnTo>
                <a:close/>
              </a:path>
            </a:pathLst>
          </a:custGeom>
          <a:solidFill>
            <a:srgbClr val="7C45AD"/>
          </a:solidFill>
        </p:spPr>
        <p:txBody>
          <a:bodyPr wrap="square" lIns="0" tIns="0" rIns="0" bIns="0" rtlCol="0"/>
          <a:lstStyle/>
          <a:p>
            <a:endParaRPr/>
          </a:p>
        </p:txBody>
      </p:sp>
      <p:sp>
        <p:nvSpPr>
          <p:cNvPr id="9" name="object 9"/>
          <p:cNvSpPr txBox="1"/>
          <p:nvPr/>
        </p:nvSpPr>
        <p:spPr>
          <a:xfrm>
            <a:off x="1525905" y="2310130"/>
            <a:ext cx="3084830" cy="575310"/>
          </a:xfrm>
          <a:prstGeom prst="rect">
            <a:avLst/>
          </a:prstGeom>
        </p:spPr>
        <p:txBody>
          <a:bodyPr vert="horz" wrap="square" lIns="0" tIns="13335" rIns="0" bIns="0" rtlCol="0">
            <a:spAutoFit/>
          </a:bodyPr>
          <a:lstStyle/>
          <a:p>
            <a:pPr marL="12700">
              <a:lnSpc>
                <a:spcPct val="100000"/>
              </a:lnSpc>
              <a:spcBef>
                <a:spcPts val="105"/>
              </a:spcBef>
            </a:pPr>
            <a:r>
              <a:rPr sz="3600" b="1" spc="-25" dirty="0">
                <a:solidFill>
                  <a:srgbClr val="7C45AD"/>
                </a:solidFill>
                <a:latin typeface="Arial"/>
                <a:cs typeface="Arial"/>
              </a:rPr>
              <a:t>Specifications</a:t>
            </a:r>
            <a:endParaRPr sz="3600">
              <a:latin typeface="Arial"/>
              <a:cs typeface="Arial"/>
            </a:endParaRPr>
          </a:p>
        </p:txBody>
      </p:sp>
      <p:pic>
        <p:nvPicPr>
          <p:cNvPr id="10" name="object 10"/>
          <p:cNvPicPr/>
          <p:nvPr/>
        </p:nvPicPr>
        <p:blipFill>
          <a:blip r:embed="rId2" cstate="print"/>
          <a:stretch>
            <a:fillRect/>
          </a:stretch>
        </p:blipFill>
        <p:spPr>
          <a:xfrm>
            <a:off x="1533525" y="3181350"/>
            <a:ext cx="10010775" cy="828675"/>
          </a:xfrm>
          <a:prstGeom prst="rect">
            <a:avLst/>
          </a:prstGeom>
        </p:spPr>
      </p:pic>
      <p:pic>
        <p:nvPicPr>
          <p:cNvPr id="11" name="object 11"/>
          <p:cNvPicPr/>
          <p:nvPr/>
        </p:nvPicPr>
        <p:blipFill>
          <a:blip r:embed="rId2" cstate="print"/>
          <a:stretch>
            <a:fillRect/>
          </a:stretch>
        </p:blipFill>
        <p:spPr>
          <a:xfrm>
            <a:off x="1533525" y="4191000"/>
            <a:ext cx="10010775" cy="828675"/>
          </a:xfrm>
          <a:prstGeom prst="rect">
            <a:avLst/>
          </a:prstGeom>
        </p:spPr>
      </p:pic>
      <p:sp>
        <p:nvSpPr>
          <p:cNvPr id="12" name="object 12"/>
          <p:cNvSpPr txBox="1"/>
          <p:nvPr/>
        </p:nvSpPr>
        <p:spPr>
          <a:xfrm>
            <a:off x="1544955" y="4317110"/>
            <a:ext cx="5260340" cy="575310"/>
          </a:xfrm>
          <a:prstGeom prst="rect">
            <a:avLst/>
          </a:prstGeom>
        </p:spPr>
        <p:txBody>
          <a:bodyPr vert="horz" wrap="square" lIns="0" tIns="13335" rIns="0" bIns="0" rtlCol="0">
            <a:spAutoFit/>
          </a:bodyPr>
          <a:lstStyle/>
          <a:p>
            <a:pPr marL="12700">
              <a:lnSpc>
                <a:spcPct val="100000"/>
              </a:lnSpc>
              <a:spcBef>
                <a:spcPts val="105"/>
              </a:spcBef>
            </a:pPr>
            <a:r>
              <a:rPr sz="3600" b="1" dirty="0">
                <a:solidFill>
                  <a:srgbClr val="7C45AD"/>
                </a:solidFill>
                <a:latin typeface="Arial"/>
                <a:cs typeface="Arial"/>
              </a:rPr>
              <a:t>Low</a:t>
            </a:r>
            <a:r>
              <a:rPr sz="3600" b="1" spc="-60" dirty="0">
                <a:solidFill>
                  <a:srgbClr val="7C45AD"/>
                </a:solidFill>
                <a:latin typeface="Arial"/>
                <a:cs typeface="Arial"/>
              </a:rPr>
              <a:t> </a:t>
            </a:r>
            <a:r>
              <a:rPr sz="3600" b="1" dirty="0">
                <a:solidFill>
                  <a:srgbClr val="7C45AD"/>
                </a:solidFill>
                <a:latin typeface="Arial"/>
                <a:cs typeface="Arial"/>
              </a:rPr>
              <a:t>Level</a:t>
            </a:r>
            <a:r>
              <a:rPr sz="3600" b="1" spc="-40" dirty="0">
                <a:solidFill>
                  <a:srgbClr val="7C45AD"/>
                </a:solidFill>
                <a:latin typeface="Arial"/>
                <a:cs typeface="Arial"/>
              </a:rPr>
              <a:t> </a:t>
            </a:r>
            <a:r>
              <a:rPr sz="3600" b="1" dirty="0">
                <a:solidFill>
                  <a:srgbClr val="7C45AD"/>
                </a:solidFill>
                <a:latin typeface="Arial"/>
                <a:cs typeface="Arial"/>
              </a:rPr>
              <a:t>Block </a:t>
            </a:r>
            <a:r>
              <a:rPr sz="3600" b="1" spc="-10" dirty="0">
                <a:solidFill>
                  <a:srgbClr val="7C45AD"/>
                </a:solidFill>
                <a:latin typeface="Arial"/>
                <a:cs typeface="Arial"/>
              </a:rPr>
              <a:t>Design</a:t>
            </a:r>
            <a:endParaRPr sz="3600">
              <a:latin typeface="Arial"/>
              <a:cs typeface="Arial"/>
            </a:endParaRPr>
          </a:p>
        </p:txBody>
      </p:sp>
      <p:sp>
        <p:nvSpPr>
          <p:cNvPr id="13" name="object 13"/>
          <p:cNvSpPr/>
          <p:nvPr/>
        </p:nvSpPr>
        <p:spPr>
          <a:xfrm>
            <a:off x="552450" y="5267325"/>
            <a:ext cx="733425" cy="704850"/>
          </a:xfrm>
          <a:custGeom>
            <a:avLst/>
            <a:gdLst/>
            <a:ahLst/>
            <a:cxnLst/>
            <a:rect l="l" t="t" r="r" b="b"/>
            <a:pathLst>
              <a:path w="733425" h="704850">
                <a:moveTo>
                  <a:pt x="366674" y="0"/>
                </a:moveTo>
                <a:lnTo>
                  <a:pt x="312496" y="3809"/>
                </a:lnTo>
                <a:lnTo>
                  <a:pt x="260781" y="14859"/>
                </a:lnTo>
                <a:lnTo>
                  <a:pt x="212102" y="32765"/>
                </a:lnTo>
                <a:lnTo>
                  <a:pt x="167030" y="56768"/>
                </a:lnTo>
                <a:lnTo>
                  <a:pt x="126123" y="86359"/>
                </a:lnTo>
                <a:lnTo>
                  <a:pt x="89941" y="121158"/>
                </a:lnTo>
                <a:lnTo>
                  <a:pt x="59080" y="160528"/>
                </a:lnTo>
                <a:lnTo>
                  <a:pt x="34086" y="203834"/>
                </a:lnTo>
                <a:lnTo>
                  <a:pt x="15532" y="250571"/>
                </a:lnTo>
                <a:lnTo>
                  <a:pt x="3975" y="300228"/>
                </a:lnTo>
                <a:lnTo>
                  <a:pt x="0" y="352323"/>
                </a:lnTo>
                <a:lnTo>
                  <a:pt x="1003" y="378612"/>
                </a:lnTo>
                <a:lnTo>
                  <a:pt x="8839" y="429564"/>
                </a:lnTo>
                <a:lnTo>
                  <a:pt x="23964" y="477862"/>
                </a:lnTo>
                <a:lnTo>
                  <a:pt x="45808" y="522973"/>
                </a:lnTo>
                <a:lnTo>
                  <a:pt x="73812" y="564349"/>
                </a:lnTo>
                <a:lnTo>
                  <a:pt x="107403" y="601446"/>
                </a:lnTo>
                <a:lnTo>
                  <a:pt x="146011" y="633730"/>
                </a:lnTo>
                <a:lnTo>
                  <a:pt x="189077" y="660628"/>
                </a:lnTo>
                <a:lnTo>
                  <a:pt x="236029" y="681621"/>
                </a:lnTo>
                <a:lnTo>
                  <a:pt x="286296" y="696150"/>
                </a:lnTo>
                <a:lnTo>
                  <a:pt x="339318" y="703681"/>
                </a:lnTo>
                <a:lnTo>
                  <a:pt x="366674" y="704646"/>
                </a:lnTo>
                <a:lnTo>
                  <a:pt x="394042" y="703681"/>
                </a:lnTo>
                <a:lnTo>
                  <a:pt x="447052" y="696150"/>
                </a:lnTo>
                <a:lnTo>
                  <a:pt x="497319" y="681621"/>
                </a:lnTo>
                <a:lnTo>
                  <a:pt x="544271" y="660628"/>
                </a:lnTo>
                <a:lnTo>
                  <a:pt x="587336" y="633730"/>
                </a:lnTo>
                <a:lnTo>
                  <a:pt x="625944" y="601446"/>
                </a:lnTo>
                <a:lnTo>
                  <a:pt x="659536" y="564349"/>
                </a:lnTo>
                <a:lnTo>
                  <a:pt x="687539" y="522973"/>
                </a:lnTo>
                <a:lnTo>
                  <a:pt x="709383" y="477862"/>
                </a:lnTo>
                <a:lnTo>
                  <a:pt x="724535" y="429564"/>
                </a:lnTo>
                <a:lnTo>
                  <a:pt x="732409" y="378612"/>
                </a:lnTo>
                <a:lnTo>
                  <a:pt x="733297" y="352323"/>
                </a:lnTo>
                <a:lnTo>
                  <a:pt x="732409" y="326021"/>
                </a:lnTo>
                <a:lnTo>
                  <a:pt x="724535" y="275081"/>
                </a:lnTo>
                <a:lnTo>
                  <a:pt x="709383" y="226822"/>
                </a:lnTo>
                <a:lnTo>
                  <a:pt x="687539" y="181609"/>
                </a:lnTo>
                <a:lnTo>
                  <a:pt x="659536" y="140334"/>
                </a:lnTo>
                <a:lnTo>
                  <a:pt x="625944" y="103250"/>
                </a:lnTo>
                <a:lnTo>
                  <a:pt x="587336" y="70865"/>
                </a:lnTo>
                <a:lnTo>
                  <a:pt x="544271" y="44068"/>
                </a:lnTo>
                <a:lnTo>
                  <a:pt x="497319" y="22987"/>
                </a:lnTo>
                <a:lnTo>
                  <a:pt x="447052" y="8509"/>
                </a:lnTo>
                <a:lnTo>
                  <a:pt x="394042" y="1015"/>
                </a:lnTo>
                <a:lnTo>
                  <a:pt x="366674" y="0"/>
                </a:lnTo>
                <a:close/>
              </a:path>
            </a:pathLst>
          </a:custGeom>
          <a:solidFill>
            <a:srgbClr val="7C45AD"/>
          </a:solidFill>
        </p:spPr>
        <p:txBody>
          <a:bodyPr wrap="square" lIns="0" tIns="0" rIns="0" bIns="0" rtlCol="0"/>
          <a:lstStyle/>
          <a:p>
            <a:endParaRPr/>
          </a:p>
        </p:txBody>
      </p:sp>
      <p:sp>
        <p:nvSpPr>
          <p:cNvPr id="14" name="object 14"/>
          <p:cNvSpPr txBox="1"/>
          <p:nvPr/>
        </p:nvSpPr>
        <p:spPr>
          <a:xfrm>
            <a:off x="672147" y="1988883"/>
            <a:ext cx="439420" cy="4048760"/>
          </a:xfrm>
          <a:prstGeom prst="rect">
            <a:avLst/>
          </a:prstGeom>
        </p:spPr>
        <p:txBody>
          <a:bodyPr vert="horz" wrap="square" lIns="0" tIns="186690" rIns="0" bIns="0" rtlCol="0">
            <a:spAutoFit/>
          </a:bodyPr>
          <a:lstStyle/>
          <a:p>
            <a:pPr marL="21590">
              <a:lnSpc>
                <a:spcPct val="100000"/>
              </a:lnSpc>
              <a:spcBef>
                <a:spcPts val="1470"/>
              </a:spcBef>
            </a:pPr>
            <a:r>
              <a:rPr sz="5400" spc="-50" dirty="0">
                <a:solidFill>
                  <a:srgbClr val="FFFFFF"/>
                </a:solidFill>
                <a:latin typeface="Arial"/>
                <a:cs typeface="Arial"/>
              </a:rPr>
              <a:t>1</a:t>
            </a:r>
            <a:endParaRPr sz="5400">
              <a:latin typeface="Arial"/>
              <a:cs typeface="Arial"/>
            </a:endParaRPr>
          </a:p>
          <a:p>
            <a:pPr marL="21590">
              <a:lnSpc>
                <a:spcPct val="100000"/>
              </a:lnSpc>
              <a:spcBef>
                <a:spcPts val="1375"/>
              </a:spcBef>
            </a:pPr>
            <a:r>
              <a:rPr sz="5400" spc="-50" dirty="0">
                <a:solidFill>
                  <a:srgbClr val="FFFFFF"/>
                </a:solidFill>
                <a:latin typeface="Arial"/>
                <a:cs typeface="Arial"/>
              </a:rPr>
              <a:t>2</a:t>
            </a:r>
            <a:endParaRPr sz="5400">
              <a:latin typeface="Arial"/>
              <a:cs typeface="Arial"/>
            </a:endParaRPr>
          </a:p>
          <a:p>
            <a:pPr marL="12700">
              <a:lnSpc>
                <a:spcPct val="100000"/>
              </a:lnSpc>
              <a:spcBef>
                <a:spcPts val="1470"/>
              </a:spcBef>
            </a:pPr>
            <a:r>
              <a:rPr sz="5400" spc="-50" dirty="0">
                <a:solidFill>
                  <a:srgbClr val="FFFFFF"/>
                </a:solidFill>
                <a:latin typeface="Arial"/>
                <a:cs typeface="Arial"/>
              </a:rPr>
              <a:t>3</a:t>
            </a:r>
            <a:endParaRPr sz="5400">
              <a:latin typeface="Arial"/>
              <a:cs typeface="Arial"/>
            </a:endParaRPr>
          </a:p>
          <a:p>
            <a:pPr marL="44450">
              <a:lnSpc>
                <a:spcPct val="100000"/>
              </a:lnSpc>
              <a:spcBef>
                <a:spcPts val="1540"/>
              </a:spcBef>
            </a:pPr>
            <a:r>
              <a:rPr sz="5400" spc="-50" dirty="0">
                <a:solidFill>
                  <a:srgbClr val="FFFFFF"/>
                </a:solidFill>
                <a:latin typeface="Arial"/>
                <a:cs typeface="Arial"/>
              </a:rPr>
              <a:t>4</a:t>
            </a:r>
            <a:endParaRPr sz="5400">
              <a:latin typeface="Arial"/>
              <a:cs typeface="Arial"/>
            </a:endParaRPr>
          </a:p>
        </p:txBody>
      </p:sp>
      <p:pic>
        <p:nvPicPr>
          <p:cNvPr id="15" name="object 15"/>
          <p:cNvPicPr/>
          <p:nvPr/>
        </p:nvPicPr>
        <p:blipFill>
          <a:blip r:embed="rId2" cstate="print"/>
          <a:stretch>
            <a:fillRect/>
          </a:stretch>
        </p:blipFill>
        <p:spPr>
          <a:xfrm>
            <a:off x="1562100" y="5210175"/>
            <a:ext cx="10010775" cy="828675"/>
          </a:xfrm>
          <a:prstGeom prst="rect">
            <a:avLst/>
          </a:prstGeom>
        </p:spPr>
      </p:pic>
      <p:sp>
        <p:nvSpPr>
          <p:cNvPr id="16" name="object 16"/>
          <p:cNvSpPr txBox="1"/>
          <p:nvPr/>
        </p:nvSpPr>
        <p:spPr>
          <a:xfrm>
            <a:off x="1576705" y="5335587"/>
            <a:ext cx="7375525" cy="575310"/>
          </a:xfrm>
          <a:prstGeom prst="rect">
            <a:avLst/>
          </a:prstGeom>
        </p:spPr>
        <p:txBody>
          <a:bodyPr vert="horz" wrap="square" lIns="0" tIns="13335" rIns="0" bIns="0" rtlCol="0">
            <a:spAutoFit/>
          </a:bodyPr>
          <a:lstStyle/>
          <a:p>
            <a:pPr marL="12700">
              <a:lnSpc>
                <a:spcPct val="100000"/>
              </a:lnSpc>
              <a:spcBef>
                <a:spcPts val="105"/>
              </a:spcBef>
            </a:pPr>
            <a:r>
              <a:rPr sz="3600" b="1">
                <a:solidFill>
                  <a:srgbClr val="7C45AD"/>
                </a:solidFill>
                <a:latin typeface="Arial"/>
                <a:cs typeface="Arial"/>
              </a:rPr>
              <a:t>RTL</a:t>
            </a:r>
            <a:r>
              <a:rPr sz="3600" b="1" spc="-160">
                <a:solidFill>
                  <a:srgbClr val="7C45AD"/>
                </a:solidFill>
                <a:latin typeface="Arial"/>
                <a:cs typeface="Arial"/>
              </a:rPr>
              <a:t> </a:t>
            </a:r>
            <a:r>
              <a:rPr lang="en-US" sz="3600" b="1" spc="-10">
                <a:solidFill>
                  <a:srgbClr val="7C45AD"/>
                </a:solidFill>
                <a:latin typeface="Arial"/>
                <a:cs typeface="Arial"/>
              </a:rPr>
              <a:t>Verification</a:t>
            </a:r>
            <a:endParaRPr sz="3600">
              <a:latin typeface="Arial"/>
              <a:cs typeface="Arial"/>
            </a:endParaRPr>
          </a:p>
        </p:txBody>
      </p:sp>
      <p:sp>
        <p:nvSpPr>
          <p:cNvPr id="18" name="object 18"/>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19" name="object 19"/>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a:t>
            </a:fld>
            <a:endParaRPr spc="-25" dirty="0"/>
          </a:p>
        </p:txBody>
      </p:sp>
      <p:sp>
        <p:nvSpPr>
          <p:cNvPr id="20" name="object 20"/>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17" name="object 17"/>
          <p:cNvSpPr txBox="1"/>
          <p:nvPr/>
        </p:nvSpPr>
        <p:spPr>
          <a:xfrm>
            <a:off x="1569085" y="3303904"/>
            <a:ext cx="5289550" cy="575310"/>
          </a:xfrm>
          <a:prstGeom prst="rect">
            <a:avLst/>
          </a:prstGeom>
        </p:spPr>
        <p:txBody>
          <a:bodyPr vert="horz" wrap="square" lIns="0" tIns="13335" rIns="0" bIns="0" rtlCol="0">
            <a:spAutoFit/>
          </a:bodyPr>
          <a:lstStyle/>
          <a:p>
            <a:pPr marL="12700">
              <a:lnSpc>
                <a:spcPct val="100000"/>
              </a:lnSpc>
              <a:spcBef>
                <a:spcPts val="105"/>
              </a:spcBef>
            </a:pPr>
            <a:r>
              <a:rPr sz="3600" b="1" dirty="0">
                <a:solidFill>
                  <a:srgbClr val="7C45AD"/>
                </a:solidFill>
                <a:latin typeface="Arial"/>
                <a:cs typeface="Arial"/>
              </a:rPr>
              <a:t>High</a:t>
            </a:r>
            <a:r>
              <a:rPr sz="3600" b="1" spc="-175" dirty="0">
                <a:solidFill>
                  <a:srgbClr val="7C45AD"/>
                </a:solidFill>
                <a:latin typeface="Arial"/>
                <a:cs typeface="Arial"/>
              </a:rPr>
              <a:t> </a:t>
            </a:r>
            <a:r>
              <a:rPr sz="3600" b="1" dirty="0">
                <a:solidFill>
                  <a:srgbClr val="7C45AD"/>
                </a:solidFill>
                <a:latin typeface="Arial"/>
                <a:cs typeface="Arial"/>
              </a:rPr>
              <a:t>Level</a:t>
            </a:r>
            <a:r>
              <a:rPr sz="3600" b="1" spc="-165" dirty="0">
                <a:solidFill>
                  <a:srgbClr val="7C45AD"/>
                </a:solidFill>
                <a:latin typeface="Arial"/>
                <a:cs typeface="Arial"/>
              </a:rPr>
              <a:t> </a:t>
            </a:r>
            <a:r>
              <a:rPr sz="3600" b="1" dirty="0">
                <a:solidFill>
                  <a:srgbClr val="7C45AD"/>
                </a:solidFill>
                <a:latin typeface="Arial"/>
                <a:cs typeface="Arial"/>
              </a:rPr>
              <a:t>Block</a:t>
            </a:r>
            <a:r>
              <a:rPr sz="3600" b="1" spc="-185" dirty="0">
                <a:solidFill>
                  <a:srgbClr val="7C45AD"/>
                </a:solidFill>
                <a:latin typeface="Arial"/>
                <a:cs typeface="Arial"/>
              </a:rPr>
              <a:t> </a:t>
            </a:r>
            <a:r>
              <a:rPr sz="3600" b="1" spc="-10" dirty="0">
                <a:solidFill>
                  <a:srgbClr val="7C45AD"/>
                </a:solidFill>
                <a:latin typeface="Arial"/>
                <a:cs typeface="Arial"/>
              </a:rPr>
              <a:t>Design</a:t>
            </a:r>
            <a:endParaRPr sz="36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3589654" cy="575310"/>
          </a:xfrm>
          <a:prstGeom prst="rect">
            <a:avLst/>
          </a:prstGeom>
        </p:spPr>
        <p:txBody>
          <a:bodyPr vert="horz" wrap="square" lIns="0" tIns="13335" rIns="0" bIns="0" rtlCol="0">
            <a:spAutoFit/>
          </a:bodyPr>
          <a:lstStyle/>
          <a:p>
            <a:pPr marL="12700">
              <a:lnSpc>
                <a:spcPct val="100000"/>
              </a:lnSpc>
              <a:spcBef>
                <a:spcPts val="105"/>
              </a:spcBef>
            </a:pPr>
            <a:r>
              <a:rPr dirty="0"/>
              <a:t>1.</a:t>
            </a:r>
            <a:r>
              <a:rPr spc="-105" dirty="0"/>
              <a:t> </a:t>
            </a:r>
            <a:r>
              <a:rPr spc="-20" dirty="0"/>
              <a:t>Specifications</a:t>
            </a:r>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a:t>
            </a:fld>
            <a:endParaRPr spc="-25" dirty="0"/>
          </a:p>
        </p:txBody>
      </p:sp>
      <p:sp>
        <p:nvSpPr>
          <p:cNvPr id="5" name="object 5"/>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E049F-885E-D963-316A-8F5A289CC9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2589B0-F541-75A2-C938-1DE6C78AEA52}"/>
              </a:ext>
            </a:extLst>
          </p:cNvPr>
          <p:cNvSpPr txBox="1">
            <a:spLocks noGrp="1"/>
          </p:cNvSpPr>
          <p:nvPr>
            <p:ph type="title"/>
          </p:nvPr>
        </p:nvSpPr>
        <p:spPr>
          <a:xfrm>
            <a:off x="521016" y="2200274"/>
            <a:ext cx="4279583"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.1</a:t>
            </a:r>
            <a:r>
              <a:rPr dirty="0"/>
              <a:t>.</a:t>
            </a:r>
            <a:r>
              <a:rPr spc="-105" dirty="0"/>
              <a:t> </a:t>
            </a:r>
            <a:r>
              <a:rPr lang="en-US" spc="-20" dirty="0"/>
              <a:t>SHA</a:t>
            </a:r>
            <a:endParaRPr spc="-20" dirty="0"/>
          </a:p>
        </p:txBody>
      </p:sp>
      <p:sp>
        <p:nvSpPr>
          <p:cNvPr id="3" name="object 3">
            <a:extLst>
              <a:ext uri="{FF2B5EF4-FFF2-40B4-BE49-F238E27FC236}">
                <a16:creationId xmlns:a16="http://schemas.microsoft.com/office/drawing/2014/main" id="{C855FF41-1541-89D8-C9D2-F36C94C21E7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a:extLst>
              <a:ext uri="{FF2B5EF4-FFF2-40B4-BE49-F238E27FC236}">
                <a16:creationId xmlns:a16="http://schemas.microsoft.com/office/drawing/2014/main" id="{131246DD-F63A-89DB-89DF-46C7E33B494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a:t>
            </a:fld>
            <a:endParaRPr spc="-25" dirty="0"/>
          </a:p>
        </p:txBody>
      </p:sp>
      <p:sp>
        <p:nvSpPr>
          <p:cNvPr id="5" name="object 5">
            <a:extLst>
              <a:ext uri="{FF2B5EF4-FFF2-40B4-BE49-F238E27FC236}">
                <a16:creationId xmlns:a16="http://schemas.microsoft.com/office/drawing/2014/main" id="{EEE8018C-6410-AA01-BA33-1E5711652154}"/>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Tree>
    <p:extLst>
      <p:ext uri="{BB962C8B-B14F-4D97-AF65-F5344CB8AC3E}">
        <p14:creationId xmlns:p14="http://schemas.microsoft.com/office/powerpoint/2010/main" val="2968647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a:t>
            </a:fld>
            <a:endParaRPr spc="-25" dirty="0"/>
          </a:p>
        </p:txBody>
      </p:sp>
      <p:sp>
        <p:nvSpPr>
          <p:cNvPr id="6" name="object 6"/>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7" name="object 3">
            <a:extLst>
              <a:ext uri="{FF2B5EF4-FFF2-40B4-BE49-F238E27FC236}">
                <a16:creationId xmlns:a16="http://schemas.microsoft.com/office/drawing/2014/main" id="{CA90AF8F-A1B1-B0EF-BD90-25C3457FA1F5}"/>
              </a:ext>
            </a:extLst>
          </p:cNvPr>
          <p:cNvSpPr txBox="1"/>
          <p:nvPr/>
        </p:nvSpPr>
        <p:spPr>
          <a:xfrm>
            <a:off x="457200" y="1121155"/>
            <a:ext cx="8026083"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a:t>
            </a:r>
            <a:r>
              <a:rPr sz="3000" b="1" dirty="0">
                <a:solidFill>
                  <a:srgbClr val="7C45AD"/>
                </a:solidFill>
                <a:latin typeface="Arial"/>
                <a:cs typeface="Arial"/>
              </a:rPr>
              <a:t>.1</a:t>
            </a:r>
            <a:r>
              <a:rPr lang="en-US" sz="3000" b="1" dirty="0">
                <a:solidFill>
                  <a:srgbClr val="7C45AD"/>
                </a:solidFill>
                <a:latin typeface="Arial"/>
                <a:cs typeface="Arial"/>
              </a:rPr>
              <a:t>.1. Overview of the</a:t>
            </a:r>
            <a:r>
              <a:rPr lang="vi-VN" sz="3000" b="1" dirty="0">
                <a:solidFill>
                  <a:srgbClr val="7C45AD"/>
                </a:solidFill>
                <a:latin typeface="Arial"/>
                <a:cs typeface="Arial"/>
              </a:rPr>
              <a:t> SHA </a:t>
            </a:r>
            <a:r>
              <a:rPr lang="vi-VN" sz="3000" b="1" dirty="0" err="1">
                <a:solidFill>
                  <a:srgbClr val="7C45AD"/>
                </a:solidFill>
                <a:latin typeface="Arial"/>
                <a:cs typeface="Arial"/>
              </a:rPr>
              <a:t>Algoritm</a:t>
            </a:r>
            <a:endParaRPr lang="en-US" sz="3000" b="1" dirty="0">
              <a:solidFill>
                <a:srgbClr val="7C45AD"/>
              </a:solidFill>
              <a:latin typeface="Arial"/>
              <a:cs typeface="Arial"/>
            </a:endParaRPr>
          </a:p>
        </p:txBody>
      </p:sp>
      <p:sp>
        <p:nvSpPr>
          <p:cNvPr id="8" name="TextBox 7">
            <a:extLst>
              <a:ext uri="{FF2B5EF4-FFF2-40B4-BE49-F238E27FC236}">
                <a16:creationId xmlns:a16="http://schemas.microsoft.com/office/drawing/2014/main" id="{465DDFC4-E589-8A70-95B6-B8F48EDF3B1A}"/>
              </a:ext>
            </a:extLst>
          </p:cNvPr>
          <p:cNvSpPr txBox="1"/>
          <p:nvPr/>
        </p:nvSpPr>
        <p:spPr>
          <a:xfrm>
            <a:off x="859249" y="1661817"/>
            <a:ext cx="9732551"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Secure Hash Algorithm (SHA) is a family of cryptographic hash functions designed to ensure data integrity and security. It is widely used in digital signatures, SSL/TLS certificates, password hashing, and blockchain systems.</a:t>
            </a:r>
            <a:r>
              <a:rPr lang="vi-VN"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SHA was developed by the National Security Agency (NSA) and published by the National Institute of Standards and Technology (NIST) as a U.S. Federal Information Processing Standard (FIPS)</a:t>
            </a:r>
            <a:r>
              <a:rPr lang="vi-VN" sz="1600" dirty="0">
                <a:latin typeface="Arial" panose="020B0604020202020204" pitchFamily="34" charset="0"/>
                <a:cs typeface="Arial" panose="020B0604020202020204" pitchFamily="34" charset="0"/>
              </a:rPr>
              <a:t>, </a:t>
            </a:r>
            <a:r>
              <a:rPr lang="vi-VN" sz="1600" dirty="0" err="1">
                <a:latin typeface="Arial" panose="020B0604020202020204" pitchFamily="34" charset="0"/>
                <a:cs typeface="Arial" panose="020B0604020202020204" pitchFamily="34" charset="0"/>
              </a:rPr>
              <a:t>including</a:t>
            </a:r>
            <a:r>
              <a:rPr lang="vi-VN" sz="1600"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5F2753CE-59A1-A8EB-893F-FB7E3DCCB743}"/>
              </a:ext>
            </a:extLst>
          </p:cNvPr>
          <p:cNvGraphicFramePr>
            <a:graphicFrameLocks noGrp="1"/>
          </p:cNvGraphicFramePr>
          <p:nvPr>
            <p:extLst>
              <p:ext uri="{D42A27DB-BD31-4B8C-83A1-F6EECF244321}">
                <p14:modId xmlns:p14="http://schemas.microsoft.com/office/powerpoint/2010/main" val="1650163573"/>
              </p:ext>
            </p:extLst>
          </p:nvPr>
        </p:nvGraphicFramePr>
        <p:xfrm>
          <a:off x="2059559" y="3253382"/>
          <a:ext cx="7239000" cy="1463040"/>
        </p:xfrm>
        <a:graphic>
          <a:graphicData uri="http://schemas.openxmlformats.org/drawingml/2006/table">
            <a:tbl>
              <a:tblPr/>
              <a:tblGrid>
                <a:gridCol w="1979041">
                  <a:extLst>
                    <a:ext uri="{9D8B030D-6E8A-4147-A177-3AD203B41FA5}">
                      <a16:colId xmlns:a16="http://schemas.microsoft.com/office/drawing/2014/main" val="1256352059"/>
                    </a:ext>
                  </a:extLst>
                </a:gridCol>
                <a:gridCol w="2362200">
                  <a:extLst>
                    <a:ext uri="{9D8B030D-6E8A-4147-A177-3AD203B41FA5}">
                      <a16:colId xmlns:a16="http://schemas.microsoft.com/office/drawing/2014/main" val="3881899456"/>
                    </a:ext>
                  </a:extLst>
                </a:gridCol>
                <a:gridCol w="2897759">
                  <a:extLst>
                    <a:ext uri="{9D8B030D-6E8A-4147-A177-3AD203B41FA5}">
                      <a16:colId xmlns:a16="http://schemas.microsoft.com/office/drawing/2014/main" val="2152614007"/>
                    </a:ext>
                  </a:extLst>
                </a:gridCol>
              </a:tblGrid>
              <a:tr h="365760">
                <a:tc>
                  <a:txBody>
                    <a:bodyPr/>
                    <a:lstStyle/>
                    <a:p>
                      <a:pPr algn="ctr">
                        <a:buNone/>
                      </a:pPr>
                      <a:r>
                        <a:rPr lang="en-ID" b="1" dirty="0">
                          <a:solidFill>
                            <a:schemeClr val="bg1"/>
                          </a:solidFill>
                        </a:rPr>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buNone/>
                      </a:pPr>
                      <a:r>
                        <a:rPr lang="en-ID" b="1" dirty="0">
                          <a:solidFill>
                            <a:schemeClr val="bg1"/>
                          </a:solidFill>
                        </a:rPr>
                        <a:t>Output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buNone/>
                      </a:pPr>
                      <a:r>
                        <a:rPr lang="en-ID" b="1" dirty="0">
                          <a:solidFill>
                            <a:schemeClr val="bg1"/>
                          </a:solidFill>
                        </a:rPr>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3398405390"/>
                  </a:ext>
                </a:extLst>
              </a:tr>
              <a:tr h="0">
                <a:tc>
                  <a:txBody>
                    <a:bodyPr/>
                    <a:lstStyle/>
                    <a:p>
                      <a:pPr>
                        <a:buNone/>
                      </a:pPr>
                      <a:r>
                        <a:rPr lang="en-ID" sz="1800" dirty="0"/>
                        <a:t>SHA-1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1800" dirty="0"/>
                        <a:t>160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1800" dirty="0"/>
                        <a:t>Deprecated (collision found)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3421818"/>
                  </a:ext>
                </a:extLst>
              </a:tr>
              <a:tr h="129898">
                <a:tc>
                  <a:txBody>
                    <a:bodyPr/>
                    <a:lstStyle/>
                    <a:p>
                      <a:pPr>
                        <a:buNone/>
                      </a:pPr>
                      <a:r>
                        <a:rPr lang="en-ID" sz="1800"/>
                        <a:t>SHA-2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1800" dirty="0"/>
                        <a:t>224, 256, 384, 512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1800" dirty="0"/>
                        <a:t>Secure and widely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9368168"/>
                  </a:ext>
                </a:extLst>
              </a:tr>
              <a:tr h="365760">
                <a:tc>
                  <a:txBody>
                    <a:bodyPr/>
                    <a:lstStyle/>
                    <a:p>
                      <a:pPr>
                        <a:buNone/>
                      </a:pPr>
                      <a:r>
                        <a:rPr lang="en-ID" sz="1800"/>
                        <a:t>SHA-3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1800"/>
                        <a:t>224, 256, 384, 512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1800" dirty="0"/>
                        <a:t>Newer alternative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4219217"/>
                  </a:ext>
                </a:extLst>
              </a:tr>
            </a:tbl>
          </a:graphicData>
        </a:graphic>
      </p:graphicFrame>
      <p:sp>
        <p:nvSpPr>
          <p:cNvPr id="3" name="object 2">
            <a:extLst>
              <a:ext uri="{FF2B5EF4-FFF2-40B4-BE49-F238E27FC236}">
                <a16:creationId xmlns:a16="http://schemas.microsoft.com/office/drawing/2014/main" id="{FA530FC2-2F82-A490-4A32-8B3A68744CD3}"/>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6882D64-296B-AE06-F3ED-A3F2DCA631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406709-AAAC-D022-4C7F-499D455EF52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5973D2DD-C4AE-ECBC-1339-AF01FB4C85C9}"/>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6</a:t>
            </a:fld>
            <a:endParaRPr spc="-25" dirty="0"/>
          </a:p>
        </p:txBody>
      </p:sp>
      <p:sp>
        <p:nvSpPr>
          <p:cNvPr id="6" name="object 6">
            <a:extLst>
              <a:ext uri="{FF2B5EF4-FFF2-40B4-BE49-F238E27FC236}">
                <a16:creationId xmlns:a16="http://schemas.microsoft.com/office/drawing/2014/main" id="{0D37DA53-6538-8EF1-6D4D-E6E6994C498D}"/>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10" name="object 3">
            <a:extLst>
              <a:ext uri="{FF2B5EF4-FFF2-40B4-BE49-F238E27FC236}">
                <a16:creationId xmlns:a16="http://schemas.microsoft.com/office/drawing/2014/main" id="{B7F44AE8-83E5-6CD3-DB7F-94A161121CFF}"/>
              </a:ext>
            </a:extLst>
          </p:cNvPr>
          <p:cNvSpPr txBox="1"/>
          <p:nvPr/>
        </p:nvSpPr>
        <p:spPr>
          <a:xfrm>
            <a:off x="457200" y="1121155"/>
            <a:ext cx="8026083"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a:t>
            </a:r>
            <a:r>
              <a:rPr sz="3000" b="1" dirty="0">
                <a:solidFill>
                  <a:srgbClr val="7C45AD"/>
                </a:solidFill>
                <a:latin typeface="Arial"/>
                <a:cs typeface="Arial"/>
              </a:rPr>
              <a:t>.1</a:t>
            </a:r>
            <a:r>
              <a:rPr lang="en-US" sz="3000" b="1" dirty="0">
                <a:solidFill>
                  <a:srgbClr val="7C45AD"/>
                </a:solidFill>
                <a:latin typeface="Arial"/>
                <a:cs typeface="Arial"/>
              </a:rPr>
              <a:t>.1. Overview of the </a:t>
            </a:r>
            <a:r>
              <a:rPr lang="vi-VN" sz="3000" b="1" dirty="0">
                <a:solidFill>
                  <a:srgbClr val="7C45AD"/>
                </a:solidFill>
                <a:latin typeface="Arial"/>
                <a:cs typeface="Arial"/>
              </a:rPr>
              <a:t>SHA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9" name="TextBox 8">
            <a:extLst>
              <a:ext uri="{FF2B5EF4-FFF2-40B4-BE49-F238E27FC236}">
                <a16:creationId xmlns:a16="http://schemas.microsoft.com/office/drawing/2014/main" id="{83D3FD0A-FC68-CA56-A236-BABB3A4DDCD8}"/>
              </a:ext>
            </a:extLst>
          </p:cNvPr>
          <p:cNvSpPr txBox="1"/>
          <p:nvPr/>
        </p:nvSpPr>
        <p:spPr>
          <a:xfrm>
            <a:off x="744157" y="1703095"/>
            <a:ext cx="10147869" cy="1077218"/>
          </a:xfrm>
          <a:prstGeom prst="rect">
            <a:avLst/>
          </a:prstGeom>
          <a:noFill/>
        </p:spPr>
        <p:txBody>
          <a:bodyPr wrap="square">
            <a:spAutoFit/>
          </a:bodyPr>
          <a:lstStyle/>
          <a:p>
            <a:pPr>
              <a:buNone/>
            </a:pPr>
            <a:r>
              <a:rPr lang="en-US" sz="1600" dirty="0">
                <a:latin typeface="Arial" panose="020B0604020202020204" pitchFamily="34" charset="0"/>
                <a:cs typeface="Arial" panose="020B0604020202020204" pitchFamily="34" charset="0"/>
              </a:rPr>
              <a:t>SHA-2 is a family of cryptographic hash functions designed by the National Security Agency (NSA) and standardized by the National Institute of Standards and Technology (NIST) in FIPS 180-2 (2001) and later updated in FIPS 180-4.</a:t>
            </a:r>
            <a:r>
              <a:rPr lang="vi-VN"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It was developed as a successor to SHA-1 to provide stronger security against collision and preimage attacks. Today, SHA-2 is the most widely used hash family in cybersecurity applications.</a:t>
            </a:r>
          </a:p>
        </p:txBody>
      </p:sp>
      <p:graphicFrame>
        <p:nvGraphicFramePr>
          <p:cNvPr id="11" name="Table 10">
            <a:extLst>
              <a:ext uri="{FF2B5EF4-FFF2-40B4-BE49-F238E27FC236}">
                <a16:creationId xmlns:a16="http://schemas.microsoft.com/office/drawing/2014/main" id="{A4852AB7-12FB-5A0C-8B98-E78D1BD86ED6}"/>
              </a:ext>
            </a:extLst>
          </p:cNvPr>
          <p:cNvGraphicFramePr>
            <a:graphicFrameLocks noGrp="1"/>
          </p:cNvGraphicFramePr>
          <p:nvPr>
            <p:extLst>
              <p:ext uri="{D42A27DB-BD31-4B8C-83A1-F6EECF244321}">
                <p14:modId xmlns:p14="http://schemas.microsoft.com/office/powerpoint/2010/main" val="3583713470"/>
              </p:ext>
            </p:extLst>
          </p:nvPr>
        </p:nvGraphicFramePr>
        <p:xfrm>
          <a:off x="725931" y="3150834"/>
          <a:ext cx="10166095" cy="2892344"/>
        </p:xfrm>
        <a:graphic>
          <a:graphicData uri="http://schemas.openxmlformats.org/drawingml/2006/table">
            <a:tbl>
              <a:tblPr>
                <a:tableStyleId>{2D5ABB26-0587-4C30-8999-92F81FD0307C}</a:tableStyleId>
              </a:tblPr>
              <a:tblGrid>
                <a:gridCol w="1371600">
                  <a:extLst>
                    <a:ext uri="{9D8B030D-6E8A-4147-A177-3AD203B41FA5}">
                      <a16:colId xmlns:a16="http://schemas.microsoft.com/office/drawing/2014/main" val="201251474"/>
                    </a:ext>
                  </a:extLst>
                </a:gridCol>
                <a:gridCol w="1219200">
                  <a:extLst>
                    <a:ext uri="{9D8B030D-6E8A-4147-A177-3AD203B41FA5}">
                      <a16:colId xmlns:a16="http://schemas.microsoft.com/office/drawing/2014/main" val="1539250970"/>
                    </a:ext>
                  </a:extLst>
                </a:gridCol>
                <a:gridCol w="1143000">
                  <a:extLst>
                    <a:ext uri="{9D8B030D-6E8A-4147-A177-3AD203B41FA5}">
                      <a16:colId xmlns:a16="http://schemas.microsoft.com/office/drawing/2014/main" val="452981175"/>
                    </a:ext>
                  </a:extLst>
                </a:gridCol>
                <a:gridCol w="1143000">
                  <a:extLst>
                    <a:ext uri="{9D8B030D-6E8A-4147-A177-3AD203B41FA5}">
                      <a16:colId xmlns:a16="http://schemas.microsoft.com/office/drawing/2014/main" val="3441813233"/>
                    </a:ext>
                  </a:extLst>
                </a:gridCol>
                <a:gridCol w="990600">
                  <a:extLst>
                    <a:ext uri="{9D8B030D-6E8A-4147-A177-3AD203B41FA5}">
                      <a16:colId xmlns:a16="http://schemas.microsoft.com/office/drawing/2014/main" val="2371867797"/>
                    </a:ext>
                  </a:extLst>
                </a:gridCol>
                <a:gridCol w="1600200">
                  <a:extLst>
                    <a:ext uri="{9D8B030D-6E8A-4147-A177-3AD203B41FA5}">
                      <a16:colId xmlns:a16="http://schemas.microsoft.com/office/drawing/2014/main" val="3137627900"/>
                    </a:ext>
                  </a:extLst>
                </a:gridCol>
                <a:gridCol w="2698495">
                  <a:extLst>
                    <a:ext uri="{9D8B030D-6E8A-4147-A177-3AD203B41FA5}">
                      <a16:colId xmlns:a16="http://schemas.microsoft.com/office/drawing/2014/main" val="24415487"/>
                    </a:ext>
                  </a:extLst>
                </a:gridCol>
              </a:tblGrid>
              <a:tr h="275722">
                <a:tc>
                  <a:txBody>
                    <a:bodyPr/>
                    <a:lstStyle/>
                    <a:p>
                      <a:pPr>
                        <a:buNone/>
                      </a:pPr>
                      <a:r>
                        <a:rPr lang="en-ID" sz="1600" b="1" dirty="0">
                          <a:solidFill>
                            <a:schemeClr val="bg1"/>
                          </a:solidFill>
                        </a:rPr>
                        <a:t>Algorithm</a:t>
                      </a:r>
                      <a:endParaRPr lang="en-ID" sz="1600" b="1" dirty="0">
                        <a:solidFill>
                          <a:schemeClr val="bg1"/>
                        </a:solidFill>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buNone/>
                      </a:pPr>
                      <a:r>
                        <a:rPr lang="en-ID" sz="1600" b="1" dirty="0">
                          <a:solidFill>
                            <a:schemeClr val="bg1"/>
                          </a:solidFill>
                        </a:rPr>
                        <a:t>Output Size</a:t>
                      </a:r>
                      <a:endParaRPr lang="en-ID" sz="1600" b="1" dirty="0">
                        <a:solidFill>
                          <a:schemeClr val="bg1"/>
                        </a:solidFill>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buNone/>
                      </a:pPr>
                      <a:r>
                        <a:rPr lang="en-ID" sz="1600" b="1" dirty="0">
                          <a:solidFill>
                            <a:schemeClr val="bg1"/>
                          </a:solidFill>
                        </a:rPr>
                        <a:t>Block Size</a:t>
                      </a:r>
                      <a:endParaRPr lang="en-ID" sz="1600" b="1" dirty="0">
                        <a:solidFill>
                          <a:schemeClr val="bg1"/>
                        </a:solidFill>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buNone/>
                      </a:pPr>
                      <a:r>
                        <a:rPr lang="en-ID" sz="1600" b="1" dirty="0">
                          <a:solidFill>
                            <a:schemeClr val="bg1"/>
                          </a:solidFill>
                        </a:rPr>
                        <a:t>Word Size</a:t>
                      </a:r>
                      <a:endParaRPr lang="en-ID" sz="1600" b="1" dirty="0">
                        <a:solidFill>
                          <a:schemeClr val="bg1"/>
                        </a:solidFill>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buNone/>
                      </a:pPr>
                      <a:r>
                        <a:rPr lang="en-ID" sz="1600" b="1" dirty="0">
                          <a:solidFill>
                            <a:schemeClr val="bg1"/>
                          </a:solidFill>
                        </a:rPr>
                        <a:t>Rounds</a:t>
                      </a:r>
                      <a:endParaRPr lang="en-ID" sz="1600" b="1" dirty="0">
                        <a:solidFill>
                          <a:schemeClr val="bg1"/>
                        </a:solidFill>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buNone/>
                      </a:pPr>
                      <a:r>
                        <a:rPr lang="en-ID" sz="1600" b="1" dirty="0">
                          <a:solidFill>
                            <a:schemeClr val="bg1"/>
                          </a:solidFill>
                        </a:rPr>
                        <a:t>Security Level</a:t>
                      </a:r>
                      <a:endParaRPr lang="en-ID" sz="1600" b="1" dirty="0">
                        <a:solidFill>
                          <a:schemeClr val="bg1"/>
                        </a:solidFill>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buNone/>
                      </a:pPr>
                      <a:r>
                        <a:rPr lang="en-ID" sz="1600" b="1" dirty="0">
                          <a:solidFill>
                            <a:schemeClr val="bg1"/>
                          </a:solidFill>
                        </a:rPr>
                        <a:t>Typical Use</a:t>
                      </a:r>
                      <a:endParaRPr lang="en-ID" sz="1600" b="1" dirty="0">
                        <a:solidFill>
                          <a:schemeClr val="bg1"/>
                        </a:solidFill>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841989889"/>
                  </a:ext>
                </a:extLst>
              </a:tr>
              <a:tr h="393888">
                <a:tc>
                  <a:txBody>
                    <a:bodyPr/>
                    <a:lstStyle/>
                    <a:p>
                      <a:pPr>
                        <a:buNone/>
                      </a:pPr>
                      <a:r>
                        <a:rPr lang="en-ID" sz="1600" b="1" dirty="0"/>
                        <a:t>SHA-224</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224 bits</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512 bits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32-bit</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64</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High</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Embedded systems</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738262"/>
                  </a:ext>
                </a:extLst>
              </a:tr>
              <a:tr h="393888">
                <a:tc>
                  <a:txBody>
                    <a:bodyPr/>
                    <a:lstStyle/>
                    <a:p>
                      <a:pPr>
                        <a:buNone/>
                      </a:pPr>
                      <a:r>
                        <a:rPr lang="en-ID" sz="1600" b="1"/>
                        <a:t>SHA-256</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256 bits</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512 bits</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32-bit</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64</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Very High</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TLS, Blockchain</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165172"/>
                  </a:ext>
                </a:extLst>
              </a:tr>
              <a:tr h="512055">
                <a:tc>
                  <a:txBody>
                    <a:bodyPr/>
                    <a:lstStyle/>
                    <a:p>
                      <a:pPr>
                        <a:buNone/>
                      </a:pPr>
                      <a:r>
                        <a:rPr lang="en-ID" sz="1600" b="1"/>
                        <a:t>SHA-384</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384 bits</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1024 bits</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64-bit</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80</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Very High</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High-security applications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7657655"/>
                  </a:ext>
                </a:extLst>
              </a:tr>
              <a:tr h="393888">
                <a:tc>
                  <a:txBody>
                    <a:bodyPr/>
                    <a:lstStyle/>
                    <a:p>
                      <a:pPr>
                        <a:buNone/>
                      </a:pPr>
                      <a:r>
                        <a:rPr lang="en-ID" sz="1600" b="1"/>
                        <a:t>SHA-512</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512 bits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1024 bits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64-bit</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80</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Extremely High</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Digital signatures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7370800"/>
                  </a:ext>
                </a:extLst>
              </a:tr>
              <a:tr h="393888">
                <a:tc>
                  <a:txBody>
                    <a:bodyPr/>
                    <a:lstStyle/>
                    <a:p>
                      <a:pPr>
                        <a:buNone/>
                      </a:pPr>
                      <a:r>
                        <a:rPr lang="en-ID" sz="1600" b="1"/>
                        <a:t>SHA-512/224</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224 bits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1024 bits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64-bit</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80</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High</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Constrained systems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7596897"/>
                  </a:ext>
                </a:extLst>
              </a:tr>
              <a:tr h="512055">
                <a:tc>
                  <a:txBody>
                    <a:bodyPr/>
                    <a:lstStyle/>
                    <a:p>
                      <a:pPr>
                        <a:buNone/>
                      </a:pPr>
                      <a:r>
                        <a:rPr lang="en-ID" sz="1600" b="1"/>
                        <a:t>SHA-512/256</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256 bits</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1024 bits</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a:t>64-bit</a:t>
                      </a:r>
                      <a:endParaRPr lang="en-ID" sz="160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80</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Very High</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D" sz="1600" dirty="0"/>
                        <a:t>Secure alternatives to SHA-256</a:t>
                      </a:r>
                      <a:endParaRPr lang="en-ID" sz="1600" dirty="0">
                        <a:latin typeface="Arial" panose="020B0604020202020204" pitchFamily="34" charset="0"/>
                        <a:cs typeface="Arial" panose="020B0604020202020204" pitchFamily="34" charset="0"/>
                      </a:endParaRPr>
                    </a:p>
                  </a:txBody>
                  <a:tcPr marL="48843" marR="48843" marT="24421" marB="244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8760232"/>
                  </a:ext>
                </a:extLst>
              </a:tr>
            </a:tbl>
          </a:graphicData>
        </a:graphic>
      </p:graphicFrame>
      <p:sp>
        <p:nvSpPr>
          <p:cNvPr id="8" name="object 2">
            <a:extLst>
              <a:ext uri="{FF2B5EF4-FFF2-40B4-BE49-F238E27FC236}">
                <a16:creationId xmlns:a16="http://schemas.microsoft.com/office/drawing/2014/main" id="{BAC59E82-AF3D-B397-350B-B053DD14E0F4}"/>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3677048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1786253-47BB-7673-7EB4-192BD2E93E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947DC8-A7DB-A658-973E-3AF4DA00859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FA55BEF-06C6-DEB0-1334-B092948F9F7C}"/>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7</a:t>
            </a:fld>
            <a:endParaRPr spc="-25" dirty="0"/>
          </a:p>
        </p:txBody>
      </p:sp>
      <p:sp>
        <p:nvSpPr>
          <p:cNvPr id="6" name="object 6">
            <a:extLst>
              <a:ext uri="{FF2B5EF4-FFF2-40B4-BE49-F238E27FC236}">
                <a16:creationId xmlns:a16="http://schemas.microsoft.com/office/drawing/2014/main" id="{66321DB0-A283-6FCA-D2CB-98F51F0D8FA4}"/>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2C0267B7-7BB2-F54F-2E1B-C146C71E4EFC}"/>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8" name="TextBox 7">
            <a:extLst>
              <a:ext uri="{FF2B5EF4-FFF2-40B4-BE49-F238E27FC236}">
                <a16:creationId xmlns:a16="http://schemas.microsoft.com/office/drawing/2014/main" id="{CF1FA4E5-CCB0-C310-ECE7-D5322BD01871}"/>
              </a:ext>
            </a:extLst>
          </p:cNvPr>
          <p:cNvSpPr txBox="1"/>
          <p:nvPr/>
        </p:nvSpPr>
        <p:spPr>
          <a:xfrm>
            <a:off x="457200" y="1661817"/>
            <a:ext cx="8153400" cy="830997"/>
          </a:xfrm>
          <a:prstGeom prst="rect">
            <a:avLst/>
          </a:prstGeom>
          <a:noFill/>
        </p:spPr>
        <p:txBody>
          <a:bodyPr wrap="square">
            <a:spAutoFit/>
          </a:bodyPr>
          <a:lstStyle/>
          <a:p>
            <a:r>
              <a:rPr lang="en-US" sz="1600" b="0" i="0" dirty="0">
                <a:solidFill>
                  <a:srgbClr val="000000"/>
                </a:solidFill>
                <a:effectLst/>
                <a:latin typeface="Arial" panose="020B0604020202020204" pitchFamily="34" charset="0"/>
                <a:cs typeface="Arial" panose="020B0604020202020204" pitchFamily="34" charset="0"/>
              </a:rPr>
              <a:t>The SHA-256 algorithm takes an input message of up to 264 bits and produces a</a:t>
            </a:r>
            <a:br>
              <a:rPr lang="en-US" sz="1600" b="0" i="0" dirty="0">
                <a:solidFill>
                  <a:srgbClr val="000000"/>
                </a:solidFill>
                <a:effectLst/>
                <a:latin typeface="Arial" panose="020B0604020202020204" pitchFamily="34" charset="0"/>
                <a:cs typeface="Arial" panose="020B0604020202020204" pitchFamily="34" charset="0"/>
              </a:rPr>
            </a:br>
            <a:r>
              <a:rPr lang="en-US" sz="1600" b="0" i="0" dirty="0">
                <a:solidFill>
                  <a:srgbClr val="000000"/>
                </a:solidFill>
                <a:effectLst/>
                <a:latin typeface="Arial" panose="020B0604020202020204" pitchFamily="34" charset="0"/>
                <a:cs typeface="Arial" panose="020B0604020202020204" pitchFamily="34" charset="0"/>
              </a:rPr>
              <a:t>fixed-length 256-bit output hash. The algorithm consists of two main stages: </a:t>
            </a:r>
            <a:r>
              <a:rPr lang="en-US" sz="1600" b="1" i="0" dirty="0">
                <a:solidFill>
                  <a:srgbClr val="000000"/>
                </a:solidFill>
                <a:effectLst/>
                <a:latin typeface="Arial" panose="020B0604020202020204" pitchFamily="34" charset="0"/>
                <a:cs typeface="Arial" panose="020B0604020202020204" pitchFamily="34" charset="0"/>
              </a:rPr>
              <a:t>message</a:t>
            </a:r>
            <a:br>
              <a:rPr lang="en-US" sz="1600" b="1" i="0" dirty="0">
                <a:solidFill>
                  <a:srgbClr val="000000"/>
                </a:solidFill>
                <a:effectLst/>
                <a:latin typeface="Arial" panose="020B0604020202020204" pitchFamily="34" charset="0"/>
                <a:cs typeface="Arial" panose="020B0604020202020204" pitchFamily="34" charset="0"/>
              </a:rPr>
            </a:br>
            <a:r>
              <a:rPr lang="en-US" sz="1600" b="1" i="0" dirty="0">
                <a:solidFill>
                  <a:srgbClr val="000000"/>
                </a:solidFill>
                <a:effectLst/>
                <a:latin typeface="Arial" panose="020B0604020202020204" pitchFamily="34" charset="0"/>
                <a:cs typeface="Arial" panose="020B0604020202020204" pitchFamily="34" charset="0"/>
              </a:rPr>
              <a:t>preprocessing </a:t>
            </a:r>
            <a:r>
              <a:rPr lang="en-US" sz="1600" i="0" dirty="0">
                <a:solidFill>
                  <a:srgbClr val="000000"/>
                </a:solidFill>
                <a:effectLst/>
                <a:latin typeface="Arial" panose="020B0604020202020204" pitchFamily="34" charset="0"/>
                <a:cs typeface="Arial" panose="020B0604020202020204" pitchFamily="34" charset="0"/>
              </a:rPr>
              <a:t>and</a:t>
            </a:r>
            <a:r>
              <a:rPr lang="en-US" sz="1600" b="1" i="0" dirty="0">
                <a:solidFill>
                  <a:srgbClr val="000000"/>
                </a:solidFill>
                <a:effectLst/>
                <a:latin typeface="Arial" panose="020B0604020202020204" pitchFamily="34" charset="0"/>
                <a:cs typeface="Arial" panose="020B0604020202020204" pitchFamily="34" charset="0"/>
              </a:rPr>
              <a:t> hash computation. </a:t>
            </a:r>
            <a:endParaRPr lang="en-ID" sz="1600" b="1"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A65A5D2-6CC5-0DFC-ED43-323ADA892FD7}"/>
              </a:ext>
            </a:extLst>
          </p:cNvPr>
          <p:cNvPicPr>
            <a:picLocks noChangeAspect="1"/>
          </p:cNvPicPr>
          <p:nvPr/>
        </p:nvPicPr>
        <p:blipFill>
          <a:blip r:embed="rId2"/>
          <a:stretch>
            <a:fillRect/>
          </a:stretch>
        </p:blipFill>
        <p:spPr>
          <a:xfrm>
            <a:off x="457200" y="2558346"/>
            <a:ext cx="6400800" cy="3429000"/>
          </a:xfrm>
          <a:prstGeom prst="rect">
            <a:avLst/>
          </a:prstGeom>
        </p:spPr>
      </p:pic>
      <p:sp>
        <p:nvSpPr>
          <p:cNvPr id="12" name="TextBox 11">
            <a:extLst>
              <a:ext uri="{FF2B5EF4-FFF2-40B4-BE49-F238E27FC236}">
                <a16:creationId xmlns:a16="http://schemas.microsoft.com/office/drawing/2014/main" id="{8256FBFE-8260-0F49-CFDD-523EECB879FC}"/>
              </a:ext>
            </a:extLst>
          </p:cNvPr>
          <p:cNvSpPr txBox="1"/>
          <p:nvPr/>
        </p:nvSpPr>
        <p:spPr>
          <a:xfrm>
            <a:off x="6858000" y="2834019"/>
            <a:ext cx="2587113" cy="830997"/>
          </a:xfrm>
          <a:prstGeom prst="rect">
            <a:avLst/>
          </a:prstGeom>
          <a:noFill/>
        </p:spPr>
        <p:txBody>
          <a:bodyPr wrap="square">
            <a:spAutoFit/>
          </a:bodyPr>
          <a:lstStyle/>
          <a:p>
            <a:r>
              <a:rPr lang="vi-VN" sz="1600" b="1" i="0" dirty="0" err="1">
                <a:solidFill>
                  <a:srgbClr val="000000"/>
                </a:solidFill>
                <a:effectLst/>
                <a:latin typeface="Arial" panose="020B0604020202020204" pitchFamily="34" charset="0"/>
                <a:cs typeface="Arial" panose="020B0604020202020204" pitchFamily="34" charset="0"/>
              </a:rPr>
              <a:t>Message</a:t>
            </a:r>
            <a:r>
              <a:rPr lang="vi-VN" sz="1600" b="1" i="0" dirty="0">
                <a:solidFill>
                  <a:srgbClr val="000000"/>
                </a:solidFill>
                <a:effectLst/>
                <a:latin typeface="Arial" panose="020B0604020202020204" pitchFamily="34" charset="0"/>
                <a:cs typeface="Arial" panose="020B0604020202020204" pitchFamily="34" charset="0"/>
              </a:rPr>
              <a:t>:   </a:t>
            </a:r>
            <a:r>
              <a:rPr lang="vi-VN" sz="1600" dirty="0">
                <a:solidFill>
                  <a:srgbClr val="000000"/>
                </a:solidFill>
                <a:latin typeface="Arial" panose="020B0604020202020204" pitchFamily="34" charset="0"/>
                <a:cs typeface="Arial" panose="020B0604020202020204" pitchFamily="34" charset="0"/>
              </a:rPr>
              <a:t>&lt; </a:t>
            </a:r>
            <a:r>
              <a:rPr lang="en-ID" sz="1600" dirty="0"/>
              <a:t>2</a:t>
            </a:r>
            <a:r>
              <a:rPr lang="en-ID" sz="1600" baseline="30000" dirty="0">
                <a:latin typeface="Arial" panose="020B0604020202020204" pitchFamily="34" charset="0"/>
                <a:cs typeface="Arial" panose="020B0604020202020204" pitchFamily="34" charset="0"/>
              </a:rPr>
              <a:t>64</a:t>
            </a:r>
            <a:r>
              <a:rPr lang="vi-VN" sz="1600" dirty="0">
                <a:solidFill>
                  <a:srgbClr val="000000"/>
                </a:solidFill>
                <a:latin typeface="Arial" panose="020B0604020202020204" pitchFamily="34" charset="0"/>
                <a:cs typeface="Arial" panose="020B0604020202020204" pitchFamily="34" charset="0"/>
              </a:rPr>
              <a:t> </a:t>
            </a:r>
            <a:r>
              <a:rPr lang="vi-VN" sz="1600" dirty="0" err="1">
                <a:solidFill>
                  <a:srgbClr val="000000"/>
                </a:solidFill>
                <a:latin typeface="Arial" panose="020B0604020202020204" pitchFamily="34" charset="0"/>
                <a:cs typeface="Arial" panose="020B0604020202020204" pitchFamily="34" charset="0"/>
              </a:rPr>
              <a:t>bit</a:t>
            </a:r>
            <a:endParaRPr lang="vi-VN" sz="1600" dirty="0">
              <a:solidFill>
                <a:srgbClr val="000000"/>
              </a:solidFill>
              <a:latin typeface="Arial" panose="020B0604020202020204" pitchFamily="34" charset="0"/>
              <a:cs typeface="Arial" panose="020B0604020202020204" pitchFamily="34" charset="0"/>
            </a:endParaRPr>
          </a:p>
          <a:p>
            <a:r>
              <a:rPr lang="vi-VN" sz="1600" b="1" dirty="0" err="1">
                <a:solidFill>
                  <a:srgbClr val="000000"/>
                </a:solidFill>
                <a:latin typeface="Arial" panose="020B0604020202020204" pitchFamily="34" charset="0"/>
                <a:cs typeface="Arial" panose="020B0604020202020204" pitchFamily="34" charset="0"/>
              </a:rPr>
              <a:t>Hash</a:t>
            </a:r>
            <a:r>
              <a:rPr lang="vi-VN" sz="1600" b="1" dirty="0">
                <a:solidFill>
                  <a:srgbClr val="000000"/>
                </a:solidFill>
                <a:latin typeface="Arial" panose="020B0604020202020204" pitchFamily="34" charset="0"/>
                <a:cs typeface="Arial" panose="020B0604020202020204" pitchFamily="34" charset="0"/>
              </a:rPr>
              <a:t> </a:t>
            </a:r>
            <a:r>
              <a:rPr lang="vi-VN" sz="1600" b="1" dirty="0" err="1">
                <a:solidFill>
                  <a:srgbClr val="000000"/>
                </a:solidFill>
                <a:latin typeface="Arial" panose="020B0604020202020204" pitchFamily="34" charset="0"/>
                <a:cs typeface="Arial" panose="020B0604020202020204" pitchFamily="34" charset="0"/>
              </a:rPr>
              <a:t>Text</a:t>
            </a:r>
            <a:r>
              <a:rPr lang="vi-VN" sz="1600" b="1" dirty="0">
                <a:solidFill>
                  <a:srgbClr val="000000"/>
                </a:solidFill>
                <a:latin typeface="Arial" panose="020B0604020202020204" pitchFamily="34" charset="0"/>
                <a:cs typeface="Arial" panose="020B0604020202020204" pitchFamily="34" charset="0"/>
              </a:rPr>
              <a:t>: </a:t>
            </a:r>
            <a:r>
              <a:rPr lang="vi-VN" sz="1600" dirty="0">
                <a:solidFill>
                  <a:srgbClr val="000000"/>
                </a:solidFill>
                <a:latin typeface="Arial" panose="020B0604020202020204" pitchFamily="34" charset="0"/>
                <a:cs typeface="Arial" panose="020B0604020202020204" pitchFamily="34" charset="0"/>
              </a:rPr>
              <a:t>256 </a:t>
            </a:r>
            <a:r>
              <a:rPr lang="vi-VN" sz="1600" dirty="0" err="1">
                <a:solidFill>
                  <a:srgbClr val="000000"/>
                </a:solidFill>
                <a:latin typeface="Arial" panose="020B0604020202020204" pitchFamily="34" charset="0"/>
                <a:cs typeface="Arial" panose="020B0604020202020204" pitchFamily="34" charset="0"/>
              </a:rPr>
              <a:t>bit</a:t>
            </a:r>
            <a:endParaRPr lang="vi-VN" sz="1600" dirty="0">
              <a:solidFill>
                <a:srgbClr val="000000"/>
              </a:solidFill>
              <a:latin typeface="Arial" panose="020B0604020202020204" pitchFamily="34" charset="0"/>
              <a:cs typeface="Arial" panose="020B0604020202020204" pitchFamily="34" charset="0"/>
            </a:endParaRPr>
          </a:p>
          <a:p>
            <a:r>
              <a:rPr lang="vi-VN" sz="1600" b="1" dirty="0" err="1">
                <a:solidFill>
                  <a:srgbClr val="000000"/>
                </a:solidFill>
                <a:latin typeface="Arial" panose="020B0604020202020204" pitchFamily="34" charset="0"/>
                <a:cs typeface="Arial" panose="020B0604020202020204" pitchFamily="34" charset="0"/>
              </a:rPr>
              <a:t>Step</a:t>
            </a:r>
            <a:r>
              <a:rPr lang="vi-VN" sz="1600" b="1" dirty="0">
                <a:solidFill>
                  <a:srgbClr val="000000"/>
                </a:solidFill>
                <a:latin typeface="Arial" panose="020B0604020202020204" pitchFamily="34" charset="0"/>
                <a:cs typeface="Arial" panose="020B0604020202020204" pitchFamily="34" charset="0"/>
              </a:rPr>
              <a:t>: </a:t>
            </a:r>
            <a:r>
              <a:rPr lang="vi-VN" sz="1600" dirty="0">
                <a:solidFill>
                  <a:srgbClr val="000000"/>
                </a:solidFill>
                <a:latin typeface="Arial" panose="020B0604020202020204" pitchFamily="34" charset="0"/>
                <a:cs typeface="Arial" panose="020B0604020202020204" pitchFamily="34" charset="0"/>
              </a:rPr>
              <a:t>80</a:t>
            </a:r>
            <a:endParaRPr lang="en-ID" sz="1600" b="1" dirty="0">
              <a:latin typeface="Arial" panose="020B0604020202020204" pitchFamily="34" charset="0"/>
              <a:cs typeface="Arial" panose="020B0604020202020204" pitchFamily="34" charset="0"/>
            </a:endParaRPr>
          </a:p>
        </p:txBody>
      </p:sp>
      <p:sp>
        <p:nvSpPr>
          <p:cNvPr id="11" name="object 2">
            <a:extLst>
              <a:ext uri="{FF2B5EF4-FFF2-40B4-BE49-F238E27FC236}">
                <a16:creationId xmlns:a16="http://schemas.microsoft.com/office/drawing/2014/main" id="{850BA27F-CA02-1D90-467D-F6D6BE3EF070}"/>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160791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375490-F137-CB1B-039D-F4BEB64F60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1F6439B-AC16-EC23-6019-C758EF66DBA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BE577958-DF1F-6AF9-C45D-0B96AFD28F67}"/>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8</a:t>
            </a:fld>
            <a:endParaRPr spc="-25" dirty="0"/>
          </a:p>
        </p:txBody>
      </p:sp>
      <p:sp>
        <p:nvSpPr>
          <p:cNvPr id="6" name="object 6">
            <a:extLst>
              <a:ext uri="{FF2B5EF4-FFF2-40B4-BE49-F238E27FC236}">
                <a16:creationId xmlns:a16="http://schemas.microsoft.com/office/drawing/2014/main" id="{CF69EDA5-139E-54E0-D84A-809611EBFEA0}"/>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D0BDC078-65BB-17CC-9254-649983456536}"/>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pic>
        <p:nvPicPr>
          <p:cNvPr id="9" name="Picture 8">
            <a:extLst>
              <a:ext uri="{FF2B5EF4-FFF2-40B4-BE49-F238E27FC236}">
                <a16:creationId xmlns:a16="http://schemas.microsoft.com/office/drawing/2014/main" id="{211C16B9-0A4A-C346-38E9-7238E31C490E}"/>
              </a:ext>
            </a:extLst>
          </p:cNvPr>
          <p:cNvPicPr>
            <a:picLocks noChangeAspect="1"/>
          </p:cNvPicPr>
          <p:nvPr/>
        </p:nvPicPr>
        <p:blipFill>
          <a:blip r:embed="rId2"/>
          <a:stretch>
            <a:fillRect/>
          </a:stretch>
        </p:blipFill>
        <p:spPr>
          <a:xfrm>
            <a:off x="5483942" y="1748114"/>
            <a:ext cx="6477000" cy="4297775"/>
          </a:xfrm>
          <a:prstGeom prst="rect">
            <a:avLst/>
          </a:prstGeom>
        </p:spPr>
      </p:pic>
      <p:pic>
        <p:nvPicPr>
          <p:cNvPr id="12" name="Picture 11">
            <a:extLst>
              <a:ext uri="{FF2B5EF4-FFF2-40B4-BE49-F238E27FC236}">
                <a16:creationId xmlns:a16="http://schemas.microsoft.com/office/drawing/2014/main" id="{82F7EA74-FCD5-706C-CB2F-E221B2A2F826}"/>
              </a:ext>
            </a:extLst>
          </p:cNvPr>
          <p:cNvPicPr>
            <a:picLocks noChangeAspect="1"/>
          </p:cNvPicPr>
          <p:nvPr/>
        </p:nvPicPr>
        <p:blipFill>
          <a:blip r:embed="rId3"/>
          <a:stretch>
            <a:fillRect/>
          </a:stretch>
        </p:blipFill>
        <p:spPr>
          <a:xfrm>
            <a:off x="228600" y="2209800"/>
            <a:ext cx="4604233" cy="1496041"/>
          </a:xfrm>
          <a:prstGeom prst="rect">
            <a:avLst/>
          </a:prstGeom>
        </p:spPr>
      </p:pic>
      <p:sp>
        <p:nvSpPr>
          <p:cNvPr id="13" name="Oval 12">
            <a:extLst>
              <a:ext uri="{FF2B5EF4-FFF2-40B4-BE49-F238E27FC236}">
                <a16:creationId xmlns:a16="http://schemas.microsoft.com/office/drawing/2014/main" id="{9C4BB79E-DBD8-B0D2-9F4F-6AEC78A58549}"/>
              </a:ext>
            </a:extLst>
          </p:cNvPr>
          <p:cNvSpPr/>
          <p:nvPr/>
        </p:nvSpPr>
        <p:spPr>
          <a:xfrm>
            <a:off x="91440" y="2011678"/>
            <a:ext cx="2194560" cy="1874521"/>
          </a:xfrm>
          <a:prstGeom prst="ellipse">
            <a:avLst/>
          </a:prstGeom>
          <a:noFill/>
          <a:ln w="349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D"/>
          </a:p>
        </p:txBody>
      </p:sp>
      <p:cxnSp>
        <p:nvCxnSpPr>
          <p:cNvPr id="15" name="Straight Arrow Connector 14">
            <a:extLst>
              <a:ext uri="{FF2B5EF4-FFF2-40B4-BE49-F238E27FC236}">
                <a16:creationId xmlns:a16="http://schemas.microsoft.com/office/drawing/2014/main" id="{FC24CD3C-40E8-B232-78FF-8CE5E0D8296E}"/>
              </a:ext>
            </a:extLst>
          </p:cNvPr>
          <p:cNvCxnSpPr>
            <a:stCxn id="13" idx="5"/>
          </p:cNvCxnSpPr>
          <p:nvPr/>
        </p:nvCxnSpPr>
        <p:spPr>
          <a:xfrm>
            <a:off x="1964614" y="3611682"/>
            <a:ext cx="5502986" cy="655518"/>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0" name="object 2">
            <a:extLst>
              <a:ext uri="{FF2B5EF4-FFF2-40B4-BE49-F238E27FC236}">
                <a16:creationId xmlns:a16="http://schemas.microsoft.com/office/drawing/2014/main" id="{8A5303C5-5EF4-4D13-9125-CC0B4D151815}"/>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2568496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CF995B4-2AE9-4D5A-9E6D-F3CD1597E2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1B0A167-C9BA-BC2A-ED32-7C4BF2253D5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5BF89E4-B7EA-AC8A-4DFE-446CB1E015FD}"/>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9</a:t>
            </a:fld>
            <a:endParaRPr spc="-25" dirty="0"/>
          </a:p>
        </p:txBody>
      </p:sp>
      <p:sp>
        <p:nvSpPr>
          <p:cNvPr id="6" name="object 6">
            <a:extLst>
              <a:ext uri="{FF2B5EF4-FFF2-40B4-BE49-F238E27FC236}">
                <a16:creationId xmlns:a16="http://schemas.microsoft.com/office/drawing/2014/main" id="{2A55EA01-D678-4509-2BA4-205229F330D1}"/>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CD2536DA-7360-B86E-5261-71832C54C961}"/>
              </a:ext>
            </a:extLst>
          </p:cNvPr>
          <p:cNvSpPr txBox="1"/>
          <p:nvPr/>
        </p:nvSpPr>
        <p:spPr>
          <a:xfrm>
            <a:off x="457200" y="934570"/>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7" name="object 3">
            <a:extLst>
              <a:ext uri="{FF2B5EF4-FFF2-40B4-BE49-F238E27FC236}">
                <a16:creationId xmlns:a16="http://schemas.microsoft.com/office/drawing/2014/main" id="{71DC423E-32F0-3621-26C7-4314C39DC7C5}"/>
              </a:ext>
            </a:extLst>
          </p:cNvPr>
          <p:cNvSpPr txBox="1"/>
          <p:nvPr/>
        </p:nvSpPr>
        <p:spPr>
          <a:xfrm>
            <a:off x="473904" y="1362324"/>
            <a:ext cx="10896600" cy="382797"/>
          </a:xfrm>
          <a:prstGeom prst="rect">
            <a:avLst/>
          </a:prstGeom>
        </p:spPr>
        <p:txBody>
          <a:bodyPr vert="horz" wrap="square" lIns="0" tIns="13335" rIns="0" bIns="0" rtlCol="0">
            <a:spAutoFit/>
          </a:bodyPr>
          <a:lstStyle/>
          <a:p>
            <a:pPr marL="12700">
              <a:lnSpc>
                <a:spcPct val="100000"/>
              </a:lnSpc>
              <a:spcBef>
                <a:spcPts val="105"/>
              </a:spcBef>
            </a:pPr>
            <a:r>
              <a:rPr lang="vi-VN" sz="2400" b="1" dirty="0" err="1">
                <a:solidFill>
                  <a:srgbClr val="7C45AD"/>
                </a:solidFill>
                <a:latin typeface="Arial"/>
                <a:cs typeface="Arial"/>
              </a:rPr>
              <a:t>Message</a:t>
            </a:r>
            <a:r>
              <a:rPr lang="vi-VN" sz="2400" b="1" dirty="0">
                <a:solidFill>
                  <a:srgbClr val="7C45AD"/>
                </a:solidFill>
                <a:latin typeface="Arial"/>
                <a:cs typeface="Arial"/>
              </a:rPr>
              <a:t> </a:t>
            </a:r>
            <a:r>
              <a:rPr lang="vi-VN" sz="2400" b="1" dirty="0" err="1">
                <a:solidFill>
                  <a:srgbClr val="7C45AD"/>
                </a:solidFill>
                <a:latin typeface="Arial"/>
                <a:cs typeface="Arial"/>
              </a:rPr>
              <a:t>Preprocessing</a:t>
            </a:r>
            <a:r>
              <a:rPr lang="vi-VN" sz="2400" b="1" dirty="0">
                <a:solidFill>
                  <a:srgbClr val="7C45AD"/>
                </a:solidFill>
                <a:latin typeface="Arial"/>
                <a:cs typeface="Arial"/>
              </a:rPr>
              <a:t> </a:t>
            </a:r>
            <a:r>
              <a:rPr lang="vi-VN" sz="2400" b="1" dirty="0" err="1">
                <a:solidFill>
                  <a:srgbClr val="7C45AD"/>
                </a:solidFill>
                <a:latin typeface="Arial"/>
                <a:cs typeface="Arial"/>
              </a:rPr>
              <a:t>Stage</a:t>
            </a:r>
            <a:r>
              <a:rPr lang="vi-VN" sz="2400" b="1" dirty="0">
                <a:solidFill>
                  <a:srgbClr val="7C45AD"/>
                </a:solidFill>
                <a:latin typeface="Arial"/>
                <a:cs typeface="Arial"/>
              </a:rPr>
              <a:t>:</a:t>
            </a:r>
            <a:endParaRPr lang="en-US" sz="2400" b="1" dirty="0">
              <a:solidFill>
                <a:srgbClr val="7C45AD"/>
              </a:solidFill>
              <a:latin typeface="Arial"/>
              <a:cs typeface="Arial"/>
            </a:endParaRPr>
          </a:p>
        </p:txBody>
      </p:sp>
      <p:sp>
        <p:nvSpPr>
          <p:cNvPr id="11" name="TextBox 10">
            <a:extLst>
              <a:ext uri="{FF2B5EF4-FFF2-40B4-BE49-F238E27FC236}">
                <a16:creationId xmlns:a16="http://schemas.microsoft.com/office/drawing/2014/main" id="{B2ADAB17-98FD-AC26-114C-5039C80E010A}"/>
              </a:ext>
            </a:extLst>
          </p:cNvPr>
          <p:cNvSpPr txBox="1"/>
          <p:nvPr/>
        </p:nvSpPr>
        <p:spPr>
          <a:xfrm>
            <a:off x="420329" y="1754449"/>
            <a:ext cx="11506200" cy="1877437"/>
          </a:xfrm>
          <a:prstGeom prst="rect">
            <a:avLst/>
          </a:prstGeom>
          <a:noFill/>
        </p:spPr>
        <p:txBody>
          <a:bodyPr wrap="square">
            <a:spAutoFit/>
          </a:bodyPr>
          <a:lstStyle/>
          <a:p>
            <a:r>
              <a:rPr lang="en-US" sz="1600" b="0" i="0" dirty="0">
                <a:solidFill>
                  <a:srgbClr val="000000"/>
                </a:solidFill>
                <a:effectLst/>
                <a:latin typeface="Arial" panose="020B0604020202020204" pitchFamily="34" charset="0"/>
                <a:cs typeface="Arial" panose="020B0604020202020204" pitchFamily="34" charset="0"/>
              </a:rPr>
              <a:t>In the preprocessing stage, the input message is first encoded in the UTF-8 binary</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standard. Next, a 1-value bit is added</a:t>
            </a:r>
            <a:endParaRPr lang="vi-VN" sz="1600" b="0" i="0" dirty="0">
              <a:solidFill>
                <a:srgbClr val="000000"/>
              </a:solidFill>
              <a:effectLst/>
              <a:latin typeface="Arial" panose="020B0604020202020204" pitchFamily="34" charset="0"/>
              <a:cs typeface="Arial" panose="020B0604020202020204" pitchFamily="34" charset="0"/>
            </a:endParaRPr>
          </a:p>
          <a:p>
            <a:r>
              <a:rPr lang="en-US" sz="1600" b="0" i="0" dirty="0">
                <a:solidFill>
                  <a:srgbClr val="000000"/>
                </a:solidFill>
                <a:effectLst/>
                <a:latin typeface="Arial" panose="020B0604020202020204" pitchFamily="34" charset="0"/>
                <a:cs typeface="Arial" panose="020B0604020202020204" pitchFamily="34" charset="0"/>
              </a:rPr>
              <a:t>to the end of the </a:t>
            </a:r>
            <a:r>
              <a:rPr lang="vi-VN" sz="1600" b="0" i="1" dirty="0">
                <a:solidFill>
                  <a:srgbClr val="000000"/>
                </a:solidFill>
                <a:effectLst/>
                <a:latin typeface="Arial" panose="020B0604020202020204" pitchFamily="34" charset="0"/>
                <a:cs typeface="Arial" panose="020B0604020202020204" pitchFamily="34" charset="0"/>
              </a:rPr>
              <a:t>L</a:t>
            </a:r>
            <a:r>
              <a:rPr lang="en-US" sz="1600" b="0" i="0" dirty="0">
                <a:solidFill>
                  <a:srgbClr val="000000"/>
                </a:solidFill>
                <a:effectLst/>
                <a:latin typeface="Arial" panose="020B0604020202020204" pitchFamily="34" charset="0"/>
                <a:cs typeface="Arial" panose="020B0604020202020204" pitchFamily="34" charset="0"/>
              </a:rPr>
              <a:t>-length encoded input message as</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a delimiter, signaling the end of the binary sequence. Afterward, the delimited string is</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zero-padded to a length of </a:t>
            </a:r>
            <a:r>
              <a:rPr lang="en-US" sz="1600" b="0" i="1" dirty="0">
                <a:solidFill>
                  <a:srgbClr val="000000"/>
                </a:solidFill>
                <a:effectLst/>
                <a:latin typeface="Arial" panose="020B0604020202020204" pitchFamily="34" charset="0"/>
                <a:cs typeface="Arial" panose="020B0604020202020204" pitchFamily="34" charset="0"/>
              </a:rPr>
              <a:t>k </a:t>
            </a:r>
            <a:r>
              <a:rPr lang="en-US" sz="1600" b="0" i="0" dirty="0">
                <a:solidFill>
                  <a:srgbClr val="000000"/>
                </a:solidFill>
                <a:effectLst/>
                <a:latin typeface="Arial" panose="020B0604020202020204" pitchFamily="34" charset="0"/>
                <a:cs typeface="Arial" panose="020B0604020202020204" pitchFamily="34" charset="0"/>
              </a:rPr>
              <a:t>bits, and the original input message’s length </a:t>
            </a:r>
            <a:r>
              <a:rPr lang="vi-VN" sz="1600" i="1" dirty="0">
                <a:solidFill>
                  <a:srgbClr val="000000"/>
                </a:solidFill>
                <a:latin typeface="Arial" panose="020B0604020202020204" pitchFamily="34" charset="0"/>
                <a:cs typeface="Arial" panose="020B0604020202020204" pitchFamily="34" charset="0"/>
              </a:rPr>
              <a:t>L</a:t>
            </a:r>
            <a:r>
              <a:rPr lang="en-US" sz="1600" b="0" i="1"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is appended</a:t>
            </a:r>
            <a:r>
              <a:rPr lang="vi-VN" sz="1600" dirty="0">
                <a:solidFill>
                  <a:srgbClr val="000000"/>
                </a:solidFill>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to the end in a 64-bit big-endian format. The value of </a:t>
            </a:r>
            <a:r>
              <a:rPr lang="en-US" sz="1600" b="0" i="1" dirty="0">
                <a:solidFill>
                  <a:srgbClr val="000000"/>
                </a:solidFill>
                <a:effectLst/>
                <a:latin typeface="Arial" panose="020B0604020202020204" pitchFamily="34" charset="0"/>
                <a:cs typeface="Arial" panose="020B0604020202020204" pitchFamily="34" charset="0"/>
              </a:rPr>
              <a:t>k </a:t>
            </a:r>
            <a:r>
              <a:rPr lang="en-US" sz="1600" b="0" i="0" dirty="0">
                <a:solidFill>
                  <a:srgbClr val="000000"/>
                </a:solidFill>
                <a:effectLst/>
                <a:latin typeface="Arial" panose="020B0604020202020204" pitchFamily="34" charset="0"/>
                <a:cs typeface="Arial" panose="020B0604020202020204" pitchFamily="34" charset="0"/>
              </a:rPr>
              <a:t>is determined as the smallest</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non-negative integer that satisfies the equation </a:t>
            </a:r>
            <a:r>
              <a:rPr lang="en-US" sz="1600" b="1" i="0" dirty="0">
                <a:solidFill>
                  <a:srgbClr val="000000"/>
                </a:solidFill>
                <a:effectLst/>
                <a:latin typeface="Arial" panose="020B0604020202020204" pitchFamily="34" charset="0"/>
                <a:cs typeface="Arial" panose="020B0604020202020204" pitchFamily="34" charset="0"/>
              </a:rPr>
              <a:t>(</a:t>
            </a:r>
            <a:r>
              <a:rPr lang="vi-VN" sz="1600" b="1" i="1" dirty="0">
                <a:solidFill>
                  <a:srgbClr val="000000"/>
                </a:solidFill>
                <a:latin typeface="Arial" panose="020B0604020202020204" pitchFamily="34" charset="0"/>
                <a:cs typeface="Arial" panose="020B0604020202020204" pitchFamily="34" charset="0"/>
              </a:rPr>
              <a:t>L</a:t>
            </a:r>
            <a:r>
              <a:rPr lang="en-US" sz="1600" b="1" i="1" dirty="0">
                <a:solidFill>
                  <a:srgbClr val="000000"/>
                </a:solidFill>
                <a:effectLst/>
                <a:latin typeface="Arial" panose="020B0604020202020204" pitchFamily="34" charset="0"/>
                <a:cs typeface="Arial" panose="020B0604020202020204" pitchFamily="34" charset="0"/>
              </a:rPr>
              <a:t> </a:t>
            </a:r>
            <a:r>
              <a:rPr lang="en-US" sz="1600" b="1" i="0" dirty="0">
                <a:solidFill>
                  <a:srgbClr val="000000"/>
                </a:solidFill>
                <a:effectLst/>
                <a:latin typeface="Arial" panose="020B0604020202020204" pitchFamily="34" charset="0"/>
                <a:cs typeface="Arial" panose="020B0604020202020204" pitchFamily="34" charset="0"/>
              </a:rPr>
              <a:t>+ 1 + </a:t>
            </a:r>
            <a:r>
              <a:rPr lang="en-US" sz="1600" b="1" i="1" dirty="0">
                <a:solidFill>
                  <a:srgbClr val="000000"/>
                </a:solidFill>
                <a:effectLst/>
                <a:latin typeface="Arial" panose="020B0604020202020204" pitchFamily="34" charset="0"/>
                <a:cs typeface="Arial" panose="020B0604020202020204" pitchFamily="34" charset="0"/>
              </a:rPr>
              <a:t>k </a:t>
            </a:r>
            <a:r>
              <a:rPr lang="en-US" sz="1600" b="1" i="0" dirty="0">
                <a:solidFill>
                  <a:srgbClr val="000000"/>
                </a:solidFill>
                <a:effectLst/>
                <a:latin typeface="Arial" panose="020B0604020202020204" pitchFamily="34" charset="0"/>
                <a:cs typeface="Arial" panose="020B0604020202020204" pitchFamily="34" charset="0"/>
              </a:rPr>
              <a:t>+ 64)</a:t>
            </a:r>
            <a:r>
              <a:rPr lang="en-US" sz="1600" b="0" i="1" dirty="0">
                <a:solidFill>
                  <a:srgbClr val="000000"/>
                </a:solidFill>
                <a:effectLst/>
                <a:latin typeface="Arial" panose="020B0604020202020204" pitchFamily="34" charset="0"/>
                <a:cs typeface="Arial" panose="020B0604020202020204" pitchFamily="34" charset="0"/>
              </a:rPr>
              <a:t>mod</a:t>
            </a:r>
            <a:r>
              <a:rPr lang="en-US" sz="1600" b="0" i="0" dirty="0">
                <a:solidFill>
                  <a:srgbClr val="000000"/>
                </a:solidFill>
                <a:effectLst/>
                <a:latin typeface="Arial" panose="020B0604020202020204" pitchFamily="34" charset="0"/>
                <a:cs typeface="Arial" panose="020B0604020202020204" pitchFamily="34" charset="0"/>
              </a:rPr>
              <a:t>512 </a:t>
            </a:r>
            <a:r>
              <a:rPr lang="en-US" sz="1600" b="0" i="1"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0, where the</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notation (</a:t>
            </a:r>
            <a:r>
              <a:rPr lang="en-US" sz="1600" b="0" i="1" dirty="0">
                <a:solidFill>
                  <a:srgbClr val="000000"/>
                </a:solidFill>
                <a:effectLst/>
                <a:latin typeface="Arial" panose="020B0604020202020204" pitchFamily="34" charset="0"/>
                <a:cs typeface="Arial" panose="020B0604020202020204" pitchFamily="34" charset="0"/>
              </a:rPr>
              <a:t>A</a:t>
            </a:r>
            <a:r>
              <a:rPr lang="en-US" sz="1600" b="0" i="0" dirty="0">
                <a:solidFill>
                  <a:srgbClr val="000000"/>
                </a:solidFill>
                <a:effectLst/>
                <a:latin typeface="Arial" panose="020B0604020202020204" pitchFamily="34" charset="0"/>
                <a:cs typeface="Arial" panose="020B0604020202020204" pitchFamily="34" charset="0"/>
              </a:rPr>
              <a:t>)</a:t>
            </a:r>
            <a:r>
              <a:rPr lang="en-US" sz="1600" b="0" i="1" dirty="0" err="1">
                <a:solidFill>
                  <a:srgbClr val="000000"/>
                </a:solidFill>
                <a:effectLst/>
                <a:latin typeface="Arial" panose="020B0604020202020204" pitchFamily="34" charset="0"/>
                <a:cs typeface="Arial" panose="020B0604020202020204" pitchFamily="34" charset="0"/>
              </a:rPr>
              <a:t>modB</a:t>
            </a:r>
            <a:r>
              <a:rPr lang="en-US" sz="1600" b="0" i="1" dirty="0">
                <a:solidFill>
                  <a:srgbClr val="000000"/>
                </a:solidFill>
                <a:effectLst/>
                <a:latin typeface="Arial" panose="020B0604020202020204" pitchFamily="34" charset="0"/>
                <a:cs typeface="Arial" panose="020B0604020202020204" pitchFamily="34" charset="0"/>
              </a:rPr>
              <a:t> ≡ </a:t>
            </a:r>
            <a:r>
              <a:rPr lang="en-US" sz="1600" b="0" i="0" dirty="0">
                <a:solidFill>
                  <a:srgbClr val="000000"/>
                </a:solidFill>
                <a:effectLst/>
                <a:latin typeface="Arial" panose="020B0604020202020204" pitchFamily="34" charset="0"/>
                <a:cs typeface="Arial" panose="020B0604020202020204" pitchFamily="34" charset="0"/>
              </a:rPr>
              <a:t>0 means that A is an integer multiple of B. Then, the padded message</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is partitioned into a series of 512-bit blocks, denoted as </a:t>
            </a:r>
            <a:r>
              <a:rPr lang="en-US" sz="1600" b="0" i="1" dirty="0">
                <a:solidFill>
                  <a:srgbClr val="000000"/>
                </a:solidFill>
                <a:effectLst/>
                <a:latin typeface="Arial" panose="020B0604020202020204" pitchFamily="34" charset="0"/>
                <a:cs typeface="Arial" panose="020B0604020202020204" pitchFamily="34" charset="0"/>
              </a:rPr>
              <a:t>M</a:t>
            </a:r>
            <a:r>
              <a:rPr lang="en-US" sz="1600" b="0" i="0" baseline="30000" dirty="0">
                <a:solidFill>
                  <a:srgbClr val="000000"/>
                </a:solidFill>
                <a:effectLst/>
                <a:latin typeface="Arial" panose="020B0604020202020204" pitchFamily="34" charset="0"/>
                <a:cs typeface="Arial" panose="020B0604020202020204" pitchFamily="34" charset="0"/>
              </a:rPr>
              <a:t>(</a:t>
            </a:r>
            <a:r>
              <a:rPr lang="en-US" sz="1600" b="0" i="1" baseline="30000" dirty="0" err="1">
                <a:solidFill>
                  <a:srgbClr val="000000"/>
                </a:solidFill>
                <a:effectLst/>
                <a:latin typeface="Arial" panose="020B0604020202020204" pitchFamily="34" charset="0"/>
                <a:cs typeface="Arial" panose="020B0604020202020204" pitchFamily="34" charset="0"/>
              </a:rPr>
              <a:t>i</a:t>
            </a:r>
            <a:r>
              <a:rPr lang="en-US" sz="1600" b="0" i="0" baseline="30000" dirty="0">
                <a:solidFill>
                  <a:srgbClr val="000000"/>
                </a:solidFill>
                <a:effectLst/>
                <a:latin typeface="Arial" panose="020B0604020202020204" pitchFamily="34" charset="0"/>
                <a:cs typeface="Arial" panose="020B0604020202020204" pitchFamily="34" charset="0"/>
              </a:rPr>
              <a:t>)</a:t>
            </a:r>
            <a:r>
              <a:rPr lang="en-US" sz="1600" b="0" i="0" dirty="0">
                <a:solidFill>
                  <a:srgbClr val="000000"/>
                </a:solidFill>
                <a:effectLst/>
                <a:latin typeface="Arial" panose="020B0604020202020204" pitchFamily="34" charset="0"/>
                <a:cs typeface="Arial" panose="020B0604020202020204" pitchFamily="34" charset="0"/>
              </a:rPr>
              <a:t>, where </a:t>
            </a:r>
            <a:r>
              <a:rPr lang="en-US" sz="1600" b="0" i="1" dirty="0" err="1">
                <a:solidFill>
                  <a:srgbClr val="000000"/>
                </a:solidFill>
                <a:effectLst/>
                <a:latin typeface="Arial" panose="020B0604020202020204" pitchFamily="34" charset="0"/>
                <a:cs typeface="Arial" panose="020B0604020202020204" pitchFamily="34" charset="0"/>
              </a:rPr>
              <a:t>i</a:t>
            </a:r>
            <a:r>
              <a:rPr lang="en-US" sz="1600" b="0" i="1"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ranges from 1 to </a:t>
            </a:r>
            <a:r>
              <a:rPr lang="en-US" sz="1600" b="0" i="1" dirty="0">
                <a:solidFill>
                  <a:srgbClr val="000000"/>
                </a:solidFill>
                <a:effectLst/>
                <a:latin typeface="Arial" panose="020B0604020202020204" pitchFamily="34" charset="0"/>
                <a:cs typeface="Arial" panose="020B0604020202020204" pitchFamily="34" charset="0"/>
              </a:rPr>
              <a:t>N</a:t>
            </a:r>
            <a:r>
              <a:rPr lang="en-US" sz="1600" b="0" i="0" dirty="0">
                <a:solidFill>
                  <a:srgbClr val="000000"/>
                </a:solidFill>
                <a:effectLst/>
                <a:latin typeface="Arial" panose="020B0604020202020204" pitchFamily="34" charset="0"/>
                <a:cs typeface="Arial" panose="020B0604020202020204" pitchFamily="34" charset="0"/>
              </a:rPr>
              <a:t>.</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Each of these blocks comprises sixteen 32-bit words, represented as </a:t>
            </a:r>
            <a:r>
              <a:rPr lang="vi-VN" sz="1600" b="0" i="1" dirty="0">
                <a:solidFill>
                  <a:srgbClr val="000000"/>
                </a:solidFill>
                <a:effectLst/>
                <a:latin typeface="Arial" panose="020B0604020202020204" pitchFamily="34" charset="0"/>
                <a:cs typeface="Arial" panose="020B0604020202020204" pitchFamily="34" charset="0"/>
              </a:rPr>
              <a:t>M</a:t>
            </a:r>
            <a:r>
              <a:rPr lang="vi-VN" sz="1600" b="0" i="1" baseline="30000" dirty="0">
                <a:solidFill>
                  <a:srgbClr val="000000"/>
                </a:solidFill>
                <a:effectLst/>
                <a:latin typeface="Arial" panose="020B0604020202020204" pitchFamily="34" charset="0"/>
                <a:cs typeface="Arial" panose="020B0604020202020204" pitchFamily="34" charset="0"/>
              </a:rPr>
              <a:t>(i)</a:t>
            </a:r>
            <a:r>
              <a:rPr lang="vi-VN" sz="1600" b="0" i="1" baseline="-25000" dirty="0">
                <a:solidFill>
                  <a:srgbClr val="000000"/>
                </a:solidFill>
                <a:effectLst/>
                <a:latin typeface="Arial" panose="020B0604020202020204" pitchFamily="34" charset="0"/>
                <a:cs typeface="Arial" panose="020B0604020202020204" pitchFamily="34" charset="0"/>
              </a:rPr>
              <a:t>t</a:t>
            </a:r>
            <a:r>
              <a:rPr lang="en-US" sz="1600" b="0" i="0" dirty="0">
                <a:solidFill>
                  <a:srgbClr val="000000"/>
                </a:solidFill>
                <a:effectLst/>
                <a:latin typeface="Arial" panose="020B0604020202020204" pitchFamily="34" charset="0"/>
                <a:cs typeface="Arial" panose="020B0604020202020204" pitchFamily="34" charset="0"/>
              </a:rPr>
              <a:t>, with </a:t>
            </a:r>
            <a:r>
              <a:rPr lang="en-US" sz="1600" b="0" i="1" dirty="0">
                <a:solidFill>
                  <a:srgbClr val="000000"/>
                </a:solidFill>
                <a:effectLst/>
                <a:latin typeface="Arial" panose="020B0604020202020204" pitchFamily="34" charset="0"/>
                <a:cs typeface="Arial" panose="020B0604020202020204" pitchFamily="34" charset="0"/>
              </a:rPr>
              <a:t>t </a:t>
            </a:r>
            <a:r>
              <a:rPr lang="en-US" sz="1600" b="0" i="0" dirty="0">
                <a:solidFill>
                  <a:srgbClr val="000000"/>
                </a:solidFill>
                <a:effectLst/>
                <a:latin typeface="Arial" panose="020B0604020202020204" pitchFamily="34" charset="0"/>
                <a:cs typeface="Arial" panose="020B0604020202020204" pitchFamily="34" charset="0"/>
              </a:rPr>
              <a:t>ranging</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from 0 to 15</a:t>
            </a:r>
            <a:endParaRPr lang="en-ID" dirty="0"/>
          </a:p>
        </p:txBody>
      </p:sp>
      <p:pic>
        <p:nvPicPr>
          <p:cNvPr id="14" name="Picture 13">
            <a:extLst>
              <a:ext uri="{FF2B5EF4-FFF2-40B4-BE49-F238E27FC236}">
                <a16:creationId xmlns:a16="http://schemas.microsoft.com/office/drawing/2014/main" id="{2044C3F8-DC78-65BA-1CE6-426ACACFAE0D}"/>
              </a:ext>
            </a:extLst>
          </p:cNvPr>
          <p:cNvPicPr>
            <a:picLocks noChangeAspect="1"/>
          </p:cNvPicPr>
          <p:nvPr/>
        </p:nvPicPr>
        <p:blipFill>
          <a:blip r:embed="rId2"/>
          <a:stretch>
            <a:fillRect/>
          </a:stretch>
        </p:blipFill>
        <p:spPr>
          <a:xfrm>
            <a:off x="2895600" y="4224570"/>
            <a:ext cx="5916020" cy="2345089"/>
          </a:xfrm>
          <a:prstGeom prst="rect">
            <a:avLst/>
          </a:prstGeom>
        </p:spPr>
      </p:pic>
      <p:pic>
        <p:nvPicPr>
          <p:cNvPr id="16" name="Picture 15">
            <a:extLst>
              <a:ext uri="{FF2B5EF4-FFF2-40B4-BE49-F238E27FC236}">
                <a16:creationId xmlns:a16="http://schemas.microsoft.com/office/drawing/2014/main" id="{25DC7D1D-ADB9-A1EC-2C7C-7B0020D337D6}"/>
              </a:ext>
            </a:extLst>
          </p:cNvPr>
          <p:cNvPicPr>
            <a:picLocks noChangeAspect="1"/>
          </p:cNvPicPr>
          <p:nvPr/>
        </p:nvPicPr>
        <p:blipFill>
          <a:blip r:embed="rId3"/>
          <a:stretch>
            <a:fillRect/>
          </a:stretch>
        </p:blipFill>
        <p:spPr>
          <a:xfrm>
            <a:off x="4132215" y="3544463"/>
            <a:ext cx="3442790" cy="788248"/>
          </a:xfrm>
          <a:prstGeom prst="rect">
            <a:avLst/>
          </a:prstGeom>
        </p:spPr>
      </p:pic>
      <p:sp>
        <p:nvSpPr>
          <p:cNvPr id="10" name="object 2">
            <a:extLst>
              <a:ext uri="{FF2B5EF4-FFF2-40B4-BE49-F238E27FC236}">
                <a16:creationId xmlns:a16="http://schemas.microsoft.com/office/drawing/2014/main" id="{2FDE80F5-3461-CDE2-8C38-DCAB67FE88F4}"/>
              </a:ext>
            </a:extLst>
          </p:cNvPr>
          <p:cNvSpPr txBox="1">
            <a:spLocks/>
          </p:cNvSpPr>
          <p:nvPr/>
        </p:nvSpPr>
        <p:spPr>
          <a:xfrm>
            <a:off x="442452" y="357779"/>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587732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0459F43-AA14-6000-2204-1928705B94D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B296EB7-5B51-BADD-EF6F-51E6BB93CB8B}"/>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8AFA9C53-58DF-9D59-AFE2-E8D2652A15D2}"/>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10</a:t>
            </a:fld>
            <a:endParaRPr spc="-25" dirty="0"/>
          </a:p>
        </p:txBody>
      </p:sp>
      <p:sp>
        <p:nvSpPr>
          <p:cNvPr id="6" name="object 6">
            <a:extLst>
              <a:ext uri="{FF2B5EF4-FFF2-40B4-BE49-F238E27FC236}">
                <a16:creationId xmlns:a16="http://schemas.microsoft.com/office/drawing/2014/main" id="{09EF06D4-E857-6F1D-8815-3E74440DB2B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538264EA-1429-9B8A-F1E0-A564A9DB4E3E}"/>
              </a:ext>
            </a:extLst>
          </p:cNvPr>
          <p:cNvSpPr txBox="1"/>
          <p:nvPr/>
        </p:nvSpPr>
        <p:spPr>
          <a:xfrm>
            <a:off x="457200" y="106432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7" name="object 3">
            <a:extLst>
              <a:ext uri="{FF2B5EF4-FFF2-40B4-BE49-F238E27FC236}">
                <a16:creationId xmlns:a16="http://schemas.microsoft.com/office/drawing/2014/main" id="{2CF7F38B-C2D2-AC54-A381-6607F06B7070}"/>
              </a:ext>
            </a:extLst>
          </p:cNvPr>
          <p:cNvSpPr txBox="1"/>
          <p:nvPr/>
        </p:nvSpPr>
        <p:spPr>
          <a:xfrm>
            <a:off x="457200" y="1596285"/>
            <a:ext cx="10896600" cy="382797"/>
          </a:xfrm>
          <a:prstGeom prst="rect">
            <a:avLst/>
          </a:prstGeom>
        </p:spPr>
        <p:txBody>
          <a:bodyPr vert="horz" wrap="square" lIns="0" tIns="13335" rIns="0" bIns="0" rtlCol="0">
            <a:spAutoFit/>
          </a:bodyPr>
          <a:lstStyle/>
          <a:p>
            <a:pPr marL="12700">
              <a:lnSpc>
                <a:spcPct val="100000"/>
              </a:lnSpc>
              <a:spcBef>
                <a:spcPts val="105"/>
              </a:spcBef>
            </a:pPr>
            <a:r>
              <a:rPr lang="vi-VN" sz="2400" b="1" dirty="0" err="1">
                <a:solidFill>
                  <a:srgbClr val="7C45AD"/>
                </a:solidFill>
                <a:latin typeface="Arial"/>
                <a:cs typeface="Arial"/>
              </a:rPr>
              <a:t>Message</a:t>
            </a:r>
            <a:r>
              <a:rPr lang="vi-VN" sz="2400" b="1" dirty="0">
                <a:solidFill>
                  <a:srgbClr val="7C45AD"/>
                </a:solidFill>
                <a:latin typeface="Arial"/>
                <a:cs typeface="Arial"/>
              </a:rPr>
              <a:t> </a:t>
            </a:r>
            <a:r>
              <a:rPr lang="vi-VN" sz="2400" b="1" dirty="0" err="1">
                <a:solidFill>
                  <a:srgbClr val="7C45AD"/>
                </a:solidFill>
                <a:latin typeface="Arial"/>
                <a:cs typeface="Arial"/>
              </a:rPr>
              <a:t>Preprocessing</a:t>
            </a:r>
            <a:r>
              <a:rPr lang="vi-VN" sz="2400" b="1" dirty="0">
                <a:solidFill>
                  <a:srgbClr val="7C45AD"/>
                </a:solidFill>
                <a:latin typeface="Arial"/>
                <a:cs typeface="Arial"/>
              </a:rPr>
              <a:t> </a:t>
            </a:r>
            <a:r>
              <a:rPr lang="vi-VN" sz="2400" b="1" dirty="0" err="1">
                <a:solidFill>
                  <a:srgbClr val="7C45AD"/>
                </a:solidFill>
                <a:latin typeface="Arial"/>
                <a:cs typeface="Arial"/>
              </a:rPr>
              <a:t>Stage</a:t>
            </a:r>
            <a:r>
              <a:rPr lang="vi-VN" sz="2400" b="1" dirty="0">
                <a:solidFill>
                  <a:srgbClr val="7C45AD"/>
                </a:solidFill>
                <a:latin typeface="Arial"/>
                <a:cs typeface="Arial"/>
              </a:rPr>
              <a:t>:</a:t>
            </a:r>
            <a:endParaRPr lang="en-US" sz="2400" b="1" dirty="0">
              <a:solidFill>
                <a:srgbClr val="7C45AD"/>
              </a:solidFill>
              <a:latin typeface="Arial"/>
              <a:cs typeface="Arial"/>
            </a:endParaRPr>
          </a:p>
        </p:txBody>
      </p:sp>
      <p:sp>
        <p:nvSpPr>
          <p:cNvPr id="9" name="TextBox 8">
            <a:extLst>
              <a:ext uri="{FF2B5EF4-FFF2-40B4-BE49-F238E27FC236}">
                <a16:creationId xmlns:a16="http://schemas.microsoft.com/office/drawing/2014/main" id="{82E2B534-4A74-99B5-A114-8D31657BDD27}"/>
              </a:ext>
            </a:extLst>
          </p:cNvPr>
          <p:cNvSpPr txBox="1"/>
          <p:nvPr/>
        </p:nvSpPr>
        <p:spPr>
          <a:xfrm>
            <a:off x="381000" y="2066499"/>
            <a:ext cx="10210800" cy="1241365"/>
          </a:xfrm>
          <a:prstGeom prst="rect">
            <a:avLst/>
          </a:prstGeom>
          <a:noFill/>
        </p:spPr>
        <p:txBody>
          <a:bodyPr wrap="square">
            <a:spAutoFit/>
          </a:bodyPr>
          <a:lstStyle/>
          <a:p>
            <a:r>
              <a:rPr lang="en-US" sz="1600" b="0" i="0" dirty="0">
                <a:solidFill>
                  <a:srgbClr val="000000"/>
                </a:solidFill>
                <a:effectLst/>
                <a:latin typeface="Arial" panose="020B0604020202020204" pitchFamily="34" charset="0"/>
                <a:cs typeface="Arial" panose="020B0604020202020204" pitchFamily="34" charset="0"/>
              </a:rPr>
              <a:t>Finally, the last step of the preprocessing stage is initializing the working </a:t>
            </a:r>
            <a:r>
              <a:rPr lang="en-US" sz="1600" b="0" i="0" dirty="0" err="1">
                <a:solidFill>
                  <a:srgbClr val="000000"/>
                </a:solidFill>
                <a:effectLst/>
                <a:latin typeface="Arial" panose="020B0604020202020204" pitchFamily="34" charset="0"/>
                <a:cs typeface="Arial" panose="020B0604020202020204" pitchFamily="34" charset="0"/>
              </a:rPr>
              <a:t>variables.These</a:t>
            </a:r>
            <a:r>
              <a:rPr lang="en-US" sz="1600" b="0" i="0" dirty="0">
                <a:solidFill>
                  <a:srgbClr val="000000"/>
                </a:solidFill>
                <a:effectLst/>
                <a:latin typeface="Arial" panose="020B0604020202020204" pitchFamily="34" charset="0"/>
                <a:cs typeface="Arial" panose="020B0604020202020204" pitchFamily="34" charset="0"/>
              </a:rPr>
              <a:t> variables store the hash value and are refreshed each round of the algorithm. The</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symbols </a:t>
            </a:r>
            <a:r>
              <a:rPr lang="en-US" sz="1600" b="0" i="1" dirty="0">
                <a:solidFill>
                  <a:srgbClr val="000000"/>
                </a:solidFill>
                <a:effectLst/>
                <a:latin typeface="Arial" panose="020B0604020202020204" pitchFamily="34" charset="0"/>
                <a:cs typeface="Arial" panose="020B0604020202020204" pitchFamily="34" charset="0"/>
              </a:rPr>
              <a:t>a</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b</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c</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d</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e</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f </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g</a:t>
            </a:r>
            <a:r>
              <a:rPr lang="en-US" sz="1600" b="0" i="0" dirty="0">
                <a:solidFill>
                  <a:srgbClr val="000000"/>
                </a:solidFill>
                <a:effectLst/>
                <a:latin typeface="Arial" panose="020B0604020202020204" pitchFamily="34" charset="0"/>
                <a:cs typeface="Arial" panose="020B0604020202020204" pitchFamily="34" charset="0"/>
              </a:rPr>
              <a:t>, and </a:t>
            </a:r>
            <a:r>
              <a:rPr lang="en-US" sz="1600" b="0" i="1" dirty="0">
                <a:solidFill>
                  <a:srgbClr val="000000"/>
                </a:solidFill>
                <a:effectLst/>
                <a:latin typeface="Arial" panose="020B0604020202020204" pitchFamily="34" charset="0"/>
                <a:cs typeface="Arial" panose="020B0604020202020204" pitchFamily="34" charset="0"/>
              </a:rPr>
              <a:t>h </a:t>
            </a:r>
            <a:r>
              <a:rPr lang="en-US" sz="1600" b="0" i="0" dirty="0">
                <a:solidFill>
                  <a:srgbClr val="000000"/>
                </a:solidFill>
                <a:effectLst/>
                <a:latin typeface="Arial" panose="020B0604020202020204" pitchFamily="34" charset="0"/>
                <a:cs typeface="Arial" panose="020B0604020202020204" pitchFamily="34" charset="0"/>
              </a:rPr>
              <a:t>represent the working variables and are initialized with their</a:t>
            </a:r>
            <a:r>
              <a:rPr lang="vi-VN" sz="1600" dirty="0">
                <a:solidFill>
                  <a:srgbClr val="000000"/>
                </a:solidFill>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respective values: </a:t>
            </a:r>
            <a:r>
              <a:rPr lang="en-US" sz="1600" b="0" i="1" dirty="0">
                <a:solidFill>
                  <a:srgbClr val="000000"/>
                </a:solidFill>
                <a:effectLst/>
                <a:latin typeface="Arial" panose="020B0604020202020204" pitchFamily="34" charset="0"/>
                <a:cs typeface="Arial" panose="020B0604020202020204" pitchFamily="34" charset="0"/>
              </a:rPr>
              <a:t>H</a:t>
            </a:r>
            <a:r>
              <a:rPr lang="en-US" sz="1600" b="0" i="0" baseline="-25000" dirty="0">
                <a:solidFill>
                  <a:srgbClr val="000000"/>
                </a:solidFill>
                <a:effectLst/>
                <a:latin typeface="Arial" panose="020B0604020202020204" pitchFamily="34" charset="0"/>
                <a:cs typeface="Arial" panose="020B0604020202020204" pitchFamily="34" charset="0"/>
              </a:rPr>
              <a:t>0</a:t>
            </a:r>
            <a:r>
              <a:rPr lang="en-US" sz="1600" b="0" i="0" baseline="30000" dirty="0">
                <a:solidFill>
                  <a:srgbClr val="000000"/>
                </a:solidFill>
                <a:effectLst/>
                <a:latin typeface="Arial" panose="020B0604020202020204" pitchFamily="34" charset="0"/>
                <a:cs typeface="Arial" panose="020B0604020202020204" pitchFamily="34" charset="0"/>
              </a:rPr>
              <a:t>(0)</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H</a:t>
            </a:r>
            <a:r>
              <a:rPr lang="en-US" sz="1600" b="0" i="0" baseline="-25000" dirty="0">
                <a:solidFill>
                  <a:srgbClr val="000000"/>
                </a:solidFill>
                <a:effectLst/>
                <a:latin typeface="Arial" panose="020B0604020202020204" pitchFamily="34" charset="0"/>
                <a:cs typeface="Arial" panose="020B0604020202020204" pitchFamily="34" charset="0"/>
              </a:rPr>
              <a:t>1</a:t>
            </a:r>
            <a:r>
              <a:rPr lang="en-US" sz="1600" b="0" i="0" baseline="30000" dirty="0">
                <a:solidFill>
                  <a:srgbClr val="000000"/>
                </a:solidFill>
                <a:effectLst/>
                <a:latin typeface="Arial" panose="020B0604020202020204" pitchFamily="34" charset="0"/>
                <a:cs typeface="Arial" panose="020B0604020202020204" pitchFamily="34" charset="0"/>
              </a:rPr>
              <a:t>(0)</a:t>
            </a:r>
            <a:r>
              <a:rPr lang="en-US" sz="1600" b="0" i="0" dirty="0">
                <a:solidFill>
                  <a:srgbClr val="000000"/>
                </a:solidFill>
                <a:effectLst/>
                <a:latin typeface="Arial" panose="020B0604020202020204" pitchFamily="34" charset="0"/>
                <a:cs typeface="Arial" panose="020B0604020202020204" pitchFamily="34" charset="0"/>
              </a:rPr>
              <a:t>, . . . , </a:t>
            </a:r>
            <a:r>
              <a:rPr lang="en-US" sz="1600" b="0" i="1" dirty="0">
                <a:solidFill>
                  <a:srgbClr val="000000"/>
                </a:solidFill>
                <a:effectLst/>
                <a:latin typeface="Arial" panose="020B0604020202020204" pitchFamily="34" charset="0"/>
                <a:cs typeface="Arial" panose="020B0604020202020204" pitchFamily="34" charset="0"/>
              </a:rPr>
              <a:t>H</a:t>
            </a:r>
            <a:r>
              <a:rPr lang="en-US" sz="1600" b="0" i="0" baseline="-25000" dirty="0">
                <a:solidFill>
                  <a:srgbClr val="000000"/>
                </a:solidFill>
                <a:effectLst/>
                <a:latin typeface="Arial" panose="020B0604020202020204" pitchFamily="34" charset="0"/>
                <a:cs typeface="Arial" panose="020B0604020202020204" pitchFamily="34" charset="0"/>
              </a:rPr>
              <a:t>7</a:t>
            </a:r>
            <a:r>
              <a:rPr lang="en-US" sz="1600" b="0" i="0" baseline="30000" dirty="0">
                <a:solidFill>
                  <a:srgbClr val="000000"/>
                </a:solidFill>
                <a:effectLst/>
                <a:latin typeface="Arial" panose="020B0604020202020204" pitchFamily="34" charset="0"/>
                <a:cs typeface="Arial" panose="020B0604020202020204" pitchFamily="34" charset="0"/>
              </a:rPr>
              <a:t>(0)</a:t>
            </a:r>
            <a:r>
              <a:rPr lang="en-US" sz="1600" baseline="30000" dirty="0">
                <a:latin typeface="Arial" panose="020B0604020202020204" pitchFamily="34" charset="0"/>
                <a:cs typeface="Arial" panose="020B0604020202020204" pitchFamily="34" charset="0"/>
              </a:rPr>
              <a:t> </a:t>
            </a:r>
            <a:endParaRPr lang="vi-VN" sz="1600" baseline="30000" dirty="0">
              <a:latin typeface="Arial" panose="020B0604020202020204" pitchFamily="34" charset="0"/>
              <a:cs typeface="Arial" panose="020B0604020202020204" pitchFamily="34" charset="0"/>
            </a:endParaRPr>
          </a:p>
          <a:p>
            <a:endParaRPr lang="vi-VN" sz="1600" baseline="30000" dirty="0">
              <a:latin typeface="Arial" panose="020B0604020202020204" pitchFamily="34" charset="0"/>
              <a:cs typeface="Arial" panose="020B0604020202020204" pitchFamily="34" charset="0"/>
            </a:endParaRPr>
          </a:p>
          <a:p>
            <a:endParaRPr lang="vi-VN" sz="1600" dirty="0">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B5BBA3CF-DF5A-FFFC-5245-1B29211D9C49}"/>
              </a:ext>
            </a:extLst>
          </p:cNvPr>
          <p:cNvPicPr>
            <a:picLocks noChangeAspect="1"/>
          </p:cNvPicPr>
          <p:nvPr/>
        </p:nvPicPr>
        <p:blipFill>
          <a:blip r:embed="rId2"/>
          <a:stretch>
            <a:fillRect/>
          </a:stretch>
        </p:blipFill>
        <p:spPr>
          <a:xfrm>
            <a:off x="4552819" y="3048000"/>
            <a:ext cx="1867161" cy="3029373"/>
          </a:xfrm>
          <a:prstGeom prst="rect">
            <a:avLst/>
          </a:prstGeom>
        </p:spPr>
      </p:pic>
      <p:sp>
        <p:nvSpPr>
          <p:cNvPr id="12" name="object 2">
            <a:extLst>
              <a:ext uri="{FF2B5EF4-FFF2-40B4-BE49-F238E27FC236}">
                <a16:creationId xmlns:a16="http://schemas.microsoft.com/office/drawing/2014/main" id="{86E1DD74-DBC3-9869-66B4-62A9510648FA}"/>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615764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B53A15C-0194-8216-CB7A-30A9DA9064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76B17C-9BC1-683A-E3D2-5154721C52D7}"/>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86A0476F-7107-B771-B971-23F1538B9496}"/>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11</a:t>
            </a:fld>
            <a:endParaRPr spc="-25" dirty="0"/>
          </a:p>
        </p:txBody>
      </p:sp>
      <p:sp>
        <p:nvSpPr>
          <p:cNvPr id="6" name="object 6">
            <a:extLst>
              <a:ext uri="{FF2B5EF4-FFF2-40B4-BE49-F238E27FC236}">
                <a16:creationId xmlns:a16="http://schemas.microsoft.com/office/drawing/2014/main" id="{1DADB3EF-0E66-2120-1A66-FCBFCCF6A92E}"/>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7333CA84-C8D1-6E4A-E47D-9C9CB066FF51}"/>
              </a:ext>
            </a:extLst>
          </p:cNvPr>
          <p:cNvSpPr txBox="1"/>
          <p:nvPr/>
        </p:nvSpPr>
        <p:spPr>
          <a:xfrm>
            <a:off x="457200" y="1072909"/>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7" name="object 3">
            <a:extLst>
              <a:ext uri="{FF2B5EF4-FFF2-40B4-BE49-F238E27FC236}">
                <a16:creationId xmlns:a16="http://schemas.microsoft.com/office/drawing/2014/main" id="{4020CB14-3B4D-DBE1-71FA-8F74BE9E6607}"/>
              </a:ext>
            </a:extLst>
          </p:cNvPr>
          <p:cNvSpPr txBox="1"/>
          <p:nvPr/>
        </p:nvSpPr>
        <p:spPr>
          <a:xfrm>
            <a:off x="457200" y="1596285"/>
            <a:ext cx="10896600" cy="382797"/>
          </a:xfrm>
          <a:prstGeom prst="rect">
            <a:avLst/>
          </a:prstGeom>
        </p:spPr>
        <p:txBody>
          <a:bodyPr vert="horz" wrap="square" lIns="0" tIns="13335" rIns="0" bIns="0" rtlCol="0">
            <a:spAutoFit/>
          </a:bodyPr>
          <a:lstStyle/>
          <a:p>
            <a:pPr marL="12700">
              <a:lnSpc>
                <a:spcPct val="100000"/>
              </a:lnSpc>
              <a:spcBef>
                <a:spcPts val="105"/>
              </a:spcBef>
            </a:pPr>
            <a:r>
              <a:rPr lang="vi-VN" sz="2400" b="1" dirty="0" err="1">
                <a:solidFill>
                  <a:srgbClr val="7C45AD"/>
                </a:solidFill>
                <a:latin typeface="Arial"/>
                <a:cs typeface="Arial"/>
              </a:rPr>
              <a:t>Hash</a:t>
            </a:r>
            <a:r>
              <a:rPr lang="vi-VN" sz="2400" b="1" dirty="0">
                <a:solidFill>
                  <a:srgbClr val="7C45AD"/>
                </a:solidFill>
                <a:latin typeface="Arial"/>
                <a:cs typeface="Arial"/>
              </a:rPr>
              <a:t> </a:t>
            </a:r>
            <a:r>
              <a:rPr lang="vi-VN" sz="2400" b="1" dirty="0" err="1">
                <a:solidFill>
                  <a:srgbClr val="7C45AD"/>
                </a:solidFill>
                <a:latin typeface="Arial"/>
                <a:cs typeface="Arial"/>
              </a:rPr>
              <a:t>Computing</a:t>
            </a:r>
            <a:r>
              <a:rPr lang="vi-VN" sz="2400" b="1" dirty="0">
                <a:solidFill>
                  <a:srgbClr val="7C45AD"/>
                </a:solidFill>
                <a:latin typeface="Arial"/>
                <a:cs typeface="Arial"/>
              </a:rPr>
              <a:t> </a:t>
            </a:r>
            <a:r>
              <a:rPr lang="vi-VN" sz="2400" b="1" dirty="0" err="1">
                <a:solidFill>
                  <a:srgbClr val="7C45AD"/>
                </a:solidFill>
                <a:latin typeface="Arial"/>
                <a:cs typeface="Arial"/>
              </a:rPr>
              <a:t>Stage</a:t>
            </a:r>
            <a:r>
              <a:rPr lang="vi-VN" sz="2400" b="1" dirty="0">
                <a:solidFill>
                  <a:srgbClr val="7C45AD"/>
                </a:solidFill>
                <a:latin typeface="Arial"/>
                <a:cs typeface="Arial"/>
              </a:rPr>
              <a:t>:</a:t>
            </a:r>
            <a:endParaRPr lang="en-US" sz="2400" b="1" dirty="0">
              <a:solidFill>
                <a:srgbClr val="7C45AD"/>
              </a:solidFill>
              <a:latin typeface="Arial"/>
              <a:cs typeface="Arial"/>
            </a:endParaRPr>
          </a:p>
        </p:txBody>
      </p:sp>
      <p:pic>
        <p:nvPicPr>
          <p:cNvPr id="10" name="Picture 9">
            <a:extLst>
              <a:ext uri="{FF2B5EF4-FFF2-40B4-BE49-F238E27FC236}">
                <a16:creationId xmlns:a16="http://schemas.microsoft.com/office/drawing/2014/main" id="{C8B9DB02-6097-E98E-9724-6670BFA27F12}"/>
              </a:ext>
            </a:extLst>
          </p:cNvPr>
          <p:cNvPicPr>
            <a:picLocks noChangeAspect="1"/>
          </p:cNvPicPr>
          <p:nvPr/>
        </p:nvPicPr>
        <p:blipFill>
          <a:blip r:embed="rId2"/>
          <a:stretch>
            <a:fillRect/>
          </a:stretch>
        </p:blipFill>
        <p:spPr>
          <a:xfrm>
            <a:off x="1394783" y="2290603"/>
            <a:ext cx="9021434" cy="2276793"/>
          </a:xfrm>
          <a:prstGeom prst="rect">
            <a:avLst/>
          </a:prstGeom>
        </p:spPr>
      </p:pic>
      <p:sp>
        <p:nvSpPr>
          <p:cNvPr id="11" name="object 2">
            <a:extLst>
              <a:ext uri="{FF2B5EF4-FFF2-40B4-BE49-F238E27FC236}">
                <a16:creationId xmlns:a16="http://schemas.microsoft.com/office/drawing/2014/main" id="{BA534B9E-C479-0AE9-4962-75B8870D22B5}"/>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3218646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CD9C7D-FFC3-1745-BB0E-6B631A9B15B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C032531-F588-BE51-BB68-D50994EC237E}"/>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5EF5F0A0-A64D-46FD-BEBC-AC185BDC0759}"/>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12</a:t>
            </a:fld>
            <a:endParaRPr spc="-25" dirty="0"/>
          </a:p>
        </p:txBody>
      </p:sp>
      <p:sp>
        <p:nvSpPr>
          <p:cNvPr id="6" name="object 6">
            <a:extLst>
              <a:ext uri="{FF2B5EF4-FFF2-40B4-BE49-F238E27FC236}">
                <a16:creationId xmlns:a16="http://schemas.microsoft.com/office/drawing/2014/main" id="{FD135593-ACC8-D3FD-3BFA-FD5F47A4A79C}"/>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50BA4AB4-F24B-AC06-D492-2AEC5948F80E}"/>
              </a:ext>
            </a:extLst>
          </p:cNvPr>
          <p:cNvSpPr txBox="1"/>
          <p:nvPr/>
        </p:nvSpPr>
        <p:spPr>
          <a:xfrm>
            <a:off x="457200" y="1072909"/>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7" name="object 3">
            <a:extLst>
              <a:ext uri="{FF2B5EF4-FFF2-40B4-BE49-F238E27FC236}">
                <a16:creationId xmlns:a16="http://schemas.microsoft.com/office/drawing/2014/main" id="{31EFB16E-7645-8246-DF2E-ADBEF151D731}"/>
              </a:ext>
            </a:extLst>
          </p:cNvPr>
          <p:cNvSpPr txBox="1"/>
          <p:nvPr/>
        </p:nvSpPr>
        <p:spPr>
          <a:xfrm>
            <a:off x="457200" y="1596285"/>
            <a:ext cx="10896600" cy="764953"/>
          </a:xfrm>
          <a:prstGeom prst="rect">
            <a:avLst/>
          </a:prstGeom>
        </p:spPr>
        <p:txBody>
          <a:bodyPr vert="horz" wrap="square" lIns="0" tIns="13335" rIns="0" bIns="0" rtlCol="0">
            <a:spAutoFit/>
          </a:bodyPr>
          <a:lstStyle/>
          <a:p>
            <a:pPr marL="12700">
              <a:lnSpc>
                <a:spcPct val="100000"/>
              </a:lnSpc>
              <a:spcBef>
                <a:spcPts val="105"/>
              </a:spcBef>
            </a:pPr>
            <a:r>
              <a:rPr lang="vi-VN" sz="2400" b="1" dirty="0" err="1">
                <a:solidFill>
                  <a:srgbClr val="7C45AD"/>
                </a:solidFill>
                <a:latin typeface="Arial"/>
                <a:cs typeface="Arial"/>
              </a:rPr>
              <a:t>Hash</a:t>
            </a:r>
            <a:r>
              <a:rPr lang="vi-VN" sz="2400" b="1" dirty="0">
                <a:solidFill>
                  <a:srgbClr val="7C45AD"/>
                </a:solidFill>
                <a:latin typeface="Arial"/>
                <a:cs typeface="Arial"/>
              </a:rPr>
              <a:t> </a:t>
            </a:r>
            <a:r>
              <a:rPr lang="vi-VN" sz="2400" b="1" dirty="0" err="1">
                <a:solidFill>
                  <a:srgbClr val="7C45AD"/>
                </a:solidFill>
                <a:latin typeface="Arial"/>
                <a:cs typeface="Arial"/>
              </a:rPr>
              <a:t>Computing</a:t>
            </a:r>
            <a:r>
              <a:rPr lang="vi-VN" sz="2400" b="1" dirty="0">
                <a:solidFill>
                  <a:srgbClr val="7C45AD"/>
                </a:solidFill>
                <a:latin typeface="Arial"/>
                <a:cs typeface="Arial"/>
              </a:rPr>
              <a:t> </a:t>
            </a:r>
            <a:r>
              <a:rPr lang="vi-VN" sz="2400" b="1" dirty="0" err="1">
                <a:solidFill>
                  <a:srgbClr val="7C45AD"/>
                </a:solidFill>
                <a:latin typeface="Arial"/>
                <a:cs typeface="Arial"/>
              </a:rPr>
              <a:t>Stage</a:t>
            </a:r>
            <a:r>
              <a:rPr lang="vi-VN" sz="2400" b="1" dirty="0">
                <a:solidFill>
                  <a:srgbClr val="7C45AD"/>
                </a:solidFill>
                <a:latin typeface="Arial"/>
                <a:cs typeface="Arial"/>
              </a:rPr>
              <a:t>:</a:t>
            </a:r>
          </a:p>
          <a:p>
            <a:pPr marL="12700">
              <a:lnSpc>
                <a:spcPct val="100000"/>
              </a:lnSpc>
              <a:spcBef>
                <a:spcPts val="105"/>
              </a:spcBef>
            </a:pPr>
            <a:r>
              <a:rPr lang="vi-VN" sz="2400" b="1" dirty="0">
                <a:solidFill>
                  <a:srgbClr val="7C45AD"/>
                </a:solidFill>
                <a:latin typeface="Arial"/>
                <a:cs typeface="Arial"/>
              </a:rPr>
              <a:t>1. </a:t>
            </a:r>
            <a:r>
              <a:rPr lang="vi-VN" sz="2400" b="1" dirty="0" err="1">
                <a:solidFill>
                  <a:srgbClr val="7C45AD"/>
                </a:solidFill>
                <a:latin typeface="Arial"/>
                <a:cs typeface="Arial"/>
              </a:rPr>
              <a:t>Expansion</a:t>
            </a:r>
            <a:endParaRPr lang="en-US" sz="2400" b="1" dirty="0">
              <a:solidFill>
                <a:srgbClr val="7C45AD"/>
              </a:solidFill>
              <a:latin typeface="Arial"/>
              <a:cs typeface="Arial"/>
            </a:endParaRPr>
          </a:p>
        </p:txBody>
      </p:sp>
      <p:sp>
        <p:nvSpPr>
          <p:cNvPr id="9" name="TextBox 8">
            <a:extLst>
              <a:ext uri="{FF2B5EF4-FFF2-40B4-BE49-F238E27FC236}">
                <a16:creationId xmlns:a16="http://schemas.microsoft.com/office/drawing/2014/main" id="{967BF373-36CD-C241-15AE-A421EF181683}"/>
              </a:ext>
            </a:extLst>
          </p:cNvPr>
          <p:cNvSpPr txBox="1"/>
          <p:nvPr/>
        </p:nvSpPr>
        <p:spPr>
          <a:xfrm>
            <a:off x="508317" y="2415796"/>
            <a:ext cx="5740083" cy="1323439"/>
          </a:xfrm>
          <a:prstGeom prst="rect">
            <a:avLst/>
          </a:prstGeom>
          <a:noFill/>
        </p:spPr>
        <p:txBody>
          <a:bodyPr wrap="square">
            <a:spAutoFit/>
          </a:bodyPr>
          <a:lstStyle/>
          <a:p>
            <a:r>
              <a:rPr lang="en-US" sz="1600" b="0" i="0" dirty="0">
                <a:solidFill>
                  <a:srgbClr val="000000"/>
                </a:solidFill>
                <a:effectLst/>
                <a:latin typeface="Arial" panose="020B0604020202020204" pitchFamily="34" charset="0"/>
                <a:cs typeface="Arial" panose="020B0604020202020204" pitchFamily="34" charset="0"/>
              </a:rPr>
              <a:t>The hash computation stage starts by taking the 512-bit blocks generated in the</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preprocessing phase and feeding them into the expander module. This process expands</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the original sixteen 32-bit words </a:t>
            </a:r>
            <a:r>
              <a:rPr lang="en-US" sz="1600" b="0" i="1" dirty="0">
                <a:solidFill>
                  <a:srgbClr val="000000"/>
                </a:solidFill>
                <a:effectLst/>
                <a:latin typeface="Arial" panose="020B0604020202020204" pitchFamily="34" charset="0"/>
                <a:cs typeface="Arial" panose="020B0604020202020204" pitchFamily="34" charset="0"/>
              </a:rPr>
              <a:t>M</a:t>
            </a:r>
            <a:r>
              <a:rPr lang="en-US" sz="1600" b="0" i="1" baseline="-25000" dirty="0">
                <a:solidFill>
                  <a:srgbClr val="000000"/>
                </a:solidFill>
                <a:effectLst/>
                <a:latin typeface="Arial" panose="020B0604020202020204" pitchFamily="34" charset="0"/>
                <a:cs typeface="Arial" panose="020B0604020202020204" pitchFamily="34" charset="0"/>
              </a:rPr>
              <a:t>t</a:t>
            </a:r>
            <a:r>
              <a:rPr lang="en-US" sz="1600" b="0" i="0" baseline="30000" dirty="0">
                <a:solidFill>
                  <a:srgbClr val="000000"/>
                </a:solidFill>
                <a:effectLst/>
                <a:latin typeface="Arial" panose="020B0604020202020204" pitchFamily="34" charset="0"/>
                <a:cs typeface="Arial" panose="020B0604020202020204" pitchFamily="34" charset="0"/>
              </a:rPr>
              <a:t>(</a:t>
            </a:r>
            <a:r>
              <a:rPr lang="en-US" sz="1600" b="0" i="1" baseline="30000" dirty="0" err="1">
                <a:solidFill>
                  <a:srgbClr val="000000"/>
                </a:solidFill>
                <a:effectLst/>
                <a:latin typeface="Arial" panose="020B0604020202020204" pitchFamily="34" charset="0"/>
                <a:cs typeface="Arial" panose="020B0604020202020204" pitchFamily="34" charset="0"/>
              </a:rPr>
              <a:t>i</a:t>
            </a:r>
            <a:r>
              <a:rPr lang="en-US" sz="1600" b="0" i="0" baseline="3000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into sixty-four 32-bit words denoted by </a:t>
            </a:r>
            <a:r>
              <a:rPr lang="en-US" sz="1600" b="0" i="1" dirty="0">
                <a:solidFill>
                  <a:srgbClr val="000000"/>
                </a:solidFill>
                <a:effectLst/>
                <a:latin typeface="Arial" panose="020B0604020202020204" pitchFamily="34" charset="0"/>
                <a:cs typeface="Arial" panose="020B0604020202020204" pitchFamily="34" charset="0"/>
              </a:rPr>
              <a:t>W</a:t>
            </a:r>
            <a:r>
              <a:rPr lang="en-US" sz="1600" b="0" i="1" baseline="-25000" dirty="0">
                <a:solidFill>
                  <a:srgbClr val="000000"/>
                </a:solidFill>
                <a:effectLst/>
                <a:latin typeface="Arial" panose="020B0604020202020204" pitchFamily="34" charset="0"/>
                <a:cs typeface="Arial" panose="020B0604020202020204" pitchFamily="34" charset="0"/>
              </a:rPr>
              <a:t>t</a:t>
            </a:r>
            <a:r>
              <a:rPr lang="en-US" sz="1600" b="0" i="0" dirty="0">
                <a:solidFill>
                  <a:srgbClr val="000000"/>
                </a:solidFill>
                <a:effectLst/>
                <a:latin typeface="Arial" panose="020B0604020202020204" pitchFamily="34" charset="0"/>
                <a:cs typeface="Arial" panose="020B0604020202020204" pitchFamily="34" charset="0"/>
              </a:rPr>
              <a:t>. </a:t>
            </a:r>
            <a:endParaRPr lang="en-ID" sz="16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DDCC92BC-12B7-32CC-6DE4-88419B0817A2}"/>
              </a:ext>
            </a:extLst>
          </p:cNvPr>
          <p:cNvSpPr txBox="1"/>
          <p:nvPr/>
        </p:nvSpPr>
        <p:spPr>
          <a:xfrm>
            <a:off x="525523" y="3737924"/>
            <a:ext cx="6096000" cy="1384995"/>
          </a:xfrm>
          <a:prstGeom prst="rect">
            <a:avLst/>
          </a:prstGeom>
          <a:noFill/>
        </p:spPr>
        <p:txBody>
          <a:bodyPr wrap="square">
            <a:spAutoFit/>
          </a:bodyPr>
          <a:lstStyle/>
          <a:p>
            <a:r>
              <a:rPr lang="en-US" sz="1400" b="1" i="0" dirty="0">
                <a:solidFill>
                  <a:srgbClr val="000000"/>
                </a:solidFill>
                <a:effectLst/>
                <a:latin typeface="Courier New" panose="02070309020205020404" pitchFamily="49" charset="0"/>
                <a:cs typeface="Courier New" panose="02070309020205020404" pitchFamily="49" charset="0"/>
              </a:rPr>
              <a:t>for </a:t>
            </a:r>
            <a:r>
              <a:rPr lang="en-US" sz="1400" b="0" i="1" dirty="0">
                <a:solidFill>
                  <a:srgbClr val="000000"/>
                </a:solidFill>
                <a:effectLst/>
                <a:latin typeface="Courier New" panose="02070309020205020404" pitchFamily="49" charset="0"/>
                <a:cs typeface="Courier New" panose="02070309020205020404" pitchFamily="49" charset="0"/>
              </a:rPr>
              <a:t>t from 0 to 63 </a:t>
            </a:r>
            <a:r>
              <a:rPr lang="en-US" sz="1400" b="1" i="0" dirty="0">
                <a:solidFill>
                  <a:srgbClr val="000000"/>
                </a:solidFill>
                <a:effectLst/>
                <a:latin typeface="Courier New" panose="02070309020205020404" pitchFamily="49" charset="0"/>
                <a:cs typeface="Courier New" panose="02070309020205020404" pitchFamily="49" charset="0"/>
              </a:rPr>
              <a:t>do</a:t>
            </a:r>
            <a:br>
              <a:rPr lang="en-US" sz="1400" b="1" i="0" dirty="0">
                <a:solidFill>
                  <a:srgbClr val="000000"/>
                </a:solidFill>
                <a:effectLst/>
                <a:latin typeface="Courier New" panose="02070309020205020404" pitchFamily="49" charset="0"/>
                <a:cs typeface="Courier New" panose="02070309020205020404" pitchFamily="49" charset="0"/>
              </a:rPr>
            </a:br>
            <a:r>
              <a:rPr lang="vi-VN" sz="1400" b="1" dirty="0">
                <a:solidFill>
                  <a:srgbClr val="000000"/>
                </a:solidFill>
                <a:latin typeface="Courier New" panose="02070309020205020404" pitchFamily="49" charset="0"/>
                <a:cs typeface="Courier New" panose="02070309020205020404" pitchFamily="49" charset="0"/>
              </a:rPr>
              <a:t>  </a:t>
            </a:r>
            <a:r>
              <a:rPr lang="en-US" sz="1400" b="1" i="0" dirty="0">
                <a:solidFill>
                  <a:srgbClr val="000000"/>
                </a:solidFill>
                <a:effectLst/>
                <a:latin typeface="Courier New" panose="02070309020205020404" pitchFamily="49" charset="0"/>
                <a:cs typeface="Courier New" panose="02070309020205020404" pitchFamily="49" charset="0"/>
              </a:rPr>
              <a:t>if </a:t>
            </a:r>
            <a:r>
              <a:rPr lang="en-US" sz="1400" b="0" i="0" dirty="0">
                <a:solidFill>
                  <a:srgbClr val="000000"/>
                </a:solidFill>
                <a:effectLst/>
                <a:latin typeface="Courier New" panose="02070309020205020404" pitchFamily="49" charset="0"/>
                <a:cs typeface="Courier New" panose="02070309020205020404" pitchFamily="49" charset="0"/>
              </a:rPr>
              <a:t>0 </a:t>
            </a:r>
            <a:r>
              <a:rPr lang="en-US" sz="1400" b="0" i="1" dirty="0">
                <a:solidFill>
                  <a:srgbClr val="000000"/>
                </a:solidFill>
                <a:effectLst/>
                <a:latin typeface="Courier New" panose="02070309020205020404" pitchFamily="49" charset="0"/>
                <a:cs typeface="Courier New" panose="02070309020205020404" pitchFamily="49" charset="0"/>
              </a:rPr>
              <a:t>≤ t ≤ </a:t>
            </a:r>
            <a:r>
              <a:rPr lang="en-US" sz="1400" b="0" i="0" dirty="0">
                <a:solidFill>
                  <a:srgbClr val="000000"/>
                </a:solidFill>
                <a:effectLst/>
                <a:latin typeface="Courier New" panose="02070309020205020404" pitchFamily="49" charset="0"/>
                <a:cs typeface="Courier New" panose="02070309020205020404" pitchFamily="49" charset="0"/>
              </a:rPr>
              <a:t>15 </a:t>
            </a:r>
            <a:r>
              <a:rPr lang="en-US" sz="1400" b="1" i="0" dirty="0">
                <a:solidFill>
                  <a:srgbClr val="000000"/>
                </a:solidFill>
                <a:effectLst/>
                <a:latin typeface="Courier New" panose="02070309020205020404" pitchFamily="49" charset="0"/>
                <a:cs typeface="Courier New" panose="02070309020205020404" pitchFamily="49" charset="0"/>
              </a:rPr>
              <a:t>then</a:t>
            </a:r>
            <a:br>
              <a:rPr lang="en-US" sz="1400" b="1" i="0" dirty="0">
                <a:solidFill>
                  <a:srgbClr val="000000"/>
                </a:solidFill>
                <a:effectLst/>
                <a:latin typeface="Courier New" panose="02070309020205020404" pitchFamily="49" charset="0"/>
                <a:cs typeface="Courier New" panose="02070309020205020404" pitchFamily="49" charset="0"/>
              </a:rPr>
            </a:br>
            <a:r>
              <a:rPr lang="vi-VN" sz="1400" b="1" i="0" dirty="0">
                <a:solidFill>
                  <a:srgbClr val="000000"/>
                </a:solidFill>
                <a:effectLst/>
                <a:latin typeface="Courier New" panose="02070309020205020404" pitchFamily="49" charset="0"/>
                <a:cs typeface="Courier New" panose="02070309020205020404" pitchFamily="49" charset="0"/>
              </a:rPr>
              <a:t>    </a:t>
            </a:r>
            <a:r>
              <a:rPr lang="en-US" sz="1400" b="0" i="1" dirty="0" err="1">
                <a:solidFill>
                  <a:srgbClr val="000000"/>
                </a:solidFill>
                <a:effectLst/>
                <a:latin typeface="Courier New" panose="02070309020205020404" pitchFamily="49" charset="0"/>
                <a:cs typeface="Courier New" panose="02070309020205020404" pitchFamily="49" charset="0"/>
              </a:rPr>
              <a:t>W</a:t>
            </a:r>
            <a:r>
              <a:rPr lang="en-US" sz="1400" b="0" i="1" baseline="-25000" dirty="0" err="1">
                <a:solidFill>
                  <a:srgbClr val="000000"/>
                </a:solidFill>
                <a:effectLst/>
                <a:latin typeface="Courier New" panose="02070309020205020404" pitchFamily="49" charset="0"/>
                <a:cs typeface="Courier New" panose="02070309020205020404" pitchFamily="49" charset="0"/>
              </a:rPr>
              <a:t>t</a:t>
            </a:r>
            <a:r>
              <a:rPr lang="en-US" sz="1400" b="0" i="1" dirty="0">
                <a:solidFill>
                  <a:srgbClr val="000000"/>
                </a:solidFill>
                <a:effectLst/>
                <a:latin typeface="Courier New" panose="02070309020205020404" pitchFamily="49" charset="0"/>
                <a:cs typeface="Courier New" panose="02070309020205020404" pitchFamily="49" charset="0"/>
              </a:rPr>
              <a:t> </a:t>
            </a:r>
            <a:r>
              <a:rPr lang="en-US" sz="1400" b="0" i="0" dirty="0">
                <a:solidFill>
                  <a:srgbClr val="000000"/>
                </a:solidFill>
                <a:effectLst/>
                <a:latin typeface="Courier New" panose="02070309020205020404" pitchFamily="49" charset="0"/>
                <a:cs typeface="Courier New" panose="02070309020205020404" pitchFamily="49" charset="0"/>
              </a:rPr>
              <a:t>= </a:t>
            </a:r>
            <a:r>
              <a:rPr lang="en-US" sz="1400" b="0" i="1" dirty="0">
                <a:solidFill>
                  <a:srgbClr val="000000"/>
                </a:solidFill>
                <a:effectLst/>
                <a:latin typeface="Courier New" panose="02070309020205020404" pitchFamily="49" charset="0"/>
                <a:cs typeface="Courier New" panose="02070309020205020404" pitchFamily="49" charset="0"/>
              </a:rPr>
              <a:t>M</a:t>
            </a:r>
            <a:r>
              <a:rPr lang="en-US" sz="1400" b="0" i="1" baseline="-25000" dirty="0">
                <a:solidFill>
                  <a:srgbClr val="000000"/>
                </a:solidFill>
                <a:effectLst/>
                <a:latin typeface="Courier New" panose="02070309020205020404" pitchFamily="49" charset="0"/>
                <a:cs typeface="Courier New" panose="02070309020205020404" pitchFamily="49" charset="0"/>
              </a:rPr>
              <a:t>t</a:t>
            </a:r>
            <a:r>
              <a:rPr lang="en-US" sz="1400" b="0" i="0" baseline="30000" dirty="0">
                <a:solidFill>
                  <a:srgbClr val="000000"/>
                </a:solidFill>
                <a:effectLst/>
                <a:latin typeface="Courier New" panose="02070309020205020404" pitchFamily="49" charset="0"/>
                <a:cs typeface="Courier New" panose="02070309020205020404" pitchFamily="49" charset="0"/>
              </a:rPr>
              <a:t>(</a:t>
            </a:r>
            <a:r>
              <a:rPr lang="en-US" sz="1400" b="0" i="1" baseline="30000" dirty="0" err="1">
                <a:solidFill>
                  <a:srgbClr val="000000"/>
                </a:solidFill>
                <a:effectLst/>
                <a:latin typeface="Courier New" panose="02070309020205020404" pitchFamily="49" charset="0"/>
                <a:cs typeface="Courier New" panose="02070309020205020404" pitchFamily="49" charset="0"/>
              </a:rPr>
              <a:t>i</a:t>
            </a:r>
            <a:r>
              <a:rPr lang="en-US" sz="1400" b="0" i="0" baseline="30000" dirty="0">
                <a:solidFill>
                  <a:srgbClr val="000000"/>
                </a:solidFill>
                <a:effectLst/>
                <a:latin typeface="Courier New" panose="02070309020205020404" pitchFamily="49" charset="0"/>
                <a:cs typeface="Courier New" panose="02070309020205020404" pitchFamily="49" charset="0"/>
              </a:rPr>
              <a:t>)</a:t>
            </a:r>
            <a:br>
              <a:rPr lang="en-US" sz="1400" b="0" i="0" dirty="0">
                <a:solidFill>
                  <a:srgbClr val="000000"/>
                </a:solidFill>
                <a:effectLst/>
                <a:latin typeface="Courier New" panose="02070309020205020404" pitchFamily="49" charset="0"/>
                <a:cs typeface="Courier New" panose="02070309020205020404" pitchFamily="49" charset="0"/>
              </a:rPr>
            </a:br>
            <a:r>
              <a:rPr lang="vi-VN" sz="1400" b="0" i="0" dirty="0">
                <a:solidFill>
                  <a:srgbClr val="000000"/>
                </a:solidFill>
                <a:effectLst/>
                <a:latin typeface="Courier New" panose="02070309020205020404" pitchFamily="49" charset="0"/>
                <a:cs typeface="Courier New" panose="02070309020205020404" pitchFamily="49" charset="0"/>
              </a:rPr>
              <a:t>  </a:t>
            </a:r>
            <a:r>
              <a:rPr lang="en-US" sz="1400" b="1" i="0" dirty="0">
                <a:solidFill>
                  <a:srgbClr val="000000"/>
                </a:solidFill>
                <a:effectLst/>
                <a:latin typeface="Courier New" panose="02070309020205020404" pitchFamily="49" charset="0"/>
                <a:cs typeface="Courier New" panose="02070309020205020404" pitchFamily="49" charset="0"/>
              </a:rPr>
              <a:t>else</a:t>
            </a:r>
            <a:br>
              <a:rPr lang="en-US" sz="1400" b="1" i="0" dirty="0">
                <a:solidFill>
                  <a:srgbClr val="000000"/>
                </a:solidFill>
                <a:effectLst/>
                <a:latin typeface="Courier New" panose="02070309020205020404" pitchFamily="49" charset="0"/>
                <a:cs typeface="Courier New" panose="02070309020205020404" pitchFamily="49" charset="0"/>
              </a:rPr>
            </a:br>
            <a:r>
              <a:rPr lang="vi-VN" sz="1400" b="1" i="0" dirty="0">
                <a:solidFill>
                  <a:srgbClr val="000000"/>
                </a:solidFill>
                <a:effectLst/>
                <a:latin typeface="Courier New" panose="02070309020205020404" pitchFamily="49" charset="0"/>
                <a:cs typeface="Courier New" panose="02070309020205020404" pitchFamily="49" charset="0"/>
              </a:rPr>
              <a:t>    </a:t>
            </a:r>
            <a:r>
              <a:rPr lang="en-US" sz="1400" b="0" i="1" dirty="0" err="1">
                <a:solidFill>
                  <a:srgbClr val="000000"/>
                </a:solidFill>
                <a:effectLst/>
                <a:latin typeface="Courier New" panose="02070309020205020404" pitchFamily="49" charset="0"/>
                <a:cs typeface="Courier New" panose="02070309020205020404" pitchFamily="49" charset="0"/>
              </a:rPr>
              <a:t>W</a:t>
            </a:r>
            <a:r>
              <a:rPr lang="en-US" sz="1400" b="0" i="1" baseline="-25000" dirty="0" err="1">
                <a:solidFill>
                  <a:srgbClr val="000000"/>
                </a:solidFill>
                <a:effectLst/>
                <a:latin typeface="Courier New" panose="02070309020205020404" pitchFamily="49" charset="0"/>
                <a:cs typeface="Courier New" panose="02070309020205020404" pitchFamily="49" charset="0"/>
              </a:rPr>
              <a:t>t</a:t>
            </a:r>
            <a:r>
              <a:rPr lang="en-US" sz="1400" b="0" i="1" dirty="0">
                <a:solidFill>
                  <a:srgbClr val="000000"/>
                </a:solidFill>
                <a:effectLst/>
                <a:latin typeface="Courier New" panose="02070309020205020404" pitchFamily="49" charset="0"/>
                <a:cs typeface="Courier New" panose="02070309020205020404" pitchFamily="49" charset="0"/>
              </a:rPr>
              <a:t> </a:t>
            </a:r>
            <a:r>
              <a:rPr lang="en-US" sz="1400" b="0" i="0" dirty="0">
                <a:solidFill>
                  <a:srgbClr val="000000"/>
                </a:solidFill>
                <a:effectLst/>
                <a:latin typeface="Courier New" panose="02070309020205020404" pitchFamily="49" charset="0"/>
                <a:cs typeface="Courier New" panose="02070309020205020404" pitchFamily="49" charset="0"/>
              </a:rPr>
              <a:t>= </a:t>
            </a:r>
            <a:r>
              <a:rPr lang="en-US" sz="1400" b="0" i="1" dirty="0">
                <a:solidFill>
                  <a:srgbClr val="000000"/>
                </a:solidFill>
                <a:effectLst/>
                <a:latin typeface="Courier New" panose="02070309020205020404" pitchFamily="49" charset="0"/>
                <a:cs typeface="Courier New" panose="02070309020205020404" pitchFamily="49" charset="0"/>
              </a:rPr>
              <a:t>s</a:t>
            </a:r>
            <a:r>
              <a:rPr lang="en-US" sz="1400" b="0" i="0" dirty="0">
                <a:solidFill>
                  <a:srgbClr val="000000"/>
                </a:solidFill>
                <a:effectLst/>
                <a:latin typeface="Courier New" panose="02070309020205020404" pitchFamily="49" charset="0"/>
                <a:cs typeface="Courier New" panose="02070309020205020404" pitchFamily="49" charset="0"/>
              </a:rPr>
              <a:t>1(</a:t>
            </a:r>
            <a:r>
              <a:rPr lang="en-US" sz="1400" b="0" i="1" dirty="0">
                <a:solidFill>
                  <a:srgbClr val="000000"/>
                </a:solidFill>
                <a:effectLst/>
                <a:latin typeface="Courier New" panose="02070309020205020404" pitchFamily="49" charset="0"/>
                <a:cs typeface="Courier New" panose="02070309020205020404" pitchFamily="49" charset="0"/>
              </a:rPr>
              <a:t>W</a:t>
            </a:r>
            <a:r>
              <a:rPr lang="en-US" sz="1400" b="0" i="1" baseline="-25000" dirty="0">
                <a:solidFill>
                  <a:srgbClr val="000000"/>
                </a:solidFill>
                <a:effectLst/>
                <a:latin typeface="Courier New" panose="02070309020205020404" pitchFamily="49" charset="0"/>
                <a:cs typeface="Courier New" panose="02070309020205020404" pitchFamily="49" charset="0"/>
              </a:rPr>
              <a:t>t-</a:t>
            </a:r>
            <a:r>
              <a:rPr lang="en-US" sz="1400" b="0" i="0" baseline="-25000" dirty="0">
                <a:solidFill>
                  <a:srgbClr val="000000"/>
                </a:solidFill>
                <a:effectLst/>
                <a:latin typeface="Courier New" panose="02070309020205020404" pitchFamily="49" charset="0"/>
                <a:cs typeface="Courier New" panose="02070309020205020404" pitchFamily="49" charset="0"/>
              </a:rPr>
              <a:t>2</a:t>
            </a:r>
            <a:r>
              <a:rPr lang="en-US" sz="1400" b="0" i="0" dirty="0">
                <a:solidFill>
                  <a:srgbClr val="000000"/>
                </a:solidFill>
                <a:effectLst/>
                <a:latin typeface="Courier New" panose="02070309020205020404" pitchFamily="49" charset="0"/>
                <a:cs typeface="Courier New" panose="02070309020205020404" pitchFamily="49" charset="0"/>
              </a:rPr>
              <a:t>) + </a:t>
            </a:r>
            <a:r>
              <a:rPr lang="en-US" sz="1400" b="0" i="1" dirty="0">
                <a:solidFill>
                  <a:srgbClr val="000000"/>
                </a:solidFill>
                <a:effectLst/>
                <a:latin typeface="Courier New" panose="02070309020205020404" pitchFamily="49" charset="0"/>
                <a:cs typeface="Courier New" panose="02070309020205020404" pitchFamily="49" charset="0"/>
              </a:rPr>
              <a:t>W</a:t>
            </a:r>
            <a:r>
              <a:rPr lang="en-US" sz="1400" b="0" i="1" baseline="-25000" dirty="0">
                <a:solidFill>
                  <a:srgbClr val="000000"/>
                </a:solidFill>
                <a:effectLst/>
                <a:latin typeface="Courier New" panose="02070309020205020404" pitchFamily="49" charset="0"/>
                <a:cs typeface="Courier New" panose="02070309020205020404" pitchFamily="49" charset="0"/>
              </a:rPr>
              <a:t>t-</a:t>
            </a:r>
            <a:r>
              <a:rPr lang="en-US" sz="1400" b="0" i="0" baseline="-25000" dirty="0">
                <a:solidFill>
                  <a:srgbClr val="000000"/>
                </a:solidFill>
                <a:effectLst/>
                <a:latin typeface="Courier New" panose="02070309020205020404" pitchFamily="49" charset="0"/>
                <a:cs typeface="Courier New" panose="02070309020205020404" pitchFamily="49" charset="0"/>
              </a:rPr>
              <a:t>7</a:t>
            </a:r>
            <a:r>
              <a:rPr lang="en-US" sz="1400" b="0" i="0" dirty="0">
                <a:solidFill>
                  <a:srgbClr val="000000"/>
                </a:solidFill>
                <a:effectLst/>
                <a:latin typeface="Courier New" panose="02070309020205020404" pitchFamily="49" charset="0"/>
                <a:cs typeface="Courier New" panose="02070309020205020404" pitchFamily="49" charset="0"/>
              </a:rPr>
              <a:t> + </a:t>
            </a:r>
            <a:r>
              <a:rPr lang="en-US" sz="1400" b="0" i="1" dirty="0">
                <a:solidFill>
                  <a:srgbClr val="000000"/>
                </a:solidFill>
                <a:effectLst/>
                <a:latin typeface="Courier New" panose="02070309020205020404" pitchFamily="49" charset="0"/>
                <a:cs typeface="Courier New" panose="02070309020205020404" pitchFamily="49" charset="0"/>
              </a:rPr>
              <a:t>s</a:t>
            </a:r>
            <a:r>
              <a:rPr lang="en-US" sz="1400" b="0" i="0" dirty="0">
                <a:solidFill>
                  <a:srgbClr val="000000"/>
                </a:solidFill>
                <a:effectLst/>
                <a:latin typeface="Courier New" panose="02070309020205020404" pitchFamily="49" charset="0"/>
                <a:cs typeface="Courier New" panose="02070309020205020404" pitchFamily="49" charset="0"/>
              </a:rPr>
              <a:t>0(</a:t>
            </a:r>
            <a:r>
              <a:rPr lang="en-US" sz="1400" b="0" i="1" dirty="0">
                <a:solidFill>
                  <a:srgbClr val="000000"/>
                </a:solidFill>
                <a:effectLst/>
                <a:latin typeface="Courier New" panose="02070309020205020404" pitchFamily="49" charset="0"/>
                <a:cs typeface="Courier New" panose="02070309020205020404" pitchFamily="49" charset="0"/>
              </a:rPr>
              <a:t>W</a:t>
            </a:r>
            <a:r>
              <a:rPr lang="en-US" sz="1400" b="0" i="1" baseline="-25000" dirty="0">
                <a:solidFill>
                  <a:srgbClr val="000000"/>
                </a:solidFill>
                <a:effectLst/>
                <a:latin typeface="Courier New" panose="02070309020205020404" pitchFamily="49" charset="0"/>
                <a:cs typeface="Courier New" panose="02070309020205020404" pitchFamily="49" charset="0"/>
              </a:rPr>
              <a:t>t-</a:t>
            </a:r>
            <a:r>
              <a:rPr lang="en-US" sz="1400" b="0" i="0" baseline="-25000" dirty="0">
                <a:solidFill>
                  <a:srgbClr val="000000"/>
                </a:solidFill>
                <a:effectLst/>
                <a:latin typeface="Courier New" panose="02070309020205020404" pitchFamily="49" charset="0"/>
                <a:cs typeface="Courier New" panose="02070309020205020404" pitchFamily="49" charset="0"/>
              </a:rPr>
              <a:t>15</a:t>
            </a:r>
            <a:r>
              <a:rPr lang="en-US" sz="1400" b="0" i="0" dirty="0">
                <a:solidFill>
                  <a:srgbClr val="000000"/>
                </a:solidFill>
                <a:effectLst/>
                <a:latin typeface="Courier New" panose="02070309020205020404" pitchFamily="49" charset="0"/>
                <a:cs typeface="Courier New" panose="02070309020205020404" pitchFamily="49" charset="0"/>
              </a:rPr>
              <a:t>) + </a:t>
            </a:r>
            <a:r>
              <a:rPr lang="en-US" sz="1400" b="0" i="1" dirty="0">
                <a:solidFill>
                  <a:srgbClr val="000000"/>
                </a:solidFill>
                <a:effectLst/>
                <a:latin typeface="Courier New" panose="02070309020205020404" pitchFamily="49" charset="0"/>
                <a:cs typeface="Courier New" panose="02070309020205020404" pitchFamily="49" charset="0"/>
              </a:rPr>
              <a:t>W</a:t>
            </a:r>
            <a:r>
              <a:rPr lang="en-US" sz="1400" b="0" i="1" baseline="-25000" dirty="0">
                <a:solidFill>
                  <a:srgbClr val="000000"/>
                </a:solidFill>
                <a:effectLst/>
                <a:latin typeface="Courier New" panose="02070309020205020404" pitchFamily="49" charset="0"/>
                <a:cs typeface="Courier New" panose="02070309020205020404" pitchFamily="49" charset="0"/>
              </a:rPr>
              <a:t>t-</a:t>
            </a:r>
            <a:r>
              <a:rPr lang="en-US" sz="1400" b="0" i="0" baseline="-25000" dirty="0">
                <a:solidFill>
                  <a:srgbClr val="000000"/>
                </a:solidFill>
                <a:effectLst/>
                <a:latin typeface="Courier New" panose="02070309020205020404" pitchFamily="49" charset="0"/>
                <a:cs typeface="Courier New" panose="02070309020205020404" pitchFamily="49" charset="0"/>
              </a:rPr>
              <a:t>16</a:t>
            </a:r>
            <a:br>
              <a:rPr lang="en-US" sz="1400" b="0" i="0" dirty="0">
                <a:solidFill>
                  <a:srgbClr val="000000"/>
                </a:solidFill>
                <a:effectLst/>
                <a:latin typeface="Courier New" panose="02070309020205020404" pitchFamily="49" charset="0"/>
                <a:cs typeface="Courier New" panose="02070309020205020404" pitchFamily="49" charset="0"/>
              </a:rPr>
            </a:br>
            <a:r>
              <a:rPr lang="en-US" sz="1400" b="1" i="0" dirty="0">
                <a:solidFill>
                  <a:srgbClr val="000000"/>
                </a:solidFill>
                <a:effectLst/>
                <a:latin typeface="Courier New" panose="02070309020205020404" pitchFamily="49" charset="0"/>
                <a:cs typeface="Courier New" panose="02070309020205020404" pitchFamily="49" charset="0"/>
              </a:rPr>
              <a:t>return </a:t>
            </a:r>
            <a:r>
              <a:rPr lang="en-US" sz="1400" b="0" i="1" dirty="0">
                <a:solidFill>
                  <a:srgbClr val="000000"/>
                </a:solidFill>
                <a:effectLst/>
                <a:latin typeface="Courier New" panose="02070309020205020404" pitchFamily="49" charset="0"/>
                <a:cs typeface="Courier New" panose="02070309020205020404" pitchFamily="49" charset="0"/>
              </a:rPr>
              <a:t>W</a:t>
            </a:r>
            <a:r>
              <a:rPr lang="en-US" sz="1400" dirty="0">
                <a:latin typeface="Courier New" panose="02070309020205020404" pitchFamily="49" charset="0"/>
                <a:cs typeface="Courier New" panose="02070309020205020404" pitchFamily="49" charset="0"/>
              </a:rPr>
              <a:t> </a:t>
            </a:r>
            <a:endParaRPr lang="en-ID" sz="1400" dirty="0">
              <a:latin typeface="Courier New" panose="02070309020205020404" pitchFamily="49" charset="0"/>
              <a:cs typeface="Courier New" panose="02070309020205020404" pitchFamily="49" charset="0"/>
            </a:endParaRPr>
          </a:p>
        </p:txBody>
      </p:sp>
      <p:sp>
        <p:nvSpPr>
          <p:cNvPr id="14" name="TextBox 13">
            <a:extLst>
              <a:ext uri="{FF2B5EF4-FFF2-40B4-BE49-F238E27FC236}">
                <a16:creationId xmlns:a16="http://schemas.microsoft.com/office/drawing/2014/main" id="{E3436DCB-8206-8A71-E794-8E96050BA8FD}"/>
              </a:ext>
            </a:extLst>
          </p:cNvPr>
          <p:cNvSpPr txBox="1"/>
          <p:nvPr/>
        </p:nvSpPr>
        <p:spPr>
          <a:xfrm>
            <a:off x="508317" y="5322198"/>
            <a:ext cx="6096000" cy="523220"/>
          </a:xfrm>
          <a:prstGeom prst="rect">
            <a:avLst/>
          </a:prstGeom>
          <a:noFill/>
        </p:spPr>
        <p:txBody>
          <a:bodyPr wrap="square">
            <a:spAutoFit/>
          </a:bodyPr>
          <a:lstStyle/>
          <a:p>
            <a:r>
              <a:rPr lang="en-US" sz="1400" b="0" i="1" dirty="0">
                <a:solidFill>
                  <a:srgbClr val="000000"/>
                </a:solidFill>
                <a:effectLst/>
                <a:latin typeface="Courier New" panose="02070309020205020404" pitchFamily="49" charset="0"/>
                <a:cs typeface="Courier New" panose="02070309020205020404" pitchFamily="49" charset="0"/>
              </a:rPr>
              <a:t>s</a:t>
            </a:r>
            <a:r>
              <a:rPr lang="en-US" sz="1400" b="0" i="0" dirty="0">
                <a:solidFill>
                  <a:srgbClr val="000000"/>
                </a:solidFill>
                <a:effectLst/>
                <a:latin typeface="Courier New" panose="02070309020205020404" pitchFamily="49" charset="0"/>
                <a:cs typeface="Courier New" panose="02070309020205020404" pitchFamily="49" charset="0"/>
              </a:rPr>
              <a:t>0(</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 = ROTR7(</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 </a:t>
            </a:r>
            <a:r>
              <a:rPr lang="en-US" sz="1400" b="0" i="1" dirty="0">
                <a:solidFill>
                  <a:srgbClr val="000000"/>
                </a:solidFill>
                <a:effectLst/>
                <a:latin typeface="Courier New" panose="02070309020205020404" pitchFamily="49" charset="0"/>
                <a:cs typeface="Courier New" panose="02070309020205020404" pitchFamily="49" charset="0"/>
              </a:rPr>
              <a:t>⊕ </a:t>
            </a:r>
            <a:r>
              <a:rPr lang="en-US" sz="1400" b="0" i="0" dirty="0">
                <a:solidFill>
                  <a:srgbClr val="000000"/>
                </a:solidFill>
                <a:effectLst/>
                <a:latin typeface="Courier New" panose="02070309020205020404" pitchFamily="49" charset="0"/>
                <a:cs typeface="Courier New" panose="02070309020205020404" pitchFamily="49" charset="0"/>
              </a:rPr>
              <a:t>ROTR18(</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 </a:t>
            </a:r>
            <a:r>
              <a:rPr lang="en-US" sz="1400" b="0" i="1" dirty="0">
                <a:solidFill>
                  <a:srgbClr val="000000"/>
                </a:solidFill>
                <a:effectLst/>
                <a:latin typeface="Courier New" panose="02070309020205020404" pitchFamily="49" charset="0"/>
                <a:cs typeface="Courier New" panose="02070309020205020404" pitchFamily="49" charset="0"/>
              </a:rPr>
              <a:t>⊕ </a:t>
            </a:r>
            <a:r>
              <a:rPr lang="en-US" sz="1400" b="0" i="0" dirty="0">
                <a:solidFill>
                  <a:srgbClr val="000000"/>
                </a:solidFill>
                <a:effectLst/>
                <a:latin typeface="Courier New" panose="02070309020205020404" pitchFamily="49" charset="0"/>
                <a:cs typeface="Courier New" panose="02070309020205020404" pitchFamily="49" charset="0"/>
              </a:rPr>
              <a:t>SHR3(</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a:t>
            </a:r>
            <a:br>
              <a:rPr lang="en-US" sz="1400" b="0" i="0" dirty="0">
                <a:solidFill>
                  <a:srgbClr val="000000"/>
                </a:solidFill>
                <a:effectLst/>
                <a:latin typeface="Courier New" panose="02070309020205020404" pitchFamily="49" charset="0"/>
                <a:cs typeface="Courier New" panose="02070309020205020404" pitchFamily="49" charset="0"/>
              </a:rPr>
            </a:br>
            <a:r>
              <a:rPr lang="en-US" sz="1400" b="0" i="1" dirty="0">
                <a:solidFill>
                  <a:srgbClr val="000000"/>
                </a:solidFill>
                <a:effectLst/>
                <a:latin typeface="Courier New" panose="02070309020205020404" pitchFamily="49" charset="0"/>
                <a:cs typeface="Courier New" panose="02070309020205020404" pitchFamily="49" charset="0"/>
              </a:rPr>
              <a:t>s</a:t>
            </a:r>
            <a:r>
              <a:rPr lang="en-US" sz="1400" b="0" i="0" dirty="0">
                <a:solidFill>
                  <a:srgbClr val="000000"/>
                </a:solidFill>
                <a:effectLst/>
                <a:latin typeface="Courier New" panose="02070309020205020404" pitchFamily="49" charset="0"/>
                <a:cs typeface="Courier New" panose="02070309020205020404" pitchFamily="49" charset="0"/>
              </a:rPr>
              <a:t>1(</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 = ROTR17(</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 </a:t>
            </a:r>
            <a:r>
              <a:rPr lang="en-US" sz="1400" b="0" i="1" dirty="0">
                <a:solidFill>
                  <a:srgbClr val="000000"/>
                </a:solidFill>
                <a:effectLst/>
                <a:latin typeface="Courier New" panose="02070309020205020404" pitchFamily="49" charset="0"/>
                <a:cs typeface="Courier New" panose="02070309020205020404" pitchFamily="49" charset="0"/>
              </a:rPr>
              <a:t>⊕ </a:t>
            </a:r>
            <a:r>
              <a:rPr lang="en-US" sz="1400" b="0" i="0" dirty="0">
                <a:solidFill>
                  <a:srgbClr val="000000"/>
                </a:solidFill>
                <a:effectLst/>
                <a:latin typeface="Courier New" panose="02070309020205020404" pitchFamily="49" charset="0"/>
                <a:cs typeface="Courier New" panose="02070309020205020404" pitchFamily="49" charset="0"/>
              </a:rPr>
              <a:t>ROTR19(</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 </a:t>
            </a:r>
            <a:r>
              <a:rPr lang="en-US" sz="1400" b="0" i="1" dirty="0">
                <a:solidFill>
                  <a:srgbClr val="000000"/>
                </a:solidFill>
                <a:effectLst/>
                <a:latin typeface="Courier New" panose="02070309020205020404" pitchFamily="49" charset="0"/>
                <a:cs typeface="Courier New" panose="02070309020205020404" pitchFamily="49" charset="0"/>
              </a:rPr>
              <a:t>⊕ </a:t>
            </a:r>
            <a:r>
              <a:rPr lang="en-US" sz="1400" b="0" i="0" dirty="0">
                <a:solidFill>
                  <a:srgbClr val="000000"/>
                </a:solidFill>
                <a:effectLst/>
                <a:latin typeface="Courier New" panose="02070309020205020404" pitchFamily="49" charset="0"/>
                <a:cs typeface="Courier New" panose="02070309020205020404" pitchFamily="49" charset="0"/>
              </a:rPr>
              <a:t>SHR10(</a:t>
            </a:r>
            <a:r>
              <a:rPr lang="en-US" sz="1400" b="0" i="1" dirty="0">
                <a:solidFill>
                  <a:srgbClr val="000000"/>
                </a:solidFill>
                <a:effectLst/>
                <a:latin typeface="Courier New" panose="02070309020205020404" pitchFamily="49" charset="0"/>
                <a:cs typeface="Courier New" panose="02070309020205020404" pitchFamily="49" charset="0"/>
              </a:rPr>
              <a:t>x</a:t>
            </a:r>
            <a:r>
              <a:rPr lang="en-US" sz="1400" b="0" i="0" dirty="0">
                <a:solidFill>
                  <a:srgbClr val="000000"/>
                </a:solidFill>
                <a:effectLst/>
                <a:latin typeface="Courier New" panose="02070309020205020404" pitchFamily="49" charset="0"/>
                <a:cs typeface="Courier New" panose="02070309020205020404" pitchFamily="49" charset="0"/>
              </a:rPr>
              <a:t>)</a:t>
            </a:r>
            <a:r>
              <a:rPr lang="en-US" sz="1400" dirty="0">
                <a:latin typeface="Courier New" panose="02070309020205020404" pitchFamily="49" charset="0"/>
                <a:cs typeface="Courier New" panose="02070309020205020404" pitchFamily="49" charset="0"/>
              </a:rPr>
              <a:t> </a:t>
            </a:r>
            <a:endParaRPr lang="en-ID" sz="1400" dirty="0">
              <a:latin typeface="Courier New" panose="02070309020205020404" pitchFamily="49" charset="0"/>
              <a:cs typeface="Courier New" panose="02070309020205020404" pitchFamily="49" charset="0"/>
            </a:endParaRPr>
          </a:p>
        </p:txBody>
      </p:sp>
      <p:sp>
        <p:nvSpPr>
          <p:cNvPr id="15" name="TextBox 14">
            <a:extLst>
              <a:ext uri="{FF2B5EF4-FFF2-40B4-BE49-F238E27FC236}">
                <a16:creationId xmlns:a16="http://schemas.microsoft.com/office/drawing/2014/main" id="{89A8D69B-1704-AA82-AA6A-1E1C93E54483}"/>
              </a:ext>
            </a:extLst>
          </p:cNvPr>
          <p:cNvSpPr txBox="1"/>
          <p:nvPr/>
        </p:nvSpPr>
        <p:spPr>
          <a:xfrm>
            <a:off x="525523" y="5023040"/>
            <a:ext cx="762000" cy="338554"/>
          </a:xfrm>
          <a:prstGeom prst="rect">
            <a:avLst/>
          </a:prstGeom>
          <a:noFill/>
        </p:spPr>
        <p:txBody>
          <a:bodyPr wrap="square">
            <a:spAutoFit/>
          </a:bodyPr>
          <a:lstStyle/>
          <a:p>
            <a:r>
              <a:rPr lang="vi-VN" sz="1600" dirty="0" err="1">
                <a:latin typeface="Arial" panose="020B0604020202020204" pitchFamily="34" charset="0"/>
                <a:cs typeface="Arial" panose="020B0604020202020204" pitchFamily="34" charset="0"/>
              </a:rPr>
              <a:t>With</a:t>
            </a:r>
            <a:r>
              <a:rPr lang="vi-VN" sz="1600" dirty="0">
                <a:latin typeface="Arial" panose="020B0604020202020204" pitchFamily="34" charset="0"/>
                <a:cs typeface="Arial" panose="020B0604020202020204" pitchFamily="34" charset="0"/>
              </a:rPr>
              <a:t>:</a:t>
            </a:r>
            <a:endParaRPr lang="en-ID" sz="160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DF2551DE-BDB4-6D7B-2D4D-4B0F9581B4FC}"/>
              </a:ext>
            </a:extLst>
          </p:cNvPr>
          <p:cNvPicPr>
            <a:picLocks noChangeAspect="1"/>
          </p:cNvPicPr>
          <p:nvPr/>
        </p:nvPicPr>
        <p:blipFill>
          <a:blip r:embed="rId2"/>
          <a:stretch>
            <a:fillRect/>
          </a:stretch>
        </p:blipFill>
        <p:spPr>
          <a:xfrm>
            <a:off x="6638729" y="2456389"/>
            <a:ext cx="3852193" cy="4003369"/>
          </a:xfrm>
          <a:prstGeom prst="rect">
            <a:avLst/>
          </a:prstGeom>
        </p:spPr>
      </p:pic>
      <p:sp>
        <p:nvSpPr>
          <p:cNvPr id="11" name="object 2">
            <a:extLst>
              <a:ext uri="{FF2B5EF4-FFF2-40B4-BE49-F238E27FC236}">
                <a16:creationId xmlns:a16="http://schemas.microsoft.com/office/drawing/2014/main" id="{BF3521D1-A4E2-1695-F479-C2AFC438D217}"/>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3305700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EF252D-0A6D-7E2C-1AD2-547EABB602C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CA7EFEB-22D4-BBB1-54B6-8020EAA6186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7B4CA482-495B-D940-1EF8-89C0C229CC5F}"/>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13</a:t>
            </a:fld>
            <a:endParaRPr spc="-25" dirty="0"/>
          </a:p>
        </p:txBody>
      </p:sp>
      <p:sp>
        <p:nvSpPr>
          <p:cNvPr id="6" name="object 6">
            <a:extLst>
              <a:ext uri="{FF2B5EF4-FFF2-40B4-BE49-F238E27FC236}">
                <a16:creationId xmlns:a16="http://schemas.microsoft.com/office/drawing/2014/main" id="{887000E4-C069-689F-EB81-F448277BEF1A}"/>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3F9E3731-3389-67DC-9DBD-F0A66F564F84}"/>
              </a:ext>
            </a:extLst>
          </p:cNvPr>
          <p:cNvSpPr txBox="1"/>
          <p:nvPr/>
        </p:nvSpPr>
        <p:spPr>
          <a:xfrm>
            <a:off x="457200" y="105826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7" name="object 3">
            <a:extLst>
              <a:ext uri="{FF2B5EF4-FFF2-40B4-BE49-F238E27FC236}">
                <a16:creationId xmlns:a16="http://schemas.microsoft.com/office/drawing/2014/main" id="{3F23EC90-E6BB-57C5-9E1A-74B34156FF6D}"/>
              </a:ext>
            </a:extLst>
          </p:cNvPr>
          <p:cNvSpPr txBox="1"/>
          <p:nvPr/>
        </p:nvSpPr>
        <p:spPr>
          <a:xfrm>
            <a:off x="457200" y="1596285"/>
            <a:ext cx="10896600" cy="764953"/>
          </a:xfrm>
          <a:prstGeom prst="rect">
            <a:avLst/>
          </a:prstGeom>
        </p:spPr>
        <p:txBody>
          <a:bodyPr vert="horz" wrap="square" lIns="0" tIns="13335" rIns="0" bIns="0" rtlCol="0">
            <a:spAutoFit/>
          </a:bodyPr>
          <a:lstStyle/>
          <a:p>
            <a:pPr marL="12700">
              <a:lnSpc>
                <a:spcPct val="100000"/>
              </a:lnSpc>
              <a:spcBef>
                <a:spcPts val="105"/>
              </a:spcBef>
            </a:pPr>
            <a:r>
              <a:rPr lang="vi-VN" sz="2400" b="1" dirty="0" err="1">
                <a:solidFill>
                  <a:srgbClr val="7C45AD"/>
                </a:solidFill>
                <a:latin typeface="Arial"/>
                <a:cs typeface="Arial"/>
              </a:rPr>
              <a:t>Hash</a:t>
            </a:r>
            <a:r>
              <a:rPr lang="vi-VN" sz="2400" b="1" dirty="0">
                <a:solidFill>
                  <a:srgbClr val="7C45AD"/>
                </a:solidFill>
                <a:latin typeface="Arial"/>
                <a:cs typeface="Arial"/>
              </a:rPr>
              <a:t> </a:t>
            </a:r>
            <a:r>
              <a:rPr lang="vi-VN" sz="2400" b="1" dirty="0" err="1">
                <a:solidFill>
                  <a:srgbClr val="7C45AD"/>
                </a:solidFill>
                <a:latin typeface="Arial"/>
                <a:cs typeface="Arial"/>
              </a:rPr>
              <a:t>Computing</a:t>
            </a:r>
            <a:r>
              <a:rPr lang="vi-VN" sz="2400" b="1" dirty="0">
                <a:solidFill>
                  <a:srgbClr val="7C45AD"/>
                </a:solidFill>
                <a:latin typeface="Arial"/>
                <a:cs typeface="Arial"/>
              </a:rPr>
              <a:t> </a:t>
            </a:r>
            <a:r>
              <a:rPr lang="vi-VN" sz="2400" b="1" dirty="0" err="1">
                <a:solidFill>
                  <a:srgbClr val="7C45AD"/>
                </a:solidFill>
                <a:latin typeface="Arial"/>
                <a:cs typeface="Arial"/>
              </a:rPr>
              <a:t>Stage</a:t>
            </a:r>
            <a:r>
              <a:rPr lang="vi-VN" sz="2400" b="1" dirty="0">
                <a:solidFill>
                  <a:srgbClr val="7C45AD"/>
                </a:solidFill>
                <a:latin typeface="Arial"/>
                <a:cs typeface="Arial"/>
              </a:rPr>
              <a:t>:</a:t>
            </a:r>
          </a:p>
          <a:p>
            <a:pPr marL="12700">
              <a:lnSpc>
                <a:spcPct val="100000"/>
              </a:lnSpc>
              <a:spcBef>
                <a:spcPts val="105"/>
              </a:spcBef>
            </a:pPr>
            <a:r>
              <a:rPr lang="en-US" sz="2400" b="1" dirty="0">
                <a:solidFill>
                  <a:srgbClr val="7C45AD"/>
                </a:solidFill>
                <a:latin typeface="Arial"/>
                <a:cs typeface="Arial"/>
              </a:rPr>
              <a:t>2</a:t>
            </a:r>
            <a:r>
              <a:rPr lang="vi-VN" sz="2400" b="1" dirty="0">
                <a:solidFill>
                  <a:srgbClr val="7C45AD"/>
                </a:solidFill>
                <a:latin typeface="Arial"/>
                <a:cs typeface="Arial"/>
              </a:rPr>
              <a:t>. </a:t>
            </a:r>
            <a:r>
              <a:rPr lang="vi-VN" sz="2400" b="1" dirty="0" err="1">
                <a:solidFill>
                  <a:srgbClr val="7C45AD"/>
                </a:solidFill>
                <a:latin typeface="Arial"/>
                <a:cs typeface="Arial"/>
              </a:rPr>
              <a:t>Compression</a:t>
            </a:r>
            <a:endParaRPr lang="en-US" sz="2400" b="1" dirty="0">
              <a:solidFill>
                <a:srgbClr val="7C45AD"/>
              </a:solidFill>
              <a:latin typeface="Arial"/>
              <a:cs typeface="Arial"/>
            </a:endParaRPr>
          </a:p>
        </p:txBody>
      </p:sp>
      <p:sp>
        <p:nvSpPr>
          <p:cNvPr id="10" name="TextBox 9">
            <a:extLst>
              <a:ext uri="{FF2B5EF4-FFF2-40B4-BE49-F238E27FC236}">
                <a16:creationId xmlns:a16="http://schemas.microsoft.com/office/drawing/2014/main" id="{202C4527-57CC-1A7C-593A-46AB338181E0}"/>
              </a:ext>
            </a:extLst>
          </p:cNvPr>
          <p:cNvSpPr txBox="1"/>
          <p:nvPr/>
        </p:nvSpPr>
        <p:spPr>
          <a:xfrm>
            <a:off x="457199" y="2389346"/>
            <a:ext cx="11084559" cy="830997"/>
          </a:xfrm>
          <a:prstGeom prst="rect">
            <a:avLst/>
          </a:prstGeom>
          <a:noFill/>
        </p:spPr>
        <p:txBody>
          <a:bodyPr wrap="square">
            <a:spAutoFit/>
          </a:bodyPr>
          <a:lstStyle/>
          <a:p>
            <a:r>
              <a:rPr lang="en-US" sz="1600" b="0" i="0" dirty="0">
                <a:solidFill>
                  <a:srgbClr val="000000"/>
                </a:solidFill>
                <a:effectLst/>
                <a:latin typeface="Arial" panose="020B0604020202020204" pitchFamily="34" charset="0"/>
                <a:cs typeface="Arial" panose="020B0604020202020204" pitchFamily="34" charset="0"/>
              </a:rPr>
              <a:t>The next stage of the SHA-256 algorithm involves computing the expanded message</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digest through 64 iterations of the compression function. This stage utilizes the state</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variables </a:t>
            </a:r>
            <a:r>
              <a:rPr lang="en-US" sz="1600" b="0" i="1" dirty="0">
                <a:solidFill>
                  <a:srgbClr val="000000"/>
                </a:solidFill>
                <a:effectLst/>
                <a:latin typeface="Arial" panose="020B0604020202020204" pitchFamily="34" charset="0"/>
                <a:cs typeface="Arial" panose="020B0604020202020204" pitchFamily="34" charset="0"/>
              </a:rPr>
              <a:t>a</a:t>
            </a:r>
            <a:r>
              <a:rPr lang="en-US" sz="1600" b="0" i="0" dirty="0">
                <a:solidFill>
                  <a:srgbClr val="000000"/>
                </a:solidFill>
                <a:effectLst/>
                <a:latin typeface="Arial" panose="020B0604020202020204" pitchFamily="34" charset="0"/>
                <a:cs typeface="Arial" panose="020B0604020202020204" pitchFamily="34" charset="0"/>
              </a:rPr>
              <a:t>, </a:t>
            </a:r>
            <a:r>
              <a:rPr lang="en-US" sz="1600" b="0" i="1" dirty="0">
                <a:solidFill>
                  <a:srgbClr val="000000"/>
                </a:solidFill>
                <a:effectLst/>
                <a:latin typeface="Arial" panose="020B0604020202020204" pitchFamily="34" charset="0"/>
                <a:cs typeface="Arial" panose="020B0604020202020204" pitchFamily="34" charset="0"/>
              </a:rPr>
              <a:t>b</a:t>
            </a:r>
            <a:r>
              <a:rPr lang="en-US" sz="1600" b="0" i="0" dirty="0">
                <a:solidFill>
                  <a:srgbClr val="000000"/>
                </a:solidFill>
                <a:effectLst/>
                <a:latin typeface="Arial" panose="020B0604020202020204" pitchFamily="34" charset="0"/>
                <a:cs typeface="Arial" panose="020B0604020202020204" pitchFamily="34" charset="0"/>
              </a:rPr>
              <a:t>, . . . , </a:t>
            </a:r>
            <a:r>
              <a:rPr lang="en-US" sz="1600" b="0" i="1" dirty="0">
                <a:solidFill>
                  <a:srgbClr val="000000"/>
                </a:solidFill>
                <a:effectLst/>
                <a:latin typeface="Arial" panose="020B0604020202020204" pitchFamily="34" charset="0"/>
                <a:cs typeface="Arial" panose="020B0604020202020204" pitchFamily="34" charset="0"/>
              </a:rPr>
              <a:t>h</a:t>
            </a:r>
            <a:r>
              <a:rPr lang="en-US" sz="1600" b="0" i="0" dirty="0">
                <a:solidFill>
                  <a:srgbClr val="000000"/>
                </a:solidFill>
                <a:effectLst/>
                <a:latin typeface="Arial" panose="020B0604020202020204" pitchFamily="34" charset="0"/>
                <a:cs typeface="Arial" panose="020B0604020202020204" pitchFamily="34" charset="0"/>
              </a:rPr>
              <a:t>, which were initialized during the preprocessing phase in conjunction</a:t>
            </a:r>
            <a:r>
              <a:rPr lang="vi-VN" sz="1600" b="0" i="0" dirty="0">
                <a:solidFill>
                  <a:srgbClr val="000000"/>
                </a:solidFill>
                <a:effectLst/>
                <a:latin typeface="Arial" panose="020B0604020202020204" pitchFamily="34" charset="0"/>
                <a:cs typeface="Arial" panose="020B0604020202020204" pitchFamily="34" charset="0"/>
              </a:rPr>
              <a:t> </a:t>
            </a:r>
            <a:r>
              <a:rPr lang="en-US" sz="1600" b="0" i="0" dirty="0">
                <a:solidFill>
                  <a:srgbClr val="000000"/>
                </a:solidFill>
                <a:effectLst/>
                <a:latin typeface="Arial" panose="020B0604020202020204" pitchFamily="34" charset="0"/>
                <a:cs typeface="Arial" panose="020B0604020202020204" pitchFamily="34" charset="0"/>
              </a:rPr>
              <a:t>with sixty-four 32-bit constants labeled as </a:t>
            </a:r>
            <a:r>
              <a:rPr lang="en-US" sz="1600" b="0" i="1" dirty="0">
                <a:solidFill>
                  <a:srgbClr val="000000"/>
                </a:solidFill>
                <a:effectLst/>
                <a:latin typeface="Arial" panose="020B0604020202020204" pitchFamily="34" charset="0"/>
                <a:cs typeface="Arial" panose="020B0604020202020204" pitchFamily="34" charset="0"/>
              </a:rPr>
              <a:t>Kt </a:t>
            </a:r>
            <a:r>
              <a:rPr lang="en-US" sz="1600" b="0" i="0" dirty="0">
                <a:solidFill>
                  <a:srgbClr val="000000"/>
                </a:solidFill>
                <a:effectLst/>
                <a:latin typeface="Arial" panose="020B0604020202020204" pitchFamily="34" charset="0"/>
                <a:cs typeface="Arial" panose="020B0604020202020204" pitchFamily="34" charset="0"/>
              </a:rPr>
              <a:t>and defined by FIPS 180-4</a:t>
            </a:r>
            <a:r>
              <a:rPr lang="en-US" sz="1600" dirty="0">
                <a:latin typeface="Arial" panose="020B0604020202020204" pitchFamily="34" charset="0"/>
                <a:cs typeface="Arial" panose="020B0604020202020204" pitchFamily="34" charset="0"/>
              </a:rPr>
              <a:t> </a:t>
            </a:r>
            <a:endParaRPr lang="en-ID" sz="16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C8710788-A480-01D5-4234-6A47CCC61F4F}"/>
              </a:ext>
            </a:extLst>
          </p:cNvPr>
          <p:cNvSpPr txBox="1"/>
          <p:nvPr/>
        </p:nvSpPr>
        <p:spPr>
          <a:xfrm>
            <a:off x="457200" y="3154299"/>
            <a:ext cx="4648200" cy="2677656"/>
          </a:xfrm>
          <a:prstGeom prst="rect">
            <a:avLst/>
          </a:prstGeom>
          <a:noFill/>
        </p:spPr>
        <p:txBody>
          <a:bodyPr wrap="square">
            <a:spAutoFit/>
          </a:bodyPr>
          <a:lstStyle/>
          <a:p>
            <a:r>
              <a:rPr lang="pt-BR" sz="1400" b="1" i="0" dirty="0">
                <a:solidFill>
                  <a:srgbClr val="000000"/>
                </a:solidFill>
                <a:effectLst/>
                <a:latin typeface="Courier New" panose="02070309020205020404" pitchFamily="49" charset="0"/>
                <a:cs typeface="Courier New" panose="02070309020205020404" pitchFamily="49" charset="0"/>
              </a:rPr>
              <a:t>for </a:t>
            </a:r>
            <a:r>
              <a:rPr lang="pt-BR" sz="1400" b="0" i="1" dirty="0">
                <a:solidFill>
                  <a:srgbClr val="000000"/>
                </a:solidFill>
                <a:effectLst/>
                <a:latin typeface="Courier New" panose="02070309020205020404" pitchFamily="49" charset="0"/>
                <a:cs typeface="Courier New" panose="02070309020205020404" pitchFamily="49" charset="0"/>
              </a:rPr>
              <a:t>t from 0 to 63 </a:t>
            </a:r>
            <a:r>
              <a:rPr lang="pt-BR" sz="1400" b="1" i="0" dirty="0">
                <a:solidFill>
                  <a:srgbClr val="000000"/>
                </a:solidFill>
                <a:effectLst/>
                <a:latin typeface="Courier New" panose="02070309020205020404" pitchFamily="49" charset="0"/>
                <a:cs typeface="Courier New" panose="02070309020205020404" pitchFamily="49" charset="0"/>
              </a:rPr>
              <a:t>do</a:t>
            </a:r>
            <a:br>
              <a:rPr lang="pt-BR" sz="1400" b="1" i="0" dirty="0">
                <a:solidFill>
                  <a:srgbClr val="000000"/>
                </a:solidFill>
                <a:effectLst/>
                <a:latin typeface="Courier New" panose="02070309020205020404" pitchFamily="49" charset="0"/>
                <a:cs typeface="Courier New" panose="02070309020205020404" pitchFamily="49" charset="0"/>
              </a:rPr>
            </a:br>
            <a:r>
              <a:rPr lang="vi-VN" sz="1400" b="1"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T</a:t>
            </a:r>
            <a:r>
              <a:rPr lang="pt-BR" sz="1400" b="0" i="0" dirty="0">
                <a:solidFill>
                  <a:srgbClr val="000000"/>
                </a:solidFill>
                <a:effectLst/>
                <a:latin typeface="Courier New" panose="02070309020205020404" pitchFamily="49" charset="0"/>
                <a:cs typeface="Courier New" panose="02070309020205020404" pitchFamily="49" charset="0"/>
              </a:rPr>
              <a:t>1 = </a:t>
            </a:r>
            <a:r>
              <a:rPr lang="pt-BR" sz="1400" b="0" i="1" dirty="0">
                <a:solidFill>
                  <a:srgbClr val="000000"/>
                </a:solidFill>
                <a:effectLst/>
                <a:latin typeface="Courier New" panose="02070309020205020404" pitchFamily="49" charset="0"/>
                <a:cs typeface="Courier New" panose="02070309020205020404" pitchFamily="49" charset="0"/>
              </a:rPr>
              <a:t>h </a:t>
            </a:r>
            <a:r>
              <a:rPr lang="pt-BR" sz="1400" b="0" i="0" dirty="0">
                <a:solidFill>
                  <a:srgbClr val="000000"/>
                </a:solidFill>
                <a:effectLst/>
                <a:latin typeface="Courier New" panose="02070309020205020404" pitchFamily="49" charset="0"/>
                <a:cs typeface="Courier New" panose="02070309020205020404" pitchFamily="49" charset="0"/>
              </a:rPr>
              <a:t>+ S1(</a:t>
            </a:r>
            <a:r>
              <a:rPr lang="pt-BR" sz="1400" b="0" i="1" dirty="0">
                <a:solidFill>
                  <a:srgbClr val="000000"/>
                </a:solidFill>
                <a:effectLst/>
                <a:latin typeface="Courier New" panose="02070309020205020404" pitchFamily="49" charset="0"/>
                <a:cs typeface="Courier New" panose="02070309020205020404" pitchFamily="49" charset="0"/>
              </a:rPr>
              <a:t>e</a:t>
            </a:r>
            <a:r>
              <a:rPr lang="pt-BR" sz="1400" b="0" i="0" dirty="0">
                <a:solidFill>
                  <a:srgbClr val="000000"/>
                </a:solidFill>
                <a:effectLst/>
                <a:latin typeface="Courier New" panose="02070309020205020404" pitchFamily="49" charset="0"/>
                <a:cs typeface="Courier New" panose="02070309020205020404" pitchFamily="49" charset="0"/>
              </a:rPr>
              <a:t>) + </a:t>
            </a:r>
            <a:r>
              <a:rPr lang="pt-BR" sz="1400" b="0" i="1" dirty="0">
                <a:solidFill>
                  <a:srgbClr val="000000"/>
                </a:solidFill>
                <a:effectLst/>
                <a:latin typeface="Courier New" panose="02070309020205020404" pitchFamily="49" charset="0"/>
                <a:cs typeface="Courier New" panose="02070309020205020404" pitchFamily="49" charset="0"/>
              </a:rPr>
              <a:t>Ch</a:t>
            </a:r>
            <a:r>
              <a:rPr lang="pt-BR" sz="1400" b="0" i="0" dirty="0">
                <a:solidFill>
                  <a:srgbClr val="000000"/>
                </a:solidFill>
                <a:effectLst/>
                <a:latin typeface="Courier New" panose="02070309020205020404" pitchFamily="49" charset="0"/>
                <a:cs typeface="Courier New" panose="02070309020205020404" pitchFamily="49" charset="0"/>
              </a:rPr>
              <a:t>(</a:t>
            </a:r>
            <a:r>
              <a:rPr lang="pt-BR" sz="1400" b="0" i="1" dirty="0">
                <a:solidFill>
                  <a:srgbClr val="000000"/>
                </a:solidFill>
                <a:effectLst/>
                <a:latin typeface="Courier New" panose="02070309020205020404" pitchFamily="49" charset="0"/>
                <a:cs typeface="Courier New" panose="02070309020205020404" pitchFamily="49" charset="0"/>
              </a:rPr>
              <a:t>e</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f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g</a:t>
            </a:r>
            <a:r>
              <a:rPr lang="pt-BR" sz="1400" b="0" i="0" dirty="0">
                <a:solidFill>
                  <a:srgbClr val="000000"/>
                </a:solidFill>
                <a:effectLst/>
                <a:latin typeface="Courier New" panose="02070309020205020404" pitchFamily="49" charset="0"/>
                <a:cs typeface="Courier New" panose="02070309020205020404" pitchFamily="49" charset="0"/>
              </a:rPr>
              <a:t>) + </a:t>
            </a:r>
            <a:r>
              <a:rPr lang="pt-BR" sz="1400" b="0" i="1" dirty="0">
                <a:solidFill>
                  <a:srgbClr val="000000"/>
                </a:solidFill>
                <a:effectLst/>
                <a:latin typeface="Courier New" panose="02070309020205020404" pitchFamily="49" charset="0"/>
                <a:cs typeface="Courier New" panose="02070309020205020404" pitchFamily="49" charset="0"/>
              </a:rPr>
              <a:t>Kt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Wt</a:t>
            </a:r>
            <a:br>
              <a:rPr lang="pt-BR" sz="1400" b="0" i="1" dirty="0">
                <a:solidFill>
                  <a:srgbClr val="000000"/>
                </a:solidFill>
                <a:effectLst/>
                <a:latin typeface="Courier New" panose="02070309020205020404" pitchFamily="49" charset="0"/>
                <a:cs typeface="Courier New" panose="02070309020205020404" pitchFamily="49" charset="0"/>
              </a:rPr>
            </a:br>
            <a:r>
              <a:rPr lang="vi-VN" sz="1400" b="0" i="1"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T</a:t>
            </a:r>
            <a:r>
              <a:rPr lang="pt-BR" sz="1400" b="0" i="0" dirty="0">
                <a:solidFill>
                  <a:srgbClr val="000000"/>
                </a:solidFill>
                <a:effectLst/>
                <a:latin typeface="Courier New" panose="02070309020205020404" pitchFamily="49" charset="0"/>
                <a:cs typeface="Courier New" panose="02070309020205020404" pitchFamily="49" charset="0"/>
              </a:rPr>
              <a:t>2 = S0(</a:t>
            </a:r>
            <a:r>
              <a:rPr lang="pt-BR" sz="1400" b="0" i="1" dirty="0">
                <a:solidFill>
                  <a:srgbClr val="000000"/>
                </a:solidFill>
                <a:effectLst/>
                <a:latin typeface="Courier New" panose="02070309020205020404" pitchFamily="49" charset="0"/>
                <a:cs typeface="Courier New" panose="02070309020205020404" pitchFamily="49" charset="0"/>
              </a:rPr>
              <a:t>a</a:t>
            </a:r>
            <a:r>
              <a:rPr lang="pt-BR" sz="1400" b="0" i="0" dirty="0">
                <a:solidFill>
                  <a:srgbClr val="000000"/>
                </a:solidFill>
                <a:effectLst/>
                <a:latin typeface="Courier New" panose="02070309020205020404" pitchFamily="49" charset="0"/>
                <a:cs typeface="Courier New" panose="02070309020205020404" pitchFamily="49" charset="0"/>
              </a:rPr>
              <a:t>) + </a:t>
            </a:r>
            <a:r>
              <a:rPr lang="pt-BR" sz="1400" b="0" i="1" dirty="0">
                <a:solidFill>
                  <a:srgbClr val="000000"/>
                </a:solidFill>
                <a:effectLst/>
                <a:latin typeface="Courier New" panose="02070309020205020404" pitchFamily="49" charset="0"/>
                <a:cs typeface="Courier New" panose="02070309020205020404" pitchFamily="49" charset="0"/>
              </a:rPr>
              <a:t>Maj</a:t>
            </a:r>
            <a:r>
              <a:rPr lang="pt-BR" sz="1400" b="0" i="0" dirty="0">
                <a:solidFill>
                  <a:srgbClr val="000000"/>
                </a:solidFill>
                <a:effectLst/>
                <a:latin typeface="Courier New" panose="02070309020205020404" pitchFamily="49" charset="0"/>
                <a:cs typeface="Courier New" panose="02070309020205020404" pitchFamily="49" charset="0"/>
              </a:rPr>
              <a:t>(</a:t>
            </a:r>
            <a:r>
              <a:rPr lang="pt-BR" sz="1400" b="0" i="1" dirty="0">
                <a:solidFill>
                  <a:srgbClr val="000000"/>
                </a:solidFill>
                <a:effectLst/>
                <a:latin typeface="Courier New" panose="02070309020205020404" pitchFamily="49" charset="0"/>
                <a:cs typeface="Courier New" panose="02070309020205020404" pitchFamily="49" charset="0"/>
              </a:rPr>
              <a:t>a</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b</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c</a:t>
            </a:r>
            <a:r>
              <a:rPr lang="pt-BR" sz="1400" b="0" i="0" dirty="0">
                <a:solidFill>
                  <a:srgbClr val="000000"/>
                </a:solidFill>
                <a:effectLst/>
                <a:latin typeface="Courier New" panose="02070309020205020404" pitchFamily="49" charset="0"/>
                <a:cs typeface="Courier New" panose="02070309020205020404" pitchFamily="49" charset="0"/>
              </a:rPr>
              <a:t>)</a:t>
            </a:r>
            <a:br>
              <a:rPr lang="pt-BR" sz="1400" b="0" i="0" dirty="0">
                <a:solidFill>
                  <a:srgbClr val="000000"/>
                </a:solidFill>
                <a:effectLst/>
                <a:latin typeface="Courier New" panose="02070309020205020404" pitchFamily="49" charset="0"/>
                <a:cs typeface="Courier New" panose="02070309020205020404" pitchFamily="49" charset="0"/>
              </a:rPr>
            </a:br>
            <a:r>
              <a:rPr lang="vi-VN"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h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g</a:t>
            </a:r>
            <a:br>
              <a:rPr lang="pt-BR" sz="1400" b="0" i="1" dirty="0">
                <a:solidFill>
                  <a:srgbClr val="000000"/>
                </a:solidFill>
                <a:effectLst/>
                <a:latin typeface="Courier New" panose="02070309020205020404" pitchFamily="49" charset="0"/>
                <a:cs typeface="Courier New" panose="02070309020205020404" pitchFamily="49" charset="0"/>
              </a:rPr>
            </a:br>
            <a:r>
              <a:rPr lang="vi-VN" sz="1400" b="0" i="1"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g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f</a:t>
            </a:r>
            <a:br>
              <a:rPr lang="pt-BR" sz="1400" b="0" i="1" dirty="0">
                <a:solidFill>
                  <a:srgbClr val="000000"/>
                </a:solidFill>
                <a:effectLst/>
                <a:latin typeface="Courier New" panose="02070309020205020404" pitchFamily="49" charset="0"/>
                <a:cs typeface="Courier New" panose="02070309020205020404" pitchFamily="49" charset="0"/>
              </a:rPr>
            </a:br>
            <a:r>
              <a:rPr lang="vi-VN" sz="1400" b="0" i="1"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f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e</a:t>
            </a:r>
            <a:br>
              <a:rPr lang="pt-BR" sz="1400" b="0" i="1" dirty="0">
                <a:solidFill>
                  <a:srgbClr val="000000"/>
                </a:solidFill>
                <a:effectLst/>
                <a:latin typeface="Courier New" panose="02070309020205020404" pitchFamily="49" charset="0"/>
                <a:cs typeface="Courier New" panose="02070309020205020404" pitchFamily="49" charset="0"/>
              </a:rPr>
            </a:br>
            <a:r>
              <a:rPr lang="vi-VN" sz="1400" b="0" i="1"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e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d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T</a:t>
            </a:r>
            <a:r>
              <a:rPr lang="pt-BR" sz="1400" b="0" i="0" dirty="0">
                <a:solidFill>
                  <a:srgbClr val="000000"/>
                </a:solidFill>
                <a:effectLst/>
                <a:latin typeface="Courier New" panose="02070309020205020404" pitchFamily="49" charset="0"/>
                <a:cs typeface="Courier New" panose="02070309020205020404" pitchFamily="49" charset="0"/>
              </a:rPr>
              <a:t>1</a:t>
            </a:r>
            <a:br>
              <a:rPr lang="pt-BR" sz="1400" b="0" i="0" dirty="0">
                <a:solidFill>
                  <a:srgbClr val="000000"/>
                </a:solidFill>
                <a:effectLst/>
                <a:latin typeface="Courier New" panose="02070309020205020404" pitchFamily="49" charset="0"/>
                <a:cs typeface="Courier New" panose="02070309020205020404" pitchFamily="49" charset="0"/>
              </a:rPr>
            </a:br>
            <a:r>
              <a:rPr lang="vi-VN"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d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c</a:t>
            </a:r>
            <a:br>
              <a:rPr lang="pt-BR" sz="1400" b="0" i="1" dirty="0">
                <a:solidFill>
                  <a:srgbClr val="000000"/>
                </a:solidFill>
                <a:effectLst/>
                <a:latin typeface="Courier New" panose="02070309020205020404" pitchFamily="49" charset="0"/>
                <a:cs typeface="Courier New" panose="02070309020205020404" pitchFamily="49" charset="0"/>
              </a:rPr>
            </a:br>
            <a:r>
              <a:rPr lang="vi-VN" sz="1400" b="0" i="1"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c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b</a:t>
            </a:r>
            <a:br>
              <a:rPr lang="pt-BR" sz="1400" b="0" i="1" dirty="0">
                <a:solidFill>
                  <a:srgbClr val="000000"/>
                </a:solidFill>
                <a:effectLst/>
                <a:latin typeface="Courier New" panose="02070309020205020404" pitchFamily="49" charset="0"/>
                <a:cs typeface="Courier New" panose="02070309020205020404" pitchFamily="49" charset="0"/>
              </a:rPr>
            </a:br>
            <a:r>
              <a:rPr lang="vi-VN" sz="1400" b="0" i="1"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b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a</a:t>
            </a:r>
            <a:br>
              <a:rPr lang="pt-BR" sz="1400" b="0" i="1" dirty="0">
                <a:solidFill>
                  <a:srgbClr val="000000"/>
                </a:solidFill>
                <a:effectLst/>
                <a:latin typeface="Courier New" panose="02070309020205020404" pitchFamily="49" charset="0"/>
                <a:cs typeface="Courier New" panose="02070309020205020404" pitchFamily="49" charset="0"/>
              </a:rPr>
            </a:br>
            <a:r>
              <a:rPr lang="vi-VN" sz="1400" b="0" i="1"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a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T</a:t>
            </a:r>
            <a:r>
              <a:rPr lang="pt-BR" sz="1400" b="0" i="0" dirty="0">
                <a:solidFill>
                  <a:srgbClr val="000000"/>
                </a:solidFill>
                <a:effectLst/>
                <a:latin typeface="Courier New" panose="02070309020205020404" pitchFamily="49" charset="0"/>
                <a:cs typeface="Courier New" panose="02070309020205020404" pitchFamily="49" charset="0"/>
              </a:rPr>
              <a:t>1 + </a:t>
            </a:r>
            <a:r>
              <a:rPr lang="pt-BR" sz="1400" b="0" i="1" dirty="0">
                <a:solidFill>
                  <a:srgbClr val="000000"/>
                </a:solidFill>
                <a:effectLst/>
                <a:latin typeface="Courier New" panose="02070309020205020404" pitchFamily="49" charset="0"/>
                <a:cs typeface="Courier New" panose="02070309020205020404" pitchFamily="49" charset="0"/>
              </a:rPr>
              <a:t>T</a:t>
            </a:r>
            <a:r>
              <a:rPr lang="pt-BR" sz="1400" b="0" i="0" dirty="0">
                <a:solidFill>
                  <a:srgbClr val="000000"/>
                </a:solidFill>
                <a:effectLst/>
                <a:latin typeface="Courier New" panose="02070309020205020404" pitchFamily="49" charset="0"/>
                <a:cs typeface="Courier New" panose="02070309020205020404" pitchFamily="49" charset="0"/>
              </a:rPr>
              <a:t>2</a:t>
            </a:r>
            <a:br>
              <a:rPr lang="pt-BR" sz="1400" b="0" i="0" dirty="0">
                <a:solidFill>
                  <a:srgbClr val="000000"/>
                </a:solidFill>
                <a:effectLst/>
                <a:latin typeface="Courier New" panose="02070309020205020404" pitchFamily="49" charset="0"/>
                <a:cs typeface="Courier New" panose="02070309020205020404" pitchFamily="49" charset="0"/>
              </a:rPr>
            </a:br>
            <a:r>
              <a:rPr lang="pt-BR" sz="1400" b="1" i="0" dirty="0">
                <a:solidFill>
                  <a:srgbClr val="000000"/>
                </a:solidFill>
                <a:effectLst/>
                <a:latin typeface="Courier New" panose="02070309020205020404" pitchFamily="49" charset="0"/>
                <a:cs typeface="Courier New" panose="02070309020205020404" pitchFamily="49" charset="0"/>
              </a:rPr>
              <a:t>return </a:t>
            </a:r>
            <a:r>
              <a:rPr lang="pt-BR" sz="1400" b="0" i="1" dirty="0">
                <a:solidFill>
                  <a:srgbClr val="000000"/>
                </a:solidFill>
                <a:effectLst/>
                <a:latin typeface="Courier New" panose="02070309020205020404" pitchFamily="49" charset="0"/>
                <a:cs typeface="Courier New" panose="02070309020205020404" pitchFamily="49" charset="0"/>
              </a:rPr>
              <a:t>X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a</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b</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c</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d</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e</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f </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g</a:t>
            </a:r>
            <a:r>
              <a:rPr lang="pt-BR" sz="1400" b="0" i="0" dirty="0">
                <a:solidFill>
                  <a:srgbClr val="000000"/>
                </a:solidFill>
                <a:effectLst/>
                <a:latin typeface="Courier New" panose="02070309020205020404" pitchFamily="49" charset="0"/>
                <a:cs typeface="Courier New" panose="02070309020205020404" pitchFamily="49" charset="0"/>
              </a:rPr>
              <a:t>, </a:t>
            </a:r>
            <a:r>
              <a:rPr lang="pt-BR" sz="1400" b="0" i="1" dirty="0">
                <a:solidFill>
                  <a:srgbClr val="000000"/>
                </a:solidFill>
                <a:effectLst/>
                <a:latin typeface="Courier New" panose="02070309020205020404" pitchFamily="49" charset="0"/>
                <a:cs typeface="Courier New" panose="02070309020205020404" pitchFamily="49" charset="0"/>
              </a:rPr>
              <a:t>h</a:t>
            </a:r>
            <a:r>
              <a:rPr lang="pt-BR" sz="1400" b="0" i="0" dirty="0">
                <a:solidFill>
                  <a:srgbClr val="000000"/>
                </a:solidFill>
                <a:effectLst/>
                <a:latin typeface="Courier New" panose="02070309020205020404" pitchFamily="49" charset="0"/>
                <a:cs typeface="Courier New" panose="02070309020205020404" pitchFamily="49" charset="0"/>
              </a:rPr>
              <a:t>]</a:t>
            </a:r>
            <a:r>
              <a:rPr lang="pt-BR" sz="1400" dirty="0">
                <a:latin typeface="Courier New" panose="02070309020205020404" pitchFamily="49" charset="0"/>
                <a:cs typeface="Courier New" panose="02070309020205020404" pitchFamily="49" charset="0"/>
              </a:rPr>
              <a:t> </a:t>
            </a:r>
            <a:endParaRPr lang="en-ID" sz="1400" dirty="0">
              <a:latin typeface="Courier New" panose="02070309020205020404" pitchFamily="49" charset="0"/>
              <a:cs typeface="Courier New" panose="02070309020205020404" pitchFamily="49" charset="0"/>
            </a:endParaRPr>
          </a:p>
        </p:txBody>
      </p:sp>
      <p:sp>
        <p:nvSpPr>
          <p:cNvPr id="18" name="TextBox 17">
            <a:extLst>
              <a:ext uri="{FF2B5EF4-FFF2-40B4-BE49-F238E27FC236}">
                <a16:creationId xmlns:a16="http://schemas.microsoft.com/office/drawing/2014/main" id="{BD324EC8-B1E4-6243-9F5F-93D5406574EE}"/>
              </a:ext>
            </a:extLst>
          </p:cNvPr>
          <p:cNvSpPr txBox="1"/>
          <p:nvPr/>
        </p:nvSpPr>
        <p:spPr>
          <a:xfrm>
            <a:off x="5105400" y="3220343"/>
            <a:ext cx="4851400" cy="954107"/>
          </a:xfrm>
          <a:prstGeom prst="rect">
            <a:avLst/>
          </a:prstGeom>
          <a:noFill/>
        </p:spPr>
        <p:txBody>
          <a:bodyPr wrap="square">
            <a:spAutoFit/>
          </a:bodyPr>
          <a:lstStyle/>
          <a:p>
            <a:r>
              <a:rPr lang="en-ID" sz="1400" b="0" i="1" dirty="0">
                <a:solidFill>
                  <a:srgbClr val="000000"/>
                </a:solidFill>
                <a:effectLst/>
                <a:latin typeface="Courier New" panose="02070309020205020404" pitchFamily="49" charset="0"/>
                <a:cs typeface="Courier New" panose="02070309020205020404" pitchFamily="49" charset="0"/>
              </a:rPr>
              <a:t>Ch</a:t>
            </a:r>
            <a:r>
              <a:rPr lang="en-ID" sz="1400" b="0" i="0" dirty="0">
                <a:solidFill>
                  <a:srgbClr val="000000"/>
                </a:solidFill>
                <a:effectLst/>
                <a:latin typeface="Courier New" panose="02070309020205020404" pitchFamily="49" charset="0"/>
                <a:cs typeface="Courier New" panose="02070309020205020404" pitchFamily="49" charset="0"/>
              </a:rPr>
              <a:t>(</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y</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z</a:t>
            </a:r>
            <a:r>
              <a:rPr lang="en-ID" sz="1400" b="0" i="0" dirty="0">
                <a:solidFill>
                  <a:srgbClr val="000000"/>
                </a:solidFill>
                <a:effectLst/>
                <a:latin typeface="Courier New" panose="02070309020205020404" pitchFamily="49" charset="0"/>
                <a:cs typeface="Courier New" panose="02070309020205020404" pitchFamily="49" charset="0"/>
              </a:rPr>
              <a:t>) = (</a:t>
            </a:r>
            <a:r>
              <a:rPr lang="en-ID" sz="1400" b="0" i="1" dirty="0">
                <a:solidFill>
                  <a:srgbClr val="000000"/>
                </a:solidFill>
                <a:effectLst/>
                <a:latin typeface="Courier New" panose="02070309020205020404" pitchFamily="49" charset="0"/>
                <a:cs typeface="Courier New" panose="02070309020205020404" pitchFamily="49" charset="0"/>
              </a:rPr>
              <a:t>x </a:t>
            </a:r>
            <a:r>
              <a:rPr lang="vi-VN" sz="1400" i="1" dirty="0">
                <a:solidFill>
                  <a:srgbClr val="000000"/>
                </a:solidFill>
                <a:latin typeface="Courier New" panose="02070309020205020404" pitchFamily="49" charset="0"/>
                <a:cs typeface="Courier New" panose="02070309020205020404" pitchFamily="49" charset="0"/>
              </a:rPr>
              <a:t>&amp;</a:t>
            </a:r>
            <a:r>
              <a:rPr lang="en-ID" sz="1400" b="0" i="1" dirty="0">
                <a:solidFill>
                  <a:srgbClr val="000000"/>
                </a:solidFill>
                <a:effectLst/>
                <a:latin typeface="Courier New" panose="02070309020205020404" pitchFamily="49" charset="0"/>
                <a:cs typeface="Courier New" panose="02070309020205020404" pitchFamily="49" charset="0"/>
              </a:rPr>
              <a:t> y</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 </a:t>
            </a:r>
            <a:r>
              <a:rPr lang="en-ID" sz="1400" b="0" i="0" dirty="0">
                <a:solidFill>
                  <a:srgbClr val="000000"/>
                </a:solidFill>
                <a:effectLst/>
                <a:latin typeface="Courier New" panose="02070309020205020404" pitchFamily="49" charset="0"/>
                <a:cs typeface="Courier New" panose="02070309020205020404" pitchFamily="49" charset="0"/>
              </a:rPr>
              <a:t>(</a:t>
            </a:r>
            <a:r>
              <a:rPr lang="vi-VN" sz="1400" b="0" i="1" dirty="0">
                <a:solidFill>
                  <a:srgbClr val="000000"/>
                </a:solidFill>
                <a:effectLst/>
                <a:latin typeface="Courier New" panose="02070309020205020404" pitchFamily="49" charset="0"/>
                <a:cs typeface="Courier New" panose="02070309020205020404" pitchFamily="49" charset="0"/>
              </a:rPr>
              <a:t>~</a:t>
            </a:r>
            <a:r>
              <a:rPr lang="en-ID" sz="1400" b="0" i="1" dirty="0">
                <a:solidFill>
                  <a:srgbClr val="000000"/>
                </a:solidFill>
                <a:effectLst/>
                <a:latin typeface="Courier New" panose="02070309020205020404" pitchFamily="49" charset="0"/>
                <a:cs typeface="Courier New" panose="02070309020205020404" pitchFamily="49" charset="0"/>
              </a:rPr>
              <a:t>x </a:t>
            </a:r>
            <a:r>
              <a:rPr lang="vi-VN" sz="1400" i="1" dirty="0">
                <a:solidFill>
                  <a:srgbClr val="000000"/>
                </a:solidFill>
                <a:latin typeface="Courier New" panose="02070309020205020404" pitchFamily="49" charset="0"/>
                <a:cs typeface="Courier New" panose="02070309020205020404" pitchFamily="49" charset="0"/>
              </a:rPr>
              <a:t>&amp;</a:t>
            </a:r>
            <a:r>
              <a:rPr lang="en-ID" sz="1400" b="0" i="1" dirty="0">
                <a:solidFill>
                  <a:srgbClr val="000000"/>
                </a:solidFill>
                <a:effectLst/>
                <a:latin typeface="Courier New" panose="02070309020205020404" pitchFamily="49" charset="0"/>
                <a:cs typeface="Courier New" panose="02070309020205020404" pitchFamily="49" charset="0"/>
              </a:rPr>
              <a:t> z</a:t>
            </a:r>
            <a:r>
              <a:rPr lang="en-ID" sz="1400" b="0" i="0" dirty="0">
                <a:solidFill>
                  <a:srgbClr val="000000"/>
                </a:solidFill>
                <a:effectLst/>
                <a:latin typeface="Courier New" panose="02070309020205020404" pitchFamily="49" charset="0"/>
                <a:cs typeface="Courier New" panose="02070309020205020404" pitchFamily="49" charset="0"/>
              </a:rPr>
              <a:t>)</a:t>
            </a:r>
            <a:br>
              <a:rPr lang="en-ID" sz="1400" b="0" i="0" dirty="0">
                <a:solidFill>
                  <a:srgbClr val="000000"/>
                </a:solidFill>
                <a:effectLst/>
                <a:latin typeface="Courier New" panose="02070309020205020404" pitchFamily="49" charset="0"/>
                <a:cs typeface="Courier New" panose="02070309020205020404" pitchFamily="49" charset="0"/>
              </a:rPr>
            </a:br>
            <a:r>
              <a:rPr lang="en-ID" sz="1400" b="0" i="1" dirty="0">
                <a:solidFill>
                  <a:srgbClr val="000000"/>
                </a:solidFill>
                <a:effectLst/>
                <a:latin typeface="Courier New" panose="02070309020205020404" pitchFamily="49" charset="0"/>
                <a:cs typeface="Courier New" panose="02070309020205020404" pitchFamily="49" charset="0"/>
              </a:rPr>
              <a:t>Maj</a:t>
            </a:r>
            <a:r>
              <a:rPr lang="en-ID" sz="1400" b="0" i="0" dirty="0">
                <a:solidFill>
                  <a:srgbClr val="000000"/>
                </a:solidFill>
                <a:effectLst/>
                <a:latin typeface="Courier New" panose="02070309020205020404" pitchFamily="49" charset="0"/>
                <a:cs typeface="Courier New" panose="02070309020205020404" pitchFamily="49" charset="0"/>
              </a:rPr>
              <a:t>(</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y</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z</a:t>
            </a:r>
            <a:r>
              <a:rPr lang="en-ID" sz="1400" b="0" i="0" dirty="0">
                <a:solidFill>
                  <a:srgbClr val="000000"/>
                </a:solidFill>
                <a:effectLst/>
                <a:latin typeface="Courier New" panose="02070309020205020404" pitchFamily="49" charset="0"/>
                <a:cs typeface="Courier New" panose="02070309020205020404" pitchFamily="49" charset="0"/>
              </a:rPr>
              <a:t>) = (</a:t>
            </a:r>
            <a:r>
              <a:rPr lang="en-ID" sz="1400" b="0" i="1" dirty="0">
                <a:solidFill>
                  <a:srgbClr val="000000"/>
                </a:solidFill>
                <a:effectLst/>
                <a:latin typeface="Courier New" panose="02070309020205020404" pitchFamily="49" charset="0"/>
                <a:cs typeface="Courier New" panose="02070309020205020404" pitchFamily="49" charset="0"/>
              </a:rPr>
              <a:t>x </a:t>
            </a:r>
            <a:r>
              <a:rPr lang="vi-VN" sz="1400" b="0" i="1" dirty="0">
                <a:solidFill>
                  <a:srgbClr val="000000"/>
                </a:solidFill>
                <a:effectLst/>
                <a:latin typeface="Courier New" panose="02070309020205020404" pitchFamily="49" charset="0"/>
                <a:cs typeface="Courier New" panose="02070309020205020404" pitchFamily="49" charset="0"/>
              </a:rPr>
              <a:t>&amp;</a:t>
            </a:r>
            <a:r>
              <a:rPr lang="en-ID" sz="1400" b="0" i="1" dirty="0">
                <a:solidFill>
                  <a:srgbClr val="000000"/>
                </a:solidFill>
                <a:effectLst/>
                <a:latin typeface="Courier New" panose="02070309020205020404" pitchFamily="49" charset="0"/>
                <a:cs typeface="Courier New" panose="02070309020205020404" pitchFamily="49" charset="0"/>
              </a:rPr>
              <a:t> y</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 </a:t>
            </a:r>
            <a:r>
              <a:rPr lang="en-ID" sz="1400" b="0" i="0" dirty="0">
                <a:solidFill>
                  <a:srgbClr val="000000"/>
                </a:solidFill>
                <a:effectLst/>
                <a:latin typeface="Courier New" panose="02070309020205020404" pitchFamily="49" charset="0"/>
                <a:cs typeface="Courier New" panose="02070309020205020404" pitchFamily="49" charset="0"/>
              </a:rPr>
              <a:t>(</a:t>
            </a:r>
            <a:r>
              <a:rPr lang="en-ID" sz="1400" b="0" i="1" dirty="0">
                <a:solidFill>
                  <a:srgbClr val="000000"/>
                </a:solidFill>
                <a:effectLst/>
                <a:latin typeface="Courier New" panose="02070309020205020404" pitchFamily="49" charset="0"/>
                <a:cs typeface="Courier New" panose="02070309020205020404" pitchFamily="49" charset="0"/>
              </a:rPr>
              <a:t>x </a:t>
            </a:r>
            <a:r>
              <a:rPr lang="vi-VN" sz="1400" b="0" i="1" dirty="0">
                <a:solidFill>
                  <a:srgbClr val="000000"/>
                </a:solidFill>
                <a:effectLst/>
                <a:latin typeface="Courier New" panose="02070309020205020404" pitchFamily="49" charset="0"/>
                <a:cs typeface="Courier New" panose="02070309020205020404" pitchFamily="49" charset="0"/>
              </a:rPr>
              <a:t>&amp;</a:t>
            </a:r>
            <a:r>
              <a:rPr lang="en-ID" sz="1400" b="0" i="1" dirty="0">
                <a:solidFill>
                  <a:srgbClr val="000000"/>
                </a:solidFill>
                <a:effectLst/>
                <a:latin typeface="Courier New" panose="02070309020205020404" pitchFamily="49" charset="0"/>
                <a:cs typeface="Courier New" panose="02070309020205020404" pitchFamily="49" charset="0"/>
              </a:rPr>
              <a:t> z</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 </a:t>
            </a:r>
            <a:r>
              <a:rPr lang="en-ID" sz="1400" b="0" i="0" dirty="0">
                <a:solidFill>
                  <a:srgbClr val="000000"/>
                </a:solidFill>
                <a:effectLst/>
                <a:latin typeface="Courier New" panose="02070309020205020404" pitchFamily="49" charset="0"/>
                <a:cs typeface="Courier New" panose="02070309020205020404" pitchFamily="49" charset="0"/>
              </a:rPr>
              <a:t>(</a:t>
            </a:r>
            <a:r>
              <a:rPr lang="en-ID" sz="1400" b="0" i="1" dirty="0">
                <a:solidFill>
                  <a:srgbClr val="000000"/>
                </a:solidFill>
                <a:effectLst/>
                <a:latin typeface="Courier New" panose="02070309020205020404" pitchFamily="49" charset="0"/>
                <a:cs typeface="Courier New" panose="02070309020205020404" pitchFamily="49" charset="0"/>
              </a:rPr>
              <a:t>y </a:t>
            </a:r>
            <a:r>
              <a:rPr lang="vi-VN" sz="1400" b="0" i="1" dirty="0">
                <a:solidFill>
                  <a:srgbClr val="000000"/>
                </a:solidFill>
                <a:effectLst/>
                <a:latin typeface="Courier New" panose="02070309020205020404" pitchFamily="49" charset="0"/>
                <a:cs typeface="Courier New" panose="02070309020205020404" pitchFamily="49" charset="0"/>
              </a:rPr>
              <a:t>&amp;</a:t>
            </a:r>
            <a:r>
              <a:rPr lang="en-ID" sz="1400" b="0" i="1" dirty="0">
                <a:solidFill>
                  <a:srgbClr val="000000"/>
                </a:solidFill>
                <a:effectLst/>
                <a:latin typeface="Courier New" panose="02070309020205020404" pitchFamily="49" charset="0"/>
                <a:cs typeface="Courier New" panose="02070309020205020404" pitchFamily="49" charset="0"/>
              </a:rPr>
              <a:t> z</a:t>
            </a:r>
            <a:r>
              <a:rPr lang="en-ID" sz="1400" b="0" i="0" dirty="0">
                <a:solidFill>
                  <a:srgbClr val="000000"/>
                </a:solidFill>
                <a:effectLst/>
                <a:latin typeface="Courier New" panose="02070309020205020404" pitchFamily="49" charset="0"/>
                <a:cs typeface="Courier New" panose="02070309020205020404" pitchFamily="49" charset="0"/>
              </a:rPr>
              <a:t>)</a:t>
            </a:r>
            <a:br>
              <a:rPr lang="en-ID" sz="1400" b="0" i="0" dirty="0">
                <a:solidFill>
                  <a:srgbClr val="000000"/>
                </a:solidFill>
                <a:effectLst/>
                <a:latin typeface="Courier New" panose="02070309020205020404" pitchFamily="49" charset="0"/>
                <a:cs typeface="Courier New" panose="02070309020205020404" pitchFamily="49" charset="0"/>
              </a:rPr>
            </a:br>
            <a:r>
              <a:rPr lang="en-ID" sz="1400" b="0" i="0" dirty="0">
                <a:solidFill>
                  <a:srgbClr val="000000"/>
                </a:solidFill>
                <a:effectLst/>
                <a:latin typeface="Courier New" panose="02070309020205020404" pitchFamily="49" charset="0"/>
                <a:cs typeface="Courier New" panose="02070309020205020404" pitchFamily="49" charset="0"/>
              </a:rPr>
              <a:t>S0(</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 ROTR2(</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 </a:t>
            </a:r>
            <a:r>
              <a:rPr lang="en-ID" sz="1400" b="0" i="0" dirty="0">
                <a:solidFill>
                  <a:srgbClr val="000000"/>
                </a:solidFill>
                <a:effectLst/>
                <a:latin typeface="Courier New" panose="02070309020205020404" pitchFamily="49" charset="0"/>
                <a:cs typeface="Courier New" panose="02070309020205020404" pitchFamily="49" charset="0"/>
              </a:rPr>
              <a:t>ROTR13(</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 </a:t>
            </a:r>
            <a:r>
              <a:rPr lang="en-ID" sz="1400" b="0" i="0" dirty="0">
                <a:solidFill>
                  <a:srgbClr val="000000"/>
                </a:solidFill>
                <a:effectLst/>
                <a:latin typeface="Courier New" panose="02070309020205020404" pitchFamily="49" charset="0"/>
                <a:cs typeface="Courier New" panose="02070309020205020404" pitchFamily="49" charset="0"/>
              </a:rPr>
              <a:t>ROTR22(</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a:t>
            </a:r>
            <a:br>
              <a:rPr lang="en-ID" sz="1400" b="0" i="0" dirty="0">
                <a:solidFill>
                  <a:srgbClr val="000000"/>
                </a:solidFill>
                <a:effectLst/>
                <a:latin typeface="Courier New" panose="02070309020205020404" pitchFamily="49" charset="0"/>
                <a:cs typeface="Courier New" panose="02070309020205020404" pitchFamily="49" charset="0"/>
              </a:rPr>
            </a:br>
            <a:r>
              <a:rPr lang="en-ID" sz="1400" b="0" i="0" dirty="0">
                <a:solidFill>
                  <a:srgbClr val="000000"/>
                </a:solidFill>
                <a:effectLst/>
                <a:latin typeface="Courier New" panose="02070309020205020404" pitchFamily="49" charset="0"/>
                <a:cs typeface="Courier New" panose="02070309020205020404" pitchFamily="49" charset="0"/>
              </a:rPr>
              <a:t>S1(</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 ROTR6(</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 </a:t>
            </a:r>
            <a:r>
              <a:rPr lang="en-ID" sz="1400" b="0" i="0" dirty="0">
                <a:solidFill>
                  <a:srgbClr val="000000"/>
                </a:solidFill>
                <a:effectLst/>
                <a:latin typeface="Courier New" panose="02070309020205020404" pitchFamily="49" charset="0"/>
                <a:cs typeface="Courier New" panose="02070309020205020404" pitchFamily="49" charset="0"/>
              </a:rPr>
              <a:t>ROTR11(</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 </a:t>
            </a:r>
            <a:r>
              <a:rPr lang="en-ID" sz="1400" b="0" i="1" dirty="0">
                <a:solidFill>
                  <a:srgbClr val="000000"/>
                </a:solidFill>
                <a:effectLst/>
                <a:latin typeface="Courier New" panose="02070309020205020404" pitchFamily="49" charset="0"/>
                <a:cs typeface="Courier New" panose="02070309020205020404" pitchFamily="49" charset="0"/>
              </a:rPr>
              <a:t>⊕ </a:t>
            </a:r>
            <a:r>
              <a:rPr lang="en-ID" sz="1400" b="0" i="0" dirty="0">
                <a:solidFill>
                  <a:srgbClr val="000000"/>
                </a:solidFill>
                <a:effectLst/>
                <a:latin typeface="Courier New" panose="02070309020205020404" pitchFamily="49" charset="0"/>
                <a:cs typeface="Courier New" panose="02070309020205020404" pitchFamily="49" charset="0"/>
              </a:rPr>
              <a:t>ROTR25(</a:t>
            </a:r>
            <a:r>
              <a:rPr lang="en-ID" sz="1400" b="0" i="1" dirty="0">
                <a:solidFill>
                  <a:srgbClr val="000000"/>
                </a:solidFill>
                <a:effectLst/>
                <a:latin typeface="Courier New" panose="02070309020205020404" pitchFamily="49" charset="0"/>
                <a:cs typeface="Courier New" panose="02070309020205020404" pitchFamily="49" charset="0"/>
              </a:rPr>
              <a:t>x</a:t>
            </a:r>
            <a:r>
              <a:rPr lang="en-ID" sz="1400" b="0" i="0" dirty="0">
                <a:solidFill>
                  <a:srgbClr val="000000"/>
                </a:solidFill>
                <a:effectLst/>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a:t>
            </a:r>
          </a:p>
        </p:txBody>
      </p:sp>
      <p:sp>
        <p:nvSpPr>
          <p:cNvPr id="11" name="object 2">
            <a:extLst>
              <a:ext uri="{FF2B5EF4-FFF2-40B4-BE49-F238E27FC236}">
                <a16:creationId xmlns:a16="http://schemas.microsoft.com/office/drawing/2014/main" id="{3D4EA62D-4F85-39C6-B11E-34183EDFB566}"/>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2851113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AB32F2-F635-32BF-7F02-6F7EB2DB76D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F1C89F7-AAB2-C7D0-8869-493EE7E28749}"/>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BD1CFCC-D385-47DA-9DE3-69D18EE8998B}"/>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14</a:t>
            </a:fld>
            <a:endParaRPr spc="-25" dirty="0"/>
          </a:p>
        </p:txBody>
      </p:sp>
      <p:sp>
        <p:nvSpPr>
          <p:cNvPr id="6" name="object 6">
            <a:extLst>
              <a:ext uri="{FF2B5EF4-FFF2-40B4-BE49-F238E27FC236}">
                <a16:creationId xmlns:a16="http://schemas.microsoft.com/office/drawing/2014/main" id="{0DEE04DE-C2FA-AEF6-5CF0-2660B2DE5038}"/>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3" name="object 3">
            <a:extLst>
              <a:ext uri="{FF2B5EF4-FFF2-40B4-BE49-F238E27FC236}">
                <a16:creationId xmlns:a16="http://schemas.microsoft.com/office/drawing/2014/main" id="{BE3C0E5A-83AD-24F0-8701-14348AB4CE5A}"/>
              </a:ext>
            </a:extLst>
          </p:cNvPr>
          <p:cNvSpPr txBox="1"/>
          <p:nvPr/>
        </p:nvSpPr>
        <p:spPr>
          <a:xfrm>
            <a:off x="457198" y="1052771"/>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1.1.2 Key features of the </a:t>
            </a:r>
            <a:r>
              <a:rPr lang="vi-VN" sz="3000" b="1" dirty="0">
                <a:solidFill>
                  <a:srgbClr val="7C45AD"/>
                </a:solidFill>
                <a:latin typeface="Arial"/>
                <a:cs typeface="Arial"/>
              </a:rPr>
              <a:t>SHA-256 </a:t>
            </a:r>
            <a:r>
              <a:rPr lang="vi-VN" sz="3000" b="1" dirty="0" err="1">
                <a:solidFill>
                  <a:srgbClr val="7C45AD"/>
                </a:solidFill>
                <a:latin typeface="Arial"/>
                <a:cs typeface="Arial"/>
              </a:rPr>
              <a:t>Algorithm</a:t>
            </a:r>
            <a:endParaRPr lang="en-US" sz="3000" b="1" dirty="0">
              <a:solidFill>
                <a:srgbClr val="7C45AD"/>
              </a:solidFill>
              <a:latin typeface="Arial"/>
              <a:cs typeface="Arial"/>
            </a:endParaRPr>
          </a:p>
        </p:txBody>
      </p:sp>
      <p:sp>
        <p:nvSpPr>
          <p:cNvPr id="7" name="object 3">
            <a:extLst>
              <a:ext uri="{FF2B5EF4-FFF2-40B4-BE49-F238E27FC236}">
                <a16:creationId xmlns:a16="http://schemas.microsoft.com/office/drawing/2014/main" id="{E3EECF6B-75BA-41F9-8856-FCD9BD9E8853}"/>
              </a:ext>
            </a:extLst>
          </p:cNvPr>
          <p:cNvSpPr txBox="1"/>
          <p:nvPr/>
        </p:nvSpPr>
        <p:spPr>
          <a:xfrm>
            <a:off x="457200" y="1596285"/>
            <a:ext cx="10896600" cy="764953"/>
          </a:xfrm>
          <a:prstGeom prst="rect">
            <a:avLst/>
          </a:prstGeom>
        </p:spPr>
        <p:txBody>
          <a:bodyPr vert="horz" wrap="square" lIns="0" tIns="13335" rIns="0" bIns="0" rtlCol="0">
            <a:spAutoFit/>
          </a:bodyPr>
          <a:lstStyle/>
          <a:p>
            <a:pPr marL="12700">
              <a:lnSpc>
                <a:spcPct val="100000"/>
              </a:lnSpc>
              <a:spcBef>
                <a:spcPts val="105"/>
              </a:spcBef>
            </a:pPr>
            <a:r>
              <a:rPr lang="vi-VN" sz="2400" b="1" dirty="0" err="1">
                <a:solidFill>
                  <a:srgbClr val="7C45AD"/>
                </a:solidFill>
                <a:latin typeface="Arial"/>
                <a:cs typeface="Arial"/>
              </a:rPr>
              <a:t>Hash</a:t>
            </a:r>
            <a:r>
              <a:rPr lang="vi-VN" sz="2400" b="1" dirty="0">
                <a:solidFill>
                  <a:srgbClr val="7C45AD"/>
                </a:solidFill>
                <a:latin typeface="Arial"/>
                <a:cs typeface="Arial"/>
              </a:rPr>
              <a:t> </a:t>
            </a:r>
            <a:r>
              <a:rPr lang="vi-VN" sz="2400" b="1" dirty="0" err="1">
                <a:solidFill>
                  <a:srgbClr val="7C45AD"/>
                </a:solidFill>
                <a:latin typeface="Arial"/>
                <a:cs typeface="Arial"/>
              </a:rPr>
              <a:t>Computing</a:t>
            </a:r>
            <a:r>
              <a:rPr lang="vi-VN" sz="2400" b="1" dirty="0">
                <a:solidFill>
                  <a:srgbClr val="7C45AD"/>
                </a:solidFill>
                <a:latin typeface="Arial"/>
                <a:cs typeface="Arial"/>
              </a:rPr>
              <a:t> </a:t>
            </a:r>
            <a:r>
              <a:rPr lang="vi-VN" sz="2400" b="1" dirty="0" err="1">
                <a:solidFill>
                  <a:srgbClr val="7C45AD"/>
                </a:solidFill>
                <a:latin typeface="Arial"/>
                <a:cs typeface="Arial"/>
              </a:rPr>
              <a:t>Stage</a:t>
            </a:r>
            <a:r>
              <a:rPr lang="vi-VN" sz="2400" b="1" dirty="0">
                <a:solidFill>
                  <a:srgbClr val="7C45AD"/>
                </a:solidFill>
                <a:latin typeface="Arial"/>
                <a:cs typeface="Arial"/>
              </a:rPr>
              <a:t>:</a:t>
            </a:r>
          </a:p>
          <a:p>
            <a:pPr marL="12700">
              <a:lnSpc>
                <a:spcPct val="100000"/>
              </a:lnSpc>
              <a:spcBef>
                <a:spcPts val="105"/>
              </a:spcBef>
            </a:pPr>
            <a:r>
              <a:rPr lang="vi-VN" sz="2400" b="1" dirty="0">
                <a:solidFill>
                  <a:srgbClr val="7C45AD"/>
                </a:solidFill>
                <a:latin typeface="Arial"/>
                <a:cs typeface="Arial"/>
              </a:rPr>
              <a:t>2. </a:t>
            </a:r>
            <a:r>
              <a:rPr lang="vi-VN" sz="2400" b="1" dirty="0" err="1">
                <a:solidFill>
                  <a:srgbClr val="7C45AD"/>
                </a:solidFill>
                <a:latin typeface="Arial"/>
                <a:cs typeface="Arial"/>
              </a:rPr>
              <a:t>Compression</a:t>
            </a:r>
            <a:endParaRPr lang="en-US" sz="2400" b="1" dirty="0">
              <a:solidFill>
                <a:srgbClr val="7C45AD"/>
              </a:solidFill>
              <a:latin typeface="Arial"/>
              <a:cs typeface="Arial"/>
            </a:endParaRPr>
          </a:p>
        </p:txBody>
      </p:sp>
      <p:sp>
        <p:nvSpPr>
          <p:cNvPr id="10" name="TextBox 9">
            <a:extLst>
              <a:ext uri="{FF2B5EF4-FFF2-40B4-BE49-F238E27FC236}">
                <a16:creationId xmlns:a16="http://schemas.microsoft.com/office/drawing/2014/main" id="{7F995EE2-FE62-BA37-2C29-196E95BAF16B}"/>
              </a:ext>
            </a:extLst>
          </p:cNvPr>
          <p:cNvSpPr txBox="1"/>
          <p:nvPr/>
        </p:nvSpPr>
        <p:spPr>
          <a:xfrm>
            <a:off x="457199" y="2389346"/>
            <a:ext cx="10439401"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After 64 iterations, the intermediate hash </a:t>
            </a:r>
            <a:r>
              <a:rPr lang="en-US" sz="1600" i="1" dirty="0">
                <a:latin typeface="Arial" panose="020B0604020202020204" pitchFamily="34" charset="0"/>
                <a:cs typeface="Arial" panose="020B0604020202020204" pitchFamily="34" charset="0"/>
              </a:rPr>
              <a:t>H</a:t>
            </a:r>
            <a:r>
              <a:rPr lang="en-US" sz="1600" baseline="30000" dirty="0">
                <a:latin typeface="Arial" panose="020B0604020202020204" pitchFamily="34" charset="0"/>
                <a:cs typeface="Arial" panose="020B0604020202020204" pitchFamily="34" charset="0"/>
              </a:rPr>
              <a:t>(</a:t>
            </a:r>
            <a:r>
              <a:rPr lang="en-US" sz="1600" i="1" baseline="30000" dirty="0" err="1">
                <a:latin typeface="Arial" panose="020B0604020202020204" pitchFamily="34" charset="0"/>
                <a:cs typeface="Arial" panose="020B0604020202020204" pitchFamily="34" charset="0"/>
              </a:rPr>
              <a:t>i</a:t>
            </a:r>
            <a:r>
              <a:rPr lang="en-US" sz="1600" baseline="300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for the respective block is computed</a:t>
            </a:r>
            <a:r>
              <a:rPr lang="vi-VN"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as the sum of initialization hash </a:t>
            </a:r>
            <a:r>
              <a:rPr lang="en-US" sz="1600" i="1" dirty="0">
                <a:latin typeface="Arial" panose="020B0604020202020204" pitchFamily="34" charset="0"/>
                <a:cs typeface="Arial" panose="020B0604020202020204" pitchFamily="34" charset="0"/>
              </a:rPr>
              <a:t>H</a:t>
            </a:r>
            <a:r>
              <a:rPr lang="en-US" sz="1600" baseline="30000" dirty="0">
                <a:latin typeface="Arial" panose="020B0604020202020204" pitchFamily="34" charset="0"/>
                <a:cs typeface="Arial" panose="020B0604020202020204" pitchFamily="34" charset="0"/>
              </a:rPr>
              <a:t>(</a:t>
            </a:r>
            <a:r>
              <a:rPr lang="en-US" sz="1600" i="1" baseline="30000" dirty="0">
                <a:latin typeface="Arial" panose="020B0604020202020204" pitchFamily="34" charset="0"/>
                <a:cs typeface="Arial" panose="020B0604020202020204" pitchFamily="34" charset="0"/>
              </a:rPr>
              <a:t>i-</a:t>
            </a:r>
            <a:r>
              <a:rPr lang="en-US" sz="1600" baseline="30000" dirty="0">
                <a:latin typeface="Arial" panose="020B0604020202020204" pitchFamily="34" charset="0"/>
                <a:cs typeface="Arial" panose="020B0604020202020204" pitchFamily="34" charset="0"/>
              </a:rPr>
              <a:t>1) </a:t>
            </a:r>
            <a:r>
              <a:rPr lang="en-US" sz="1600" dirty="0">
                <a:latin typeface="Arial" panose="020B0604020202020204" pitchFamily="34" charset="0"/>
                <a:cs typeface="Arial" panose="020B0604020202020204" pitchFamily="34" charset="0"/>
              </a:rPr>
              <a:t>with the final value</a:t>
            </a:r>
            <a:r>
              <a:rPr lang="vi-VN" sz="1600" dirty="0">
                <a:latin typeface="Arial" panose="020B0604020202020204" pitchFamily="34" charset="0"/>
                <a:cs typeface="Arial" panose="020B0604020202020204" pitchFamily="34" charset="0"/>
              </a:rPr>
              <a:t> in </a:t>
            </a:r>
            <a:r>
              <a:rPr lang="vi-VN" sz="1600" b="1" dirty="0" err="1">
                <a:latin typeface="Arial" panose="020B0604020202020204" pitchFamily="34" charset="0"/>
                <a:cs typeface="Arial" panose="020B0604020202020204" pitchFamily="34" charset="0"/>
              </a:rPr>
              <a:t>Compression</a:t>
            </a:r>
            <a:r>
              <a:rPr lang="vi-VN" sz="1600" b="1" dirty="0">
                <a:latin typeface="Arial" panose="020B0604020202020204" pitchFamily="34" charset="0"/>
                <a:cs typeface="Arial" panose="020B0604020202020204" pitchFamily="34" charset="0"/>
              </a:rPr>
              <a:t> </a:t>
            </a:r>
            <a:r>
              <a:rPr lang="vi-VN" sz="1600" b="1" dirty="0" err="1">
                <a:latin typeface="Arial" panose="020B0604020202020204" pitchFamily="34" charset="0"/>
                <a:cs typeface="Arial" panose="020B0604020202020204" pitchFamily="34" charset="0"/>
              </a:rPr>
              <a:t>Function</a:t>
            </a:r>
            <a:r>
              <a:rPr lang="en-US" sz="1600" dirty="0">
                <a:latin typeface="Arial" panose="020B0604020202020204" pitchFamily="34" charset="0"/>
                <a:cs typeface="Arial" panose="020B0604020202020204" pitchFamily="34" charset="0"/>
              </a:rPr>
              <a:t>.</a:t>
            </a:r>
            <a:r>
              <a:rPr lang="vi-VN"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This operation sequence is</a:t>
            </a:r>
            <a:r>
              <a:rPr lang="vi-VN"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repeated for each message block (</a:t>
            </a:r>
            <a:r>
              <a:rPr lang="en-US" sz="1600" i="1" dirty="0" err="1">
                <a:latin typeface="Arial" panose="020B0604020202020204" pitchFamily="34" charset="0"/>
                <a:cs typeface="Arial" panose="020B0604020202020204" pitchFamily="34" charset="0"/>
              </a:rPr>
              <a:t>i</a:t>
            </a:r>
            <a:r>
              <a:rPr lang="en-US" sz="1600" i="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 1, 2, . . . , </a:t>
            </a:r>
            <a:r>
              <a:rPr lang="en-US" sz="1600" i="1" dirty="0">
                <a:latin typeface="Arial" panose="020B0604020202020204" pitchFamily="34" charset="0"/>
                <a:cs typeface="Arial" panose="020B0604020202020204" pitchFamily="34" charset="0"/>
              </a:rPr>
              <a:t>N</a:t>
            </a:r>
            <a:r>
              <a:rPr lang="en-US" sz="1600" dirty="0">
                <a:latin typeface="Arial" panose="020B0604020202020204" pitchFamily="34" charset="0"/>
                <a:cs typeface="Arial" panose="020B0604020202020204" pitchFamily="34" charset="0"/>
              </a:rPr>
              <a:t>), and the</a:t>
            </a:r>
            <a:r>
              <a:rPr lang="vi-VN"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final 256-bit message digest is obtained by concatenating the result hashes for </a:t>
            </a:r>
            <a:r>
              <a:rPr lang="en-US" sz="1600" i="1" dirty="0" err="1">
                <a:latin typeface="Arial" panose="020B0604020202020204" pitchFamily="34" charset="0"/>
                <a:cs typeface="Arial" panose="020B0604020202020204" pitchFamily="34" charset="0"/>
              </a:rPr>
              <a:t>i</a:t>
            </a:r>
            <a:r>
              <a:rPr lang="en-US" sz="1600" i="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 </a:t>
            </a:r>
            <a:r>
              <a:rPr lang="vi-VN" sz="1600" i="1" dirty="0">
                <a:latin typeface="Arial" panose="020B0604020202020204" pitchFamily="34" charset="0"/>
                <a:cs typeface="Arial" panose="020B0604020202020204" pitchFamily="34" charset="0"/>
              </a:rPr>
              <a:t>N.</a:t>
            </a:r>
            <a:endParaRPr lang="en-ID"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0EA7A190-74B3-150C-5C35-800E78D0A9A3}"/>
              </a:ext>
            </a:extLst>
          </p:cNvPr>
          <p:cNvSpPr txBox="1"/>
          <p:nvPr/>
        </p:nvSpPr>
        <p:spPr>
          <a:xfrm>
            <a:off x="457198" y="3248451"/>
            <a:ext cx="8915401" cy="1815882"/>
          </a:xfrm>
          <a:prstGeom prst="rect">
            <a:avLst/>
          </a:prstGeom>
          <a:noFill/>
        </p:spPr>
        <p:txBody>
          <a:bodyPr wrap="square">
            <a:spAutoFit/>
          </a:bodyPr>
          <a:lstStyle/>
          <a:p>
            <a:r>
              <a:rPr lang="en-ID" sz="1400" dirty="0">
                <a:latin typeface="Courier New" panose="02070309020205020404" pitchFamily="49" charset="0"/>
                <a:cs typeface="Courier New" panose="02070309020205020404" pitchFamily="49" charset="0"/>
              </a:rPr>
              <a:t>Initialization()</a:t>
            </a:r>
          </a:p>
          <a:p>
            <a:r>
              <a:rPr lang="en-ID" sz="1400" dirty="0">
                <a:latin typeface="Courier New" panose="02070309020205020404" pitchFamily="49" charset="0"/>
                <a:cs typeface="Courier New" panose="02070309020205020404" pitchFamily="49" charset="0"/>
              </a:rPr>
              <a:t>M = Padding(message)</a:t>
            </a:r>
          </a:p>
          <a:p>
            <a:r>
              <a:rPr lang="en-ID" sz="1400" dirty="0">
                <a:latin typeface="Courier New" panose="02070309020205020404" pitchFamily="49" charset="0"/>
                <a:cs typeface="Courier New" panose="02070309020205020404" pitchFamily="49" charset="0"/>
              </a:rPr>
              <a:t>for </a:t>
            </a:r>
            <a:r>
              <a:rPr lang="en-ID" sz="1400" dirty="0" err="1">
                <a:latin typeface="Courier New" panose="02070309020205020404" pitchFamily="49" charset="0"/>
                <a:cs typeface="Courier New" panose="02070309020205020404" pitchFamily="49" charset="0"/>
              </a:rPr>
              <a:t>i</a:t>
            </a:r>
            <a:r>
              <a:rPr lang="en-ID" sz="1400" dirty="0">
                <a:latin typeface="Courier New" panose="02070309020205020404" pitchFamily="49" charset="0"/>
                <a:cs typeface="Courier New" panose="02070309020205020404" pitchFamily="49" charset="0"/>
              </a:rPr>
              <a:t> from 1 to N do</a:t>
            </a:r>
          </a:p>
          <a:p>
            <a:r>
              <a:rPr lang="en-ID" sz="1400" dirty="0">
                <a:latin typeface="Courier New" panose="02070309020205020404" pitchFamily="49" charset="0"/>
                <a:cs typeface="Courier New" panose="02070309020205020404" pitchFamily="49" charset="0"/>
              </a:rPr>
              <a:t>    W = Expansion(M(</a:t>
            </a:r>
            <a:r>
              <a:rPr lang="en-ID" sz="1400" dirty="0" err="1">
                <a:latin typeface="Courier New" panose="02070309020205020404" pitchFamily="49" charset="0"/>
                <a:cs typeface="Courier New" panose="02070309020205020404" pitchFamily="49" charset="0"/>
              </a:rPr>
              <a:t>i</a:t>
            </a:r>
            <a:r>
              <a:rPr lang="en-ID" sz="1400" dirty="0">
                <a:latin typeface="Courier New" panose="02070309020205020404" pitchFamily="49" charset="0"/>
                <a:cs typeface="Courier New" panose="02070309020205020404" pitchFamily="49" charset="0"/>
              </a:rPr>
              <a:t>))</a:t>
            </a:r>
          </a:p>
          <a:p>
            <a:r>
              <a:rPr lang="en-ID" sz="1400" dirty="0">
                <a:latin typeface="Courier New" panose="02070309020205020404" pitchFamily="49" charset="0"/>
                <a:cs typeface="Courier New" panose="02070309020205020404" pitchFamily="49" charset="0"/>
              </a:rPr>
              <a:t>    X = Compression(W)</a:t>
            </a:r>
          </a:p>
          <a:p>
            <a:r>
              <a:rPr lang="en-ID" sz="1400" dirty="0">
                <a:latin typeface="Courier New" panose="02070309020205020404" pitchFamily="49" charset="0"/>
                <a:cs typeface="Courier New" panose="02070309020205020404" pitchFamily="49" charset="0"/>
              </a:rPr>
              <a:t>    for j from 0 to 7 do</a:t>
            </a:r>
          </a:p>
          <a:p>
            <a:r>
              <a:rPr lang="en-ID" sz="1400" dirty="0">
                <a:latin typeface="Courier New" panose="02070309020205020404" pitchFamily="49" charset="0"/>
                <a:cs typeface="Courier New" panose="02070309020205020404" pitchFamily="49" charset="0"/>
              </a:rPr>
              <a:t>        H(</a:t>
            </a:r>
            <a:r>
              <a:rPr lang="en-ID" sz="1400" dirty="0" err="1">
                <a:latin typeface="Courier New" panose="02070309020205020404" pitchFamily="49" charset="0"/>
                <a:cs typeface="Courier New" panose="02070309020205020404" pitchFamily="49" charset="0"/>
              </a:rPr>
              <a:t>i</a:t>
            </a:r>
            <a:r>
              <a:rPr lang="en-ID" sz="1400" dirty="0">
                <a:latin typeface="Courier New" panose="02070309020205020404" pitchFamily="49" charset="0"/>
                <a:cs typeface="Courier New" panose="02070309020205020404" pitchFamily="49" charset="0"/>
              </a:rPr>
              <a:t>)j = </a:t>
            </a:r>
            <a:r>
              <a:rPr lang="en-ID" sz="1400" dirty="0" err="1">
                <a:latin typeface="Courier New" panose="02070309020205020404" pitchFamily="49" charset="0"/>
                <a:cs typeface="Courier New" panose="02070309020205020404" pitchFamily="49" charset="0"/>
              </a:rPr>
              <a:t>Xj</a:t>
            </a:r>
            <a:r>
              <a:rPr lang="en-ID" sz="1400" dirty="0">
                <a:latin typeface="Courier New" panose="02070309020205020404" pitchFamily="49" charset="0"/>
                <a:cs typeface="Courier New" panose="02070309020205020404" pitchFamily="49" charset="0"/>
              </a:rPr>
              <a:t> + </a:t>
            </a:r>
            <a:r>
              <a:rPr lang="en-ID" sz="1400" dirty="0" err="1">
                <a:latin typeface="Courier New" panose="02070309020205020404" pitchFamily="49" charset="0"/>
                <a:cs typeface="Courier New" panose="02070309020205020404" pitchFamily="49" charset="0"/>
              </a:rPr>
              <a:t>Hj</a:t>
            </a:r>
            <a:r>
              <a:rPr lang="en-ID" sz="1400" dirty="0">
                <a:latin typeface="Courier New" panose="02070309020205020404" pitchFamily="49" charset="0"/>
                <a:cs typeface="Courier New" panose="02070309020205020404" pitchFamily="49" charset="0"/>
              </a:rPr>
              <a:t>(i−1)</a:t>
            </a:r>
          </a:p>
          <a:p>
            <a:r>
              <a:rPr lang="en-ID" sz="1400" dirty="0">
                <a:latin typeface="Courier New" panose="02070309020205020404" pitchFamily="49" charset="0"/>
                <a:cs typeface="Courier New" panose="02070309020205020404" pitchFamily="49" charset="0"/>
              </a:rPr>
              <a:t>return H(N) = H0(N) </a:t>
            </a:r>
            <a:r>
              <a:rPr lang="vi-VN" sz="1400" dirty="0">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H1(N) </a:t>
            </a:r>
            <a:r>
              <a:rPr lang="vi-VN" sz="1400" dirty="0">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H2(N) </a:t>
            </a:r>
            <a:r>
              <a:rPr lang="vi-VN" sz="1400" dirty="0">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H3(N) </a:t>
            </a:r>
            <a:r>
              <a:rPr lang="vi-VN" sz="1400" dirty="0">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H4(N) </a:t>
            </a:r>
            <a:r>
              <a:rPr lang="vi-VN" sz="1400" dirty="0">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H5(N) </a:t>
            </a:r>
            <a:r>
              <a:rPr lang="vi-VN" sz="1400" dirty="0">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H6(N) </a:t>
            </a:r>
            <a:r>
              <a:rPr lang="vi-VN" sz="1400" dirty="0">
                <a:latin typeface="Courier New" panose="02070309020205020404" pitchFamily="49" charset="0"/>
                <a:cs typeface="Courier New" panose="02070309020205020404" pitchFamily="49" charset="0"/>
              </a:rPr>
              <a:t>||</a:t>
            </a:r>
            <a:r>
              <a:rPr lang="en-ID" sz="1400" dirty="0">
                <a:latin typeface="Courier New" panose="02070309020205020404" pitchFamily="49" charset="0"/>
                <a:cs typeface="Courier New" panose="02070309020205020404" pitchFamily="49" charset="0"/>
              </a:rPr>
              <a:t> H7(N)</a:t>
            </a:r>
          </a:p>
        </p:txBody>
      </p:sp>
      <p:sp>
        <p:nvSpPr>
          <p:cNvPr id="12" name="object 2">
            <a:extLst>
              <a:ext uri="{FF2B5EF4-FFF2-40B4-BE49-F238E27FC236}">
                <a16:creationId xmlns:a16="http://schemas.microsoft.com/office/drawing/2014/main" id="{8F7D6331-B6F1-9F5C-6D20-E1DF375F5056}"/>
              </a:ext>
            </a:extLst>
          </p:cNvPr>
          <p:cNvSpPr txBox="1">
            <a:spLocks/>
          </p:cNvSpPr>
          <p:nvPr/>
        </p:nvSpPr>
        <p:spPr>
          <a:xfrm>
            <a:off x="457200" y="457200"/>
            <a:ext cx="4279583" cy="567463"/>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ID" dirty="0"/>
              <a:t>1.1.</a:t>
            </a:r>
            <a:r>
              <a:rPr lang="en-ID" spc="-105" dirty="0"/>
              <a:t> </a:t>
            </a:r>
            <a:r>
              <a:rPr lang="en-ID" spc="-20" dirty="0"/>
              <a:t>SHA</a:t>
            </a:r>
          </a:p>
        </p:txBody>
      </p:sp>
    </p:spTree>
    <p:extLst>
      <p:ext uri="{BB962C8B-B14F-4D97-AF65-F5344CB8AC3E}">
        <p14:creationId xmlns:p14="http://schemas.microsoft.com/office/powerpoint/2010/main" val="1068979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8F79-D145-70F2-31E9-7190D31343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7903F4-DA93-F1CD-294E-FF56D572FD30}"/>
              </a:ext>
            </a:extLst>
          </p:cNvPr>
          <p:cNvSpPr txBox="1">
            <a:spLocks noGrp="1"/>
          </p:cNvSpPr>
          <p:nvPr>
            <p:ph type="title"/>
          </p:nvPr>
        </p:nvSpPr>
        <p:spPr>
          <a:xfrm>
            <a:off x="521016" y="2200274"/>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
        <p:nvSpPr>
          <p:cNvPr id="3" name="object 3">
            <a:extLst>
              <a:ext uri="{FF2B5EF4-FFF2-40B4-BE49-F238E27FC236}">
                <a16:creationId xmlns:a16="http://schemas.microsoft.com/office/drawing/2014/main" id="{7831FB6E-46F7-7F99-72AE-9C706128BE8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a:extLst>
              <a:ext uri="{FF2B5EF4-FFF2-40B4-BE49-F238E27FC236}">
                <a16:creationId xmlns:a16="http://schemas.microsoft.com/office/drawing/2014/main" id="{BF36DDD3-14CE-D83E-49EC-8FE2584E437D}"/>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15</a:t>
            </a:fld>
            <a:endParaRPr spc="-25" dirty="0"/>
          </a:p>
        </p:txBody>
      </p:sp>
      <p:sp>
        <p:nvSpPr>
          <p:cNvPr id="5" name="object 5">
            <a:extLst>
              <a:ext uri="{FF2B5EF4-FFF2-40B4-BE49-F238E27FC236}">
                <a16:creationId xmlns:a16="http://schemas.microsoft.com/office/drawing/2014/main" id="{BDF89137-79DF-366F-E77E-64810B74587E}"/>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Tree>
    <p:extLst>
      <p:ext uri="{BB962C8B-B14F-4D97-AF65-F5344CB8AC3E}">
        <p14:creationId xmlns:p14="http://schemas.microsoft.com/office/powerpoint/2010/main" val="2286831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16</a:t>
            </a:fld>
            <a:endParaRPr spc="-25" dirty="0"/>
          </a:p>
        </p:txBody>
      </p:sp>
      <p:sp>
        <p:nvSpPr>
          <p:cNvPr id="6" name="object 6"/>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7" name="object 3">
            <a:extLst>
              <a:ext uri="{FF2B5EF4-FFF2-40B4-BE49-F238E27FC236}">
                <a16:creationId xmlns:a16="http://schemas.microsoft.com/office/drawing/2014/main" id="{CA90AF8F-A1B1-B0EF-BD90-25C3457FA1F5}"/>
              </a:ext>
            </a:extLst>
          </p:cNvPr>
          <p:cNvSpPr txBox="1"/>
          <p:nvPr/>
        </p:nvSpPr>
        <p:spPr>
          <a:xfrm>
            <a:off x="457200" y="1057835"/>
            <a:ext cx="8026083"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a:t>
            </a:r>
            <a:r>
              <a:rPr sz="3000" b="1" dirty="0">
                <a:solidFill>
                  <a:srgbClr val="7C45AD"/>
                </a:solidFill>
                <a:latin typeface="Arial"/>
                <a:cs typeface="Arial"/>
              </a:rPr>
              <a:t>.</a:t>
            </a:r>
            <a:r>
              <a:rPr lang="en-US" sz="3000" b="1" dirty="0">
                <a:solidFill>
                  <a:srgbClr val="7C45AD"/>
                </a:solidFill>
                <a:latin typeface="Arial"/>
                <a:cs typeface="Arial"/>
              </a:rPr>
              <a:t>2.</a:t>
            </a:r>
            <a:r>
              <a:rPr sz="3000" b="1" dirty="0">
                <a:solidFill>
                  <a:srgbClr val="7C45AD"/>
                </a:solidFill>
                <a:latin typeface="Arial"/>
                <a:cs typeface="Arial"/>
              </a:rPr>
              <a:t>1</a:t>
            </a:r>
            <a:r>
              <a:rPr lang="en-US" sz="3000" b="1" dirty="0">
                <a:solidFill>
                  <a:srgbClr val="7C45AD"/>
                </a:solidFill>
                <a:latin typeface="Arial"/>
                <a:cs typeface="Arial"/>
              </a:rPr>
              <a:t> Overview of the AMBA specification</a:t>
            </a:r>
          </a:p>
        </p:txBody>
      </p:sp>
      <p:sp>
        <p:nvSpPr>
          <p:cNvPr id="9" name="TextBox 8">
            <a:extLst>
              <a:ext uri="{FF2B5EF4-FFF2-40B4-BE49-F238E27FC236}">
                <a16:creationId xmlns:a16="http://schemas.microsoft.com/office/drawing/2014/main" id="{370CF898-9432-7BB6-6633-F407E9A3D23A}"/>
              </a:ext>
            </a:extLst>
          </p:cNvPr>
          <p:cNvSpPr txBox="1"/>
          <p:nvPr/>
        </p:nvSpPr>
        <p:spPr>
          <a:xfrm>
            <a:off x="457200" y="1596285"/>
            <a:ext cx="11033443" cy="1200329"/>
          </a:xfrm>
          <a:prstGeom prst="rect">
            <a:avLst/>
          </a:prstGeom>
          <a:noFill/>
        </p:spPr>
        <p:txBody>
          <a:bodyPr wrap="square">
            <a:spAutoFit/>
          </a:bodyPr>
          <a:lstStyle/>
          <a:p>
            <a:r>
              <a:rPr lang="en-US" b="1" dirty="0"/>
              <a:t>AMBA (Advanced Microcontroller Bus Architecture) </a:t>
            </a:r>
          </a:p>
          <a:p>
            <a:r>
              <a:rPr lang="en-US" b="1" dirty="0"/>
              <a:t>Developed by:</a:t>
            </a:r>
            <a:r>
              <a:rPr lang="en-US" dirty="0"/>
              <a:t> ARM</a:t>
            </a:r>
          </a:p>
          <a:p>
            <a:r>
              <a:rPr lang="en-US" b="1" dirty="0"/>
              <a:t>Purpose:</a:t>
            </a:r>
            <a:r>
              <a:rPr lang="en-US" dirty="0"/>
              <a:t> Standard on-chip interconnect for </a:t>
            </a:r>
            <a:r>
              <a:rPr lang="en-US" b="1" dirty="0"/>
              <a:t>SoC (System-on-Chip)</a:t>
            </a:r>
            <a:r>
              <a:rPr lang="en-US" dirty="0"/>
              <a:t> designs</a:t>
            </a:r>
          </a:p>
          <a:p>
            <a:r>
              <a:rPr lang="en-US" b="1" dirty="0"/>
              <a:t>Goal:</a:t>
            </a:r>
            <a:r>
              <a:rPr lang="en-US" dirty="0"/>
              <a:t> Enable efficient communication between </a:t>
            </a:r>
            <a:r>
              <a:rPr lang="en-US" b="1" dirty="0"/>
              <a:t>processors, memory, and peripherals</a:t>
            </a:r>
            <a:endParaRPr lang="en-US" dirty="0"/>
          </a:p>
        </p:txBody>
      </p:sp>
      <p:sp>
        <p:nvSpPr>
          <p:cNvPr id="11" name="TextBox 10">
            <a:extLst>
              <a:ext uri="{FF2B5EF4-FFF2-40B4-BE49-F238E27FC236}">
                <a16:creationId xmlns:a16="http://schemas.microsoft.com/office/drawing/2014/main" id="{AE1AFCB2-CB93-363F-C556-64F9790378B6}"/>
              </a:ext>
            </a:extLst>
          </p:cNvPr>
          <p:cNvSpPr txBox="1"/>
          <p:nvPr/>
        </p:nvSpPr>
        <p:spPr>
          <a:xfrm>
            <a:off x="457200" y="2700278"/>
            <a:ext cx="11033443" cy="2862322"/>
          </a:xfrm>
          <a:prstGeom prst="rect">
            <a:avLst/>
          </a:prstGeom>
          <a:noFill/>
        </p:spPr>
        <p:txBody>
          <a:bodyPr wrap="square">
            <a:spAutoFit/>
          </a:bodyPr>
          <a:lstStyle/>
          <a:p>
            <a:r>
              <a:rPr lang="en-US" b="1" dirty="0"/>
              <a:t>Four distinct buses are defined within the AMBA specification: </a:t>
            </a:r>
          </a:p>
          <a:p>
            <a:pPr marL="285750" indent="-285750">
              <a:buFont typeface="Arial" panose="020B0604020202020204" pitchFamily="34" charset="0"/>
              <a:buChar char="•"/>
            </a:pPr>
            <a:r>
              <a:rPr lang="en-US" dirty="0"/>
              <a:t>The Advanced High-performance Bus (AHB) </a:t>
            </a:r>
          </a:p>
          <a:p>
            <a:pPr marL="285750" indent="-285750">
              <a:buFont typeface="Arial" panose="020B0604020202020204" pitchFamily="34" charset="0"/>
              <a:buChar char="•"/>
            </a:pPr>
            <a:r>
              <a:rPr lang="en-US" dirty="0"/>
              <a:t>The Advanced System Bus (ASB) </a:t>
            </a:r>
          </a:p>
          <a:p>
            <a:pPr marL="285750" indent="-285750">
              <a:buFont typeface="Arial" panose="020B0604020202020204" pitchFamily="34" charset="0"/>
              <a:buChar char="•"/>
            </a:pPr>
            <a:r>
              <a:rPr lang="en-US" dirty="0"/>
              <a:t>The Advanced Peripheral Bus (APB).</a:t>
            </a:r>
          </a:p>
          <a:p>
            <a:pPr marL="285750" indent="-285750">
              <a:buFont typeface="Arial" panose="020B0604020202020204" pitchFamily="34" charset="0"/>
              <a:buChar char="•"/>
            </a:pPr>
            <a:r>
              <a:rPr lang="en-US" dirty="0"/>
              <a:t>The Advanced </a:t>
            </a:r>
            <a:r>
              <a:rPr lang="en-US" dirty="0" err="1"/>
              <a:t>eXtensible</a:t>
            </a:r>
            <a:r>
              <a:rPr lang="en-US" dirty="0"/>
              <a:t> Interface (AXI)</a:t>
            </a:r>
          </a:p>
          <a:p>
            <a:r>
              <a:rPr lang="en-US" b="1" dirty="0"/>
              <a:t>Main Advantages</a:t>
            </a:r>
          </a:p>
          <a:p>
            <a:pPr marL="285750" indent="-285750">
              <a:buFont typeface="Arial" panose="020B0604020202020204" pitchFamily="34" charset="0"/>
              <a:buChar char="•"/>
            </a:pPr>
            <a:r>
              <a:rPr lang="en-US" dirty="0"/>
              <a:t>High bandwidth &amp; low latency</a:t>
            </a:r>
          </a:p>
          <a:p>
            <a:pPr marL="285750" indent="-285750">
              <a:buFont typeface="Arial" panose="020B0604020202020204" pitchFamily="34" charset="0"/>
              <a:buChar char="•"/>
            </a:pPr>
            <a:r>
              <a:rPr lang="en-US" dirty="0"/>
              <a:t>Scalable and modular architecture</a:t>
            </a:r>
          </a:p>
          <a:p>
            <a:pPr marL="285750" indent="-285750">
              <a:buFont typeface="Arial" panose="020B0604020202020204" pitchFamily="34" charset="0"/>
              <a:buChar char="•"/>
            </a:pPr>
            <a:r>
              <a:rPr lang="en-US" dirty="0"/>
              <a:t>Widely adopted industry standard</a:t>
            </a:r>
          </a:p>
          <a:p>
            <a:pPr marL="285750" indent="-285750">
              <a:buFont typeface="Arial" panose="020B0604020202020204" pitchFamily="34" charset="0"/>
              <a:buChar char="•"/>
            </a:pPr>
            <a:r>
              <a:rPr lang="en-US" dirty="0"/>
              <a:t>Supports low-power and high-performance design</a:t>
            </a:r>
          </a:p>
        </p:txBody>
      </p:sp>
      <p:sp>
        <p:nvSpPr>
          <p:cNvPr id="10" name="object 2">
            <a:extLst>
              <a:ext uri="{FF2B5EF4-FFF2-40B4-BE49-F238E27FC236}">
                <a16:creationId xmlns:a16="http://schemas.microsoft.com/office/drawing/2014/main" id="{08682B37-3B0B-CEAB-40C3-05A95FD31E91}"/>
              </a:ext>
            </a:extLst>
          </p:cNvPr>
          <p:cNvSpPr txBox="1">
            <a:spLocks noGrp="1"/>
          </p:cNvSpPr>
          <p:nvPr>
            <p:ph type="title"/>
          </p:nvPr>
        </p:nvSpPr>
        <p:spPr>
          <a:xfrm>
            <a:off x="457200" y="307236"/>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82D64-296B-AE06-F3ED-A3F2DCA631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406709-AAAC-D022-4C7F-499D455EF52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5973D2DD-C4AE-ECBC-1339-AF01FB4C85C9}"/>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17</a:t>
            </a:fld>
            <a:endParaRPr spc="-25" dirty="0"/>
          </a:p>
        </p:txBody>
      </p:sp>
      <p:sp>
        <p:nvSpPr>
          <p:cNvPr id="6" name="object 6">
            <a:extLst>
              <a:ext uri="{FF2B5EF4-FFF2-40B4-BE49-F238E27FC236}">
                <a16:creationId xmlns:a16="http://schemas.microsoft.com/office/drawing/2014/main" id="{0D37DA53-6538-8EF1-6D4D-E6E6994C498D}"/>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pic>
        <p:nvPicPr>
          <p:cNvPr id="7" name="Picture 6" descr="A diagram of a computer network&#10;&#10;AI-generated content may be incorrect.">
            <a:extLst>
              <a:ext uri="{FF2B5EF4-FFF2-40B4-BE49-F238E27FC236}">
                <a16:creationId xmlns:a16="http://schemas.microsoft.com/office/drawing/2014/main" id="{666DF2CB-F4DB-D5BA-07D7-4A9F73F0344E}"/>
              </a:ext>
            </a:extLst>
          </p:cNvPr>
          <p:cNvPicPr>
            <a:picLocks noChangeAspect="1"/>
          </p:cNvPicPr>
          <p:nvPr/>
        </p:nvPicPr>
        <p:blipFill>
          <a:blip r:embed="rId2"/>
          <a:stretch>
            <a:fillRect/>
          </a:stretch>
        </p:blipFill>
        <p:spPr>
          <a:xfrm>
            <a:off x="3354871" y="1731940"/>
            <a:ext cx="5482127" cy="2333550"/>
          </a:xfrm>
          <a:prstGeom prst="rect">
            <a:avLst/>
          </a:prstGeom>
        </p:spPr>
      </p:pic>
      <p:sp>
        <p:nvSpPr>
          <p:cNvPr id="10" name="object 3">
            <a:extLst>
              <a:ext uri="{FF2B5EF4-FFF2-40B4-BE49-F238E27FC236}">
                <a16:creationId xmlns:a16="http://schemas.microsoft.com/office/drawing/2014/main" id="{B7F44AE8-83E5-6CD3-DB7F-94A161121CFF}"/>
              </a:ext>
            </a:extLst>
          </p:cNvPr>
          <p:cNvSpPr txBox="1"/>
          <p:nvPr/>
        </p:nvSpPr>
        <p:spPr>
          <a:xfrm>
            <a:off x="457200" y="1121155"/>
            <a:ext cx="8026083"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a:t>
            </a:r>
            <a:r>
              <a:rPr sz="3000" b="1" dirty="0">
                <a:solidFill>
                  <a:srgbClr val="7C45AD"/>
                </a:solidFill>
                <a:latin typeface="Arial"/>
                <a:cs typeface="Arial"/>
              </a:rPr>
              <a:t>.</a:t>
            </a:r>
            <a:r>
              <a:rPr lang="en-US" sz="3000" b="1" dirty="0">
                <a:solidFill>
                  <a:srgbClr val="7C45AD"/>
                </a:solidFill>
                <a:latin typeface="Arial"/>
                <a:cs typeface="Arial"/>
              </a:rPr>
              <a:t>2.</a:t>
            </a:r>
            <a:r>
              <a:rPr sz="3000" b="1" dirty="0">
                <a:solidFill>
                  <a:srgbClr val="7C45AD"/>
                </a:solidFill>
                <a:latin typeface="Arial"/>
                <a:cs typeface="Arial"/>
              </a:rPr>
              <a:t>1</a:t>
            </a:r>
            <a:r>
              <a:rPr lang="en-US" sz="3000" b="1" dirty="0">
                <a:solidFill>
                  <a:srgbClr val="7C45AD"/>
                </a:solidFill>
                <a:latin typeface="Arial"/>
                <a:cs typeface="Arial"/>
              </a:rPr>
              <a:t> Overview of the AMBA specification</a:t>
            </a:r>
          </a:p>
        </p:txBody>
      </p:sp>
      <p:graphicFrame>
        <p:nvGraphicFramePr>
          <p:cNvPr id="3" name="Table 2">
            <a:extLst>
              <a:ext uri="{FF2B5EF4-FFF2-40B4-BE49-F238E27FC236}">
                <a16:creationId xmlns:a16="http://schemas.microsoft.com/office/drawing/2014/main" id="{8D904AC2-3E70-D623-5696-548379AB988E}"/>
              </a:ext>
            </a:extLst>
          </p:cNvPr>
          <p:cNvGraphicFramePr>
            <a:graphicFrameLocks noGrp="1"/>
          </p:cNvGraphicFramePr>
          <p:nvPr/>
        </p:nvGraphicFramePr>
        <p:xfrm>
          <a:off x="888481" y="4064150"/>
          <a:ext cx="10414906" cy="2400216"/>
        </p:xfrm>
        <a:graphic>
          <a:graphicData uri="http://schemas.openxmlformats.org/drawingml/2006/table">
            <a:tbl>
              <a:tblPr/>
              <a:tblGrid>
                <a:gridCol w="2857494">
                  <a:extLst>
                    <a:ext uri="{9D8B030D-6E8A-4147-A177-3AD203B41FA5}">
                      <a16:colId xmlns:a16="http://schemas.microsoft.com/office/drawing/2014/main" val="2997793404"/>
                    </a:ext>
                  </a:extLst>
                </a:gridCol>
                <a:gridCol w="2394816">
                  <a:extLst>
                    <a:ext uri="{9D8B030D-6E8A-4147-A177-3AD203B41FA5}">
                      <a16:colId xmlns:a16="http://schemas.microsoft.com/office/drawing/2014/main" val="2455952510"/>
                    </a:ext>
                  </a:extLst>
                </a:gridCol>
                <a:gridCol w="2240313">
                  <a:extLst>
                    <a:ext uri="{9D8B030D-6E8A-4147-A177-3AD203B41FA5}">
                      <a16:colId xmlns:a16="http://schemas.microsoft.com/office/drawing/2014/main" val="1526857983"/>
                    </a:ext>
                  </a:extLst>
                </a:gridCol>
                <a:gridCol w="2922283">
                  <a:extLst>
                    <a:ext uri="{9D8B030D-6E8A-4147-A177-3AD203B41FA5}">
                      <a16:colId xmlns:a16="http://schemas.microsoft.com/office/drawing/2014/main" val="706658175"/>
                    </a:ext>
                  </a:extLst>
                </a:gridCol>
              </a:tblGrid>
              <a:tr h="304993">
                <a:tc>
                  <a:txBody>
                    <a:bodyPr/>
                    <a:lstStyle/>
                    <a:p>
                      <a:pPr>
                        <a:buNone/>
                      </a:pPr>
                      <a:r>
                        <a:rPr lang="en-ID" sz="1800" b="1" dirty="0">
                          <a:solidFill>
                            <a:schemeClr val="bg1"/>
                          </a:solidFill>
                          <a:latin typeface="Times New Roman" panose="02020603050405020304" pitchFamily="18" charset="0"/>
                          <a:cs typeface="Times New Roman" panose="02020603050405020304" pitchFamily="18" charset="0"/>
                        </a:rPr>
                        <a:t>AMBA AXI</a:t>
                      </a:r>
                      <a:endParaRPr lang="en-ID" sz="1800" dirty="0">
                        <a:solidFill>
                          <a:schemeClr val="bg1"/>
                        </a:solidFill>
                        <a:latin typeface="Times New Roman" panose="02020603050405020304" pitchFamily="18" charset="0"/>
                        <a:cs typeface="Times New Roman" panose="02020603050405020304" pitchFamily="18" charset="0"/>
                      </a:endParaRP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buNone/>
                      </a:pPr>
                      <a:r>
                        <a:rPr lang="en-ID" sz="1800" b="1" dirty="0">
                          <a:solidFill>
                            <a:schemeClr val="bg1"/>
                          </a:solidFill>
                          <a:latin typeface="Times New Roman" panose="02020603050405020304" pitchFamily="18" charset="0"/>
                          <a:cs typeface="Times New Roman" panose="02020603050405020304" pitchFamily="18" charset="0"/>
                        </a:rPr>
                        <a:t>AMBA AHB</a:t>
                      </a:r>
                      <a:endParaRPr lang="en-ID" sz="1800" dirty="0">
                        <a:solidFill>
                          <a:schemeClr val="bg1"/>
                        </a:solidFill>
                        <a:latin typeface="Times New Roman" panose="02020603050405020304" pitchFamily="18" charset="0"/>
                        <a:cs typeface="Times New Roman" panose="02020603050405020304" pitchFamily="18" charset="0"/>
                      </a:endParaRP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buNone/>
                      </a:pPr>
                      <a:r>
                        <a:rPr lang="en-ID" sz="1800" b="1" dirty="0">
                          <a:solidFill>
                            <a:schemeClr val="bg1"/>
                          </a:solidFill>
                          <a:latin typeface="Times New Roman" panose="02020603050405020304" pitchFamily="18" charset="0"/>
                          <a:cs typeface="Times New Roman" panose="02020603050405020304" pitchFamily="18" charset="0"/>
                        </a:rPr>
                        <a:t>AMBA ASB</a:t>
                      </a:r>
                      <a:endParaRPr lang="en-ID" sz="1800" dirty="0">
                        <a:solidFill>
                          <a:schemeClr val="bg1"/>
                        </a:solidFill>
                        <a:latin typeface="Times New Roman" panose="02020603050405020304" pitchFamily="18" charset="0"/>
                        <a:cs typeface="Times New Roman" panose="02020603050405020304" pitchFamily="18" charset="0"/>
                      </a:endParaRP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a:buNone/>
                      </a:pPr>
                      <a:r>
                        <a:rPr lang="en-ID" sz="1800" b="1" dirty="0">
                          <a:solidFill>
                            <a:schemeClr val="bg1"/>
                          </a:solidFill>
                          <a:latin typeface="Times New Roman" panose="02020603050405020304" pitchFamily="18" charset="0"/>
                          <a:cs typeface="Times New Roman" panose="02020603050405020304" pitchFamily="18" charset="0"/>
                        </a:rPr>
                        <a:t>AMBA APB</a:t>
                      </a:r>
                      <a:endParaRPr lang="en-ID" sz="1800" dirty="0">
                        <a:solidFill>
                          <a:schemeClr val="bg1"/>
                        </a:solidFill>
                        <a:latin typeface="Times New Roman" panose="02020603050405020304" pitchFamily="18" charset="0"/>
                        <a:cs typeface="Times New Roman" panose="02020603050405020304" pitchFamily="18" charset="0"/>
                      </a:endParaRP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2241250564"/>
                  </a:ext>
                </a:extLst>
              </a:tr>
              <a:tr h="304993">
                <a:tc>
                  <a:txBody>
                    <a:bodyPr/>
                    <a:lstStyle/>
                    <a:p>
                      <a:pPr>
                        <a:buNone/>
                      </a:pPr>
                      <a:r>
                        <a:rPr lang="en-ID" sz="1800" dirty="0">
                          <a:latin typeface="Times New Roman" panose="02020603050405020304" pitchFamily="18" charset="0"/>
                          <a:cs typeface="Times New Roman" panose="02020603050405020304" pitchFamily="18" charset="0"/>
                        </a:rPr>
                        <a:t>Very high performance</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High performance</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High performance</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Low power</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561434949"/>
                  </a:ext>
                </a:extLst>
              </a:tr>
              <a:tr h="304993">
                <a:tc>
                  <a:txBody>
                    <a:bodyPr/>
                    <a:lstStyle/>
                    <a:p>
                      <a:pPr>
                        <a:buNone/>
                      </a:pPr>
                      <a:r>
                        <a:rPr lang="en-ID" sz="1800" dirty="0">
                          <a:latin typeface="Times New Roman" panose="02020603050405020304" pitchFamily="18" charset="0"/>
                          <a:cs typeface="Times New Roman" panose="02020603050405020304" pitchFamily="18" charset="0"/>
                        </a:rPr>
                        <a:t>Fully pipelined</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Pipelined operation</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Pipelined operation</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Latched address and control</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20626548"/>
                  </a:ext>
                </a:extLst>
              </a:tr>
              <a:tr h="304993">
                <a:tc>
                  <a:txBody>
                    <a:bodyPr/>
                    <a:lstStyle/>
                    <a:p>
                      <a:pPr>
                        <a:buNone/>
                      </a:pPr>
                      <a:r>
                        <a:rPr lang="en-ID" sz="1800">
                          <a:latin typeface="Times New Roman" panose="02020603050405020304" pitchFamily="18" charset="0"/>
                          <a:cs typeface="Times New Roman" panose="02020603050405020304" pitchFamily="18" charset="0"/>
                        </a:rPr>
                        <a:t>Multiple masters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Multiple bus masters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Multiple bus masters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Single master</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69774806"/>
                  </a:ext>
                </a:extLst>
              </a:tr>
              <a:tr h="304993">
                <a:tc>
                  <a:txBody>
                    <a:bodyPr/>
                    <a:lstStyle/>
                    <a:p>
                      <a:pPr>
                        <a:buNone/>
                      </a:pPr>
                      <a:r>
                        <a:rPr lang="en-ID" sz="1800">
                          <a:latin typeface="Times New Roman" panose="02020603050405020304" pitchFamily="18" charset="0"/>
                          <a:cs typeface="Times New Roman" panose="02020603050405020304" pitchFamily="18" charset="0"/>
                        </a:rPr>
                        <a:t>Separate read/write channels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Burst transfers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Burst transfers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No burst support</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42428431"/>
                  </a:ext>
                </a:extLst>
              </a:tr>
              <a:tr h="304993">
                <a:tc>
                  <a:txBody>
                    <a:bodyPr/>
                    <a:lstStyle/>
                    <a:p>
                      <a:pPr>
                        <a:buNone/>
                      </a:pPr>
                      <a:r>
                        <a:rPr lang="en-ID" sz="1800">
                          <a:latin typeface="Times New Roman" panose="02020603050405020304" pitchFamily="18" charset="0"/>
                          <a:cs typeface="Times New Roman" panose="02020603050405020304" pitchFamily="18" charset="0"/>
                        </a:rPr>
                        <a:t>Out-of-order transactions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Split transactions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Central arbitration</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Simple interface</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78255529"/>
                  </a:ext>
                </a:extLst>
              </a:tr>
              <a:tr h="0">
                <a:tc>
                  <a:txBody>
                    <a:bodyPr/>
                    <a:lstStyle/>
                    <a:p>
                      <a:pPr>
                        <a:buNone/>
                      </a:pPr>
                      <a:r>
                        <a:rPr lang="en-ID" sz="1800">
                          <a:latin typeface="Times New Roman" panose="02020603050405020304" pitchFamily="18" charset="0"/>
                          <a:cs typeface="Times New Roman" panose="02020603050405020304" pitchFamily="18" charset="0"/>
                        </a:rPr>
                        <a:t>High bandwidth, low latency</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a:latin typeface="Times New Roman" panose="02020603050405020304" pitchFamily="18" charset="0"/>
                          <a:cs typeface="Times New Roman" panose="02020603050405020304" pitchFamily="18" charset="0"/>
                        </a:rPr>
                        <a:t>Shared bus architecture</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Synchronous bus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D" sz="1800" dirty="0">
                          <a:latin typeface="Times New Roman" panose="02020603050405020304" pitchFamily="18" charset="0"/>
                          <a:cs typeface="Times New Roman" panose="02020603050405020304" pitchFamily="18" charset="0"/>
                        </a:rPr>
                        <a:t>Suitable for many peripherals</a:t>
                      </a:r>
                    </a:p>
                  </a:txBody>
                  <a:tcPr marL="68568" marR="68568" marT="34284" marB="342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11982096"/>
                  </a:ext>
                </a:extLst>
              </a:tr>
            </a:tbl>
          </a:graphicData>
        </a:graphic>
      </p:graphicFrame>
      <p:sp>
        <p:nvSpPr>
          <p:cNvPr id="11" name="object 2">
            <a:extLst>
              <a:ext uri="{FF2B5EF4-FFF2-40B4-BE49-F238E27FC236}">
                <a16:creationId xmlns:a16="http://schemas.microsoft.com/office/drawing/2014/main" id="{365929D3-F1C7-9EAF-2D19-B6E2611F8828}"/>
              </a:ext>
            </a:extLst>
          </p:cNvPr>
          <p:cNvSpPr txBox="1">
            <a:spLocks noGrp="1"/>
          </p:cNvSpPr>
          <p:nvPr>
            <p:ph type="title"/>
          </p:nvPr>
        </p:nvSpPr>
        <p:spPr>
          <a:xfrm>
            <a:off x="457200" y="393634"/>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69370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86253-47BB-7673-7EB4-192BD2E93E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947DC8-A7DB-A658-973E-3AF4DA00859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FA55BEF-06C6-DEB0-1334-B092948F9F7C}"/>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18</a:t>
            </a:fld>
            <a:endParaRPr spc="-25" dirty="0"/>
          </a:p>
        </p:txBody>
      </p:sp>
      <p:sp>
        <p:nvSpPr>
          <p:cNvPr id="6" name="object 6">
            <a:extLst>
              <a:ext uri="{FF2B5EF4-FFF2-40B4-BE49-F238E27FC236}">
                <a16:creationId xmlns:a16="http://schemas.microsoft.com/office/drawing/2014/main" id="{66321DB0-A283-6FCA-D2CB-98F51F0D8FA4}"/>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2C0267B7-7BB2-F54F-2E1B-C146C71E4EFC}"/>
              </a:ext>
            </a:extLst>
          </p:cNvPr>
          <p:cNvSpPr txBox="1"/>
          <p:nvPr/>
        </p:nvSpPr>
        <p:spPr>
          <a:xfrm>
            <a:off x="457200" y="1121155"/>
            <a:ext cx="10896600" cy="936795"/>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1.2.2 Key features of the AMBA Advanced Peripheral Bus (APB)</a:t>
            </a:r>
          </a:p>
        </p:txBody>
      </p:sp>
      <p:sp>
        <p:nvSpPr>
          <p:cNvPr id="11" name="TextBox 10">
            <a:extLst>
              <a:ext uri="{FF2B5EF4-FFF2-40B4-BE49-F238E27FC236}">
                <a16:creationId xmlns:a16="http://schemas.microsoft.com/office/drawing/2014/main" id="{16B9ADF1-5153-190E-207F-9AF90A0149BC}"/>
              </a:ext>
            </a:extLst>
          </p:cNvPr>
          <p:cNvSpPr txBox="1"/>
          <p:nvPr/>
        </p:nvSpPr>
        <p:spPr>
          <a:xfrm>
            <a:off x="457200" y="2448331"/>
            <a:ext cx="11039538" cy="646331"/>
          </a:xfrm>
          <a:prstGeom prst="rect">
            <a:avLst/>
          </a:prstGeom>
          <a:noFill/>
        </p:spPr>
        <p:txBody>
          <a:bodyPr wrap="square">
            <a:spAutoFit/>
          </a:bodyPr>
          <a:lstStyle/>
          <a:p>
            <a:pPr algn="just"/>
            <a:r>
              <a:rPr lang="en-US" b="1"/>
              <a:t>Low-cost interface: </a:t>
            </a:r>
            <a:r>
              <a:rPr lang="en-US"/>
              <a:t>APB is designed with a simple architecture that minimizes hardware resources and implementation cost.</a:t>
            </a:r>
          </a:p>
        </p:txBody>
      </p:sp>
      <p:sp>
        <p:nvSpPr>
          <p:cNvPr id="14" name="TextBox 13">
            <a:extLst>
              <a:ext uri="{FF2B5EF4-FFF2-40B4-BE49-F238E27FC236}">
                <a16:creationId xmlns:a16="http://schemas.microsoft.com/office/drawing/2014/main" id="{6F5AF708-94B5-BDA7-CDCC-8DF26A47E5E8}"/>
              </a:ext>
            </a:extLst>
          </p:cNvPr>
          <p:cNvSpPr txBox="1"/>
          <p:nvPr/>
        </p:nvSpPr>
        <p:spPr>
          <a:xfrm>
            <a:off x="457199" y="4480180"/>
            <a:ext cx="10991469" cy="369332"/>
          </a:xfrm>
          <a:prstGeom prst="rect">
            <a:avLst/>
          </a:prstGeom>
          <a:noFill/>
        </p:spPr>
        <p:txBody>
          <a:bodyPr wrap="square">
            <a:spAutoFit/>
          </a:bodyPr>
          <a:lstStyle/>
          <a:p>
            <a:pPr algn="just"/>
            <a:r>
              <a:rPr lang="en-US" b="1"/>
              <a:t>Non-pipelined operation: </a:t>
            </a:r>
            <a:r>
              <a:rPr lang="en-US"/>
              <a:t>Transfers are performed sequentially without overlapping phases.</a:t>
            </a:r>
          </a:p>
        </p:txBody>
      </p:sp>
      <p:sp>
        <p:nvSpPr>
          <p:cNvPr id="16" name="TextBox 15">
            <a:extLst>
              <a:ext uri="{FF2B5EF4-FFF2-40B4-BE49-F238E27FC236}">
                <a16:creationId xmlns:a16="http://schemas.microsoft.com/office/drawing/2014/main" id="{2C94EB7B-3133-A09D-4ED7-BCA30F57217A}"/>
              </a:ext>
            </a:extLst>
          </p:cNvPr>
          <p:cNvSpPr txBox="1"/>
          <p:nvPr/>
        </p:nvSpPr>
        <p:spPr>
          <a:xfrm>
            <a:off x="457200" y="3986251"/>
            <a:ext cx="10991469" cy="369332"/>
          </a:xfrm>
          <a:prstGeom prst="rect">
            <a:avLst/>
          </a:prstGeom>
          <a:noFill/>
        </p:spPr>
        <p:txBody>
          <a:bodyPr wrap="square">
            <a:spAutoFit/>
          </a:bodyPr>
          <a:lstStyle/>
          <a:p>
            <a:pPr algn="just"/>
            <a:r>
              <a:rPr lang="en-US" b="1"/>
              <a:t>Synchronous protocol: </a:t>
            </a:r>
            <a:r>
              <a:rPr lang="en-US"/>
              <a:t>All APB transactions are synchronized to the system clock.</a:t>
            </a:r>
          </a:p>
        </p:txBody>
      </p:sp>
      <p:sp>
        <p:nvSpPr>
          <p:cNvPr id="18" name="TextBox 17">
            <a:extLst>
              <a:ext uri="{FF2B5EF4-FFF2-40B4-BE49-F238E27FC236}">
                <a16:creationId xmlns:a16="http://schemas.microsoft.com/office/drawing/2014/main" id="{237AE57B-4DFF-A037-8807-6A394CE70525}"/>
              </a:ext>
            </a:extLst>
          </p:cNvPr>
          <p:cNvSpPr txBox="1"/>
          <p:nvPr/>
        </p:nvSpPr>
        <p:spPr>
          <a:xfrm>
            <a:off x="457200" y="3215323"/>
            <a:ext cx="11039537" cy="646331"/>
          </a:xfrm>
          <a:prstGeom prst="rect">
            <a:avLst/>
          </a:prstGeom>
          <a:noFill/>
        </p:spPr>
        <p:txBody>
          <a:bodyPr wrap="square">
            <a:spAutoFit/>
          </a:bodyPr>
          <a:lstStyle/>
          <a:p>
            <a:pPr algn="just"/>
            <a:r>
              <a:rPr lang="en-US" b="1"/>
              <a:t>Low power consumption: </a:t>
            </a:r>
            <a:r>
              <a:rPr lang="en-US"/>
              <a:t>The non-pipelined and simple transfer mechanism helps reduce power usage, making APB suitable for peripheral devices.</a:t>
            </a:r>
          </a:p>
        </p:txBody>
      </p:sp>
      <p:sp>
        <p:nvSpPr>
          <p:cNvPr id="20" name="TextBox 19">
            <a:extLst>
              <a:ext uri="{FF2B5EF4-FFF2-40B4-BE49-F238E27FC236}">
                <a16:creationId xmlns:a16="http://schemas.microsoft.com/office/drawing/2014/main" id="{B049E362-A72B-6985-8ED4-A3A7E2AE577B}"/>
              </a:ext>
            </a:extLst>
          </p:cNvPr>
          <p:cNvSpPr txBox="1"/>
          <p:nvPr/>
        </p:nvSpPr>
        <p:spPr>
          <a:xfrm>
            <a:off x="457199" y="4974109"/>
            <a:ext cx="10845483" cy="646331"/>
          </a:xfrm>
          <a:prstGeom prst="rect">
            <a:avLst/>
          </a:prstGeom>
          <a:noFill/>
        </p:spPr>
        <p:txBody>
          <a:bodyPr wrap="square">
            <a:spAutoFit/>
          </a:bodyPr>
          <a:lstStyle/>
          <a:p>
            <a:r>
              <a:rPr lang="en-US" b="1"/>
              <a:t>Low bandwidth, optimized for control register access</a:t>
            </a:r>
            <a:br>
              <a:rPr lang="en-US"/>
            </a:br>
            <a:r>
              <a:rPr lang="en-US"/>
              <a:t>APB is intended for accessing programmable control registers rather than high-throughput data transfers.</a:t>
            </a:r>
          </a:p>
        </p:txBody>
      </p:sp>
      <p:sp>
        <p:nvSpPr>
          <p:cNvPr id="9" name="object 2">
            <a:extLst>
              <a:ext uri="{FF2B5EF4-FFF2-40B4-BE49-F238E27FC236}">
                <a16:creationId xmlns:a16="http://schemas.microsoft.com/office/drawing/2014/main" id="{91888299-8269-837E-A248-884B573528B5}"/>
              </a:ext>
            </a:extLst>
          </p:cNvPr>
          <p:cNvSpPr txBox="1">
            <a:spLocks noGrp="1"/>
          </p:cNvSpPr>
          <p:nvPr>
            <p:ph type="title"/>
          </p:nvPr>
        </p:nvSpPr>
        <p:spPr>
          <a:xfrm>
            <a:off x="457199" y="502629"/>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2033156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7DA4-7E0B-CDAB-C410-48E948CA15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523BC0-5974-6219-9A2A-A4116E284D4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6F012E1B-8592-4420-EFDB-E270C36EEA9E}"/>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19</a:t>
            </a:fld>
            <a:endParaRPr spc="-25" dirty="0"/>
          </a:p>
        </p:txBody>
      </p:sp>
      <p:sp>
        <p:nvSpPr>
          <p:cNvPr id="6" name="object 6">
            <a:extLst>
              <a:ext uri="{FF2B5EF4-FFF2-40B4-BE49-F238E27FC236}">
                <a16:creationId xmlns:a16="http://schemas.microsoft.com/office/drawing/2014/main" id="{B650AA2A-E55E-C99C-CF68-929A0EFE2D5B}"/>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922603F0-CF53-A40D-CDF1-9D6313228E08}"/>
              </a:ext>
            </a:extLst>
          </p:cNvPr>
          <p:cNvSpPr txBox="1"/>
          <p:nvPr/>
        </p:nvSpPr>
        <p:spPr>
          <a:xfrm>
            <a:off x="457200" y="1121155"/>
            <a:ext cx="10896600" cy="936795"/>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1.2.2 Key features of the AMBA Advanced Peripheral Bus (APB)</a:t>
            </a:r>
          </a:p>
        </p:txBody>
      </p:sp>
      <p:sp>
        <p:nvSpPr>
          <p:cNvPr id="10" name="TextBox 9">
            <a:extLst>
              <a:ext uri="{FF2B5EF4-FFF2-40B4-BE49-F238E27FC236}">
                <a16:creationId xmlns:a16="http://schemas.microsoft.com/office/drawing/2014/main" id="{FD973811-9A2A-9008-DD9D-2A27C7FF0385}"/>
              </a:ext>
            </a:extLst>
          </p:cNvPr>
          <p:cNvSpPr txBox="1"/>
          <p:nvPr/>
        </p:nvSpPr>
        <p:spPr>
          <a:xfrm>
            <a:off x="441961" y="2280319"/>
            <a:ext cx="10845483" cy="646331"/>
          </a:xfrm>
          <a:prstGeom prst="rect">
            <a:avLst/>
          </a:prstGeom>
          <a:noFill/>
        </p:spPr>
        <p:txBody>
          <a:bodyPr wrap="square">
            <a:spAutoFit/>
          </a:bodyPr>
          <a:lstStyle/>
          <a:p>
            <a:r>
              <a:rPr lang="en-US" b="1"/>
              <a:t>Designed for simple peripheral devices: </a:t>
            </a:r>
            <a:r>
              <a:rPr lang="en-US"/>
              <a:t>Commonly used for peripherals such as GPIO, Timers, UART, SPI, and I2C.</a:t>
            </a:r>
          </a:p>
        </p:txBody>
      </p:sp>
      <p:sp>
        <p:nvSpPr>
          <p:cNvPr id="12" name="TextBox 11">
            <a:extLst>
              <a:ext uri="{FF2B5EF4-FFF2-40B4-BE49-F238E27FC236}">
                <a16:creationId xmlns:a16="http://schemas.microsoft.com/office/drawing/2014/main" id="{3D64C4BB-72A0-B0FC-CA68-6D1DEB0C97E8}"/>
              </a:ext>
            </a:extLst>
          </p:cNvPr>
          <p:cNvSpPr txBox="1"/>
          <p:nvPr/>
        </p:nvSpPr>
        <p:spPr>
          <a:xfrm>
            <a:off x="457200" y="3028508"/>
            <a:ext cx="10845483" cy="646331"/>
          </a:xfrm>
          <a:prstGeom prst="rect">
            <a:avLst/>
          </a:prstGeom>
          <a:noFill/>
        </p:spPr>
        <p:txBody>
          <a:bodyPr wrap="square">
            <a:spAutoFit/>
          </a:bodyPr>
          <a:lstStyle/>
          <a:p>
            <a:r>
              <a:rPr lang="en-US" b="1"/>
              <a:t>Accessed through an APB bridge: </a:t>
            </a:r>
            <a:r>
              <a:rPr lang="en-US"/>
              <a:t>APB peripherals are typically connected to the main system bus through a bridge (e.g., AXI-to-APB bridge).</a:t>
            </a:r>
          </a:p>
        </p:txBody>
      </p:sp>
      <p:sp>
        <p:nvSpPr>
          <p:cNvPr id="14" name="TextBox 13">
            <a:extLst>
              <a:ext uri="{FF2B5EF4-FFF2-40B4-BE49-F238E27FC236}">
                <a16:creationId xmlns:a16="http://schemas.microsoft.com/office/drawing/2014/main" id="{6B77F043-0AF1-8D61-6A7C-F7C17C6E770A}"/>
              </a:ext>
            </a:extLst>
          </p:cNvPr>
          <p:cNvSpPr txBox="1"/>
          <p:nvPr/>
        </p:nvSpPr>
        <p:spPr>
          <a:xfrm>
            <a:off x="441960" y="3772732"/>
            <a:ext cx="10845483" cy="923330"/>
          </a:xfrm>
          <a:prstGeom prst="rect">
            <a:avLst/>
          </a:prstGeom>
          <a:noFill/>
        </p:spPr>
        <p:txBody>
          <a:bodyPr wrap="square">
            <a:spAutoFit/>
          </a:bodyPr>
          <a:lstStyle/>
          <a:p>
            <a:r>
              <a:rPr lang="en-US" b="1"/>
              <a:t>Clear Requester–Completer model: </a:t>
            </a:r>
          </a:p>
          <a:p>
            <a:pPr marL="285750" indent="-285750">
              <a:buFont typeface="Arial" panose="020B0604020202020204" pitchFamily="34" charset="0"/>
              <a:buChar char="•"/>
            </a:pPr>
            <a:r>
              <a:rPr lang="en-US"/>
              <a:t>The APB bridge acts as the Requester, initiating transactions.</a:t>
            </a:r>
          </a:p>
          <a:p>
            <a:pPr marL="285750" indent="-285750">
              <a:buFont typeface="Arial" panose="020B0604020202020204" pitchFamily="34" charset="0"/>
              <a:buChar char="•"/>
            </a:pPr>
            <a:r>
              <a:rPr lang="en-US"/>
              <a:t>The peripheral device acts as the Completer, responding to requests.</a:t>
            </a:r>
          </a:p>
        </p:txBody>
      </p:sp>
      <p:sp>
        <p:nvSpPr>
          <p:cNvPr id="16" name="TextBox 15">
            <a:extLst>
              <a:ext uri="{FF2B5EF4-FFF2-40B4-BE49-F238E27FC236}">
                <a16:creationId xmlns:a16="http://schemas.microsoft.com/office/drawing/2014/main" id="{1DBDB9A1-4280-C492-DA9A-3D11205D566C}"/>
              </a:ext>
            </a:extLst>
          </p:cNvPr>
          <p:cNvSpPr txBox="1"/>
          <p:nvPr/>
        </p:nvSpPr>
        <p:spPr>
          <a:xfrm>
            <a:off x="457200" y="4800051"/>
            <a:ext cx="10845482" cy="646331"/>
          </a:xfrm>
          <a:prstGeom prst="rect">
            <a:avLst/>
          </a:prstGeom>
          <a:noFill/>
        </p:spPr>
        <p:txBody>
          <a:bodyPr wrap="square">
            <a:spAutoFit/>
          </a:bodyPr>
          <a:lstStyle/>
          <a:p>
            <a:r>
              <a:rPr lang="en-US" b="1"/>
              <a:t>Well-suited for AMBA-based multi-bus systems: </a:t>
            </a:r>
            <a:r>
              <a:rPr lang="en-US"/>
              <a:t>APB integrates seamlessly with other AMBA buses such as AXI and AHB via bridges.</a:t>
            </a:r>
          </a:p>
        </p:txBody>
      </p:sp>
      <p:sp>
        <p:nvSpPr>
          <p:cNvPr id="9" name="object 2">
            <a:extLst>
              <a:ext uri="{FF2B5EF4-FFF2-40B4-BE49-F238E27FC236}">
                <a16:creationId xmlns:a16="http://schemas.microsoft.com/office/drawing/2014/main" id="{A7DABD02-7D33-6042-827F-96BFD59D3977}"/>
              </a:ext>
            </a:extLst>
          </p:cNvPr>
          <p:cNvSpPr txBox="1">
            <a:spLocks noGrp="1"/>
          </p:cNvSpPr>
          <p:nvPr>
            <p:ph type="title"/>
          </p:nvPr>
        </p:nvSpPr>
        <p:spPr>
          <a:xfrm>
            <a:off x="441960" y="442507"/>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1902561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7103-6A17-9123-84C6-A348892484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346F9C3-7494-F075-A86D-35BD3A7E19EE}"/>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BAED7F4F-3B7F-8380-DC7B-22FC768ADCF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20</a:t>
            </a:fld>
            <a:endParaRPr spc="-25" dirty="0"/>
          </a:p>
        </p:txBody>
      </p:sp>
      <p:sp>
        <p:nvSpPr>
          <p:cNvPr id="6" name="object 6">
            <a:extLst>
              <a:ext uri="{FF2B5EF4-FFF2-40B4-BE49-F238E27FC236}">
                <a16:creationId xmlns:a16="http://schemas.microsoft.com/office/drawing/2014/main" id="{9C63AA79-7301-E7DD-6A98-0AF3D5781656}"/>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a:t>
            </a:r>
            <a:r>
              <a:rPr spc="-15" dirty="0"/>
              <a:t> </a:t>
            </a:r>
            <a:r>
              <a:rPr dirty="0"/>
              <a:t>–</a:t>
            </a:r>
            <a:r>
              <a:rPr spc="-20" dirty="0"/>
              <a:t> </a:t>
            </a:r>
            <a:r>
              <a:rPr lang="en-US" spc="-20" dirty="0"/>
              <a:t>Kim Gia Bao</a:t>
            </a:r>
            <a:endParaRPr spc="-10" dirty="0"/>
          </a:p>
        </p:txBody>
      </p:sp>
      <p:sp>
        <p:nvSpPr>
          <p:cNvPr id="3" name="object 3">
            <a:extLst>
              <a:ext uri="{FF2B5EF4-FFF2-40B4-BE49-F238E27FC236}">
                <a16:creationId xmlns:a16="http://schemas.microsoft.com/office/drawing/2014/main" id="{28C111CD-3E8F-A2CA-198F-12D1D4248A7A}"/>
              </a:ext>
            </a:extLst>
          </p:cNvPr>
          <p:cNvSpPr txBox="1"/>
          <p:nvPr/>
        </p:nvSpPr>
        <p:spPr>
          <a:xfrm>
            <a:off x="457200" y="1121155"/>
            <a:ext cx="10896600" cy="936795"/>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1.2.2 Key features of the AMBA Advanced Peripheral Bus (APB)</a:t>
            </a:r>
          </a:p>
        </p:txBody>
      </p:sp>
      <p:pic>
        <p:nvPicPr>
          <p:cNvPr id="2050" name="Picture 2">
            <a:extLst>
              <a:ext uri="{FF2B5EF4-FFF2-40B4-BE49-F238E27FC236}">
                <a16:creationId xmlns:a16="http://schemas.microsoft.com/office/drawing/2014/main" id="{9439A7AF-7C1F-5090-CE38-4C48CF6C6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009" y="2382430"/>
            <a:ext cx="5238750" cy="3143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9721514-894E-32A7-90F6-4298B722C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956430"/>
            <a:ext cx="3733800" cy="1995250"/>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59918443-0066-2D23-60C9-0E6645584B6F}"/>
              </a:ext>
            </a:extLst>
          </p:cNvPr>
          <p:cNvSpPr txBox="1">
            <a:spLocks noGrp="1"/>
          </p:cNvSpPr>
          <p:nvPr>
            <p:ph type="title"/>
          </p:nvPr>
        </p:nvSpPr>
        <p:spPr>
          <a:xfrm>
            <a:off x="457200" y="425089"/>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4172521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56E88-6EDD-0257-5D83-DC3F1B0EEA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0826BE-5264-4524-E675-7D809FED653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65AE973B-74F3-3611-4844-A4C5E0DE5907}"/>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21</a:t>
            </a:fld>
            <a:endParaRPr spc="-25" dirty="0"/>
          </a:p>
        </p:txBody>
      </p:sp>
      <p:sp>
        <p:nvSpPr>
          <p:cNvPr id="6" name="object 6">
            <a:extLst>
              <a:ext uri="{FF2B5EF4-FFF2-40B4-BE49-F238E27FC236}">
                <a16:creationId xmlns:a16="http://schemas.microsoft.com/office/drawing/2014/main" id="{FF062086-A449-10EC-3815-640F13343080}"/>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a:t>
            </a:r>
            <a:r>
              <a:rPr spc="-15" dirty="0"/>
              <a:t> </a:t>
            </a:r>
            <a:r>
              <a:rPr dirty="0"/>
              <a:t>–</a:t>
            </a:r>
            <a:r>
              <a:rPr spc="-20" dirty="0"/>
              <a:t> </a:t>
            </a:r>
            <a:r>
              <a:rPr lang="en-US" spc="-20" dirty="0"/>
              <a:t>Kim Gia Bao</a:t>
            </a:r>
            <a:endParaRPr spc="-10" dirty="0"/>
          </a:p>
        </p:txBody>
      </p:sp>
      <p:sp>
        <p:nvSpPr>
          <p:cNvPr id="3" name="object 3">
            <a:extLst>
              <a:ext uri="{FF2B5EF4-FFF2-40B4-BE49-F238E27FC236}">
                <a16:creationId xmlns:a16="http://schemas.microsoft.com/office/drawing/2014/main" id="{E876C778-EE6A-16B7-71D3-439656D4F892}"/>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1.2.3 AMBA ABP signals</a:t>
            </a:r>
          </a:p>
        </p:txBody>
      </p:sp>
      <p:sp>
        <p:nvSpPr>
          <p:cNvPr id="10" name="TextBox 9">
            <a:extLst>
              <a:ext uri="{FF2B5EF4-FFF2-40B4-BE49-F238E27FC236}">
                <a16:creationId xmlns:a16="http://schemas.microsoft.com/office/drawing/2014/main" id="{D69F1E3F-9A65-A775-3F64-BF7EBE2CEBEF}"/>
              </a:ext>
            </a:extLst>
          </p:cNvPr>
          <p:cNvSpPr txBox="1"/>
          <p:nvPr/>
        </p:nvSpPr>
        <p:spPr>
          <a:xfrm>
            <a:off x="3048698" y="6117945"/>
            <a:ext cx="6094476" cy="369332"/>
          </a:xfrm>
          <a:prstGeom prst="rect">
            <a:avLst/>
          </a:prstGeom>
          <a:noFill/>
        </p:spPr>
        <p:txBody>
          <a:bodyPr wrap="square">
            <a:spAutoFit/>
          </a:bodyPr>
          <a:lstStyle/>
          <a:p>
            <a:pPr algn="ctr"/>
            <a:r>
              <a:rPr lang="en-US" b="1" i="1">
                <a:latin typeface="Arial" panose="020B0604020202020204" pitchFamily="34" charset="0"/>
                <a:cs typeface="Arial" panose="020B0604020202020204" pitchFamily="34" charset="0"/>
              </a:rPr>
              <a:t>Block Diagram &amp; Signal Description of APB</a:t>
            </a:r>
          </a:p>
        </p:txBody>
      </p:sp>
      <p:pic>
        <p:nvPicPr>
          <p:cNvPr id="1026" name="Picture 2">
            <a:extLst>
              <a:ext uri="{FF2B5EF4-FFF2-40B4-BE49-F238E27FC236}">
                <a16:creationId xmlns:a16="http://schemas.microsoft.com/office/drawing/2014/main" id="{75BFB7FB-4A18-7010-7702-F05283F951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6871" y="1656737"/>
            <a:ext cx="6238130" cy="4461208"/>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04A150C7-D096-6E35-A89B-2D9DADDB31D9}"/>
              </a:ext>
            </a:extLst>
          </p:cNvPr>
          <p:cNvSpPr txBox="1">
            <a:spLocks noGrp="1"/>
          </p:cNvSpPr>
          <p:nvPr>
            <p:ph type="title"/>
          </p:nvPr>
        </p:nvSpPr>
        <p:spPr>
          <a:xfrm>
            <a:off x="395591" y="456323"/>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3642537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2E2F4-F156-20E2-A23C-6E2857B55AC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833B424-C935-3EF5-5961-9FD4EA4BE0A0}"/>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DF6C973-71F7-47A0-DC30-24D79FAD7CB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22</a:t>
            </a:fld>
            <a:endParaRPr spc="-25" dirty="0"/>
          </a:p>
        </p:txBody>
      </p:sp>
      <p:sp>
        <p:nvSpPr>
          <p:cNvPr id="6" name="object 6">
            <a:extLst>
              <a:ext uri="{FF2B5EF4-FFF2-40B4-BE49-F238E27FC236}">
                <a16:creationId xmlns:a16="http://schemas.microsoft.com/office/drawing/2014/main" id="{0CC7A37C-9016-C419-A149-364F24FB0826}"/>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a:t>
            </a:r>
            <a:r>
              <a:rPr spc="-15" dirty="0"/>
              <a:t> </a:t>
            </a:r>
            <a:r>
              <a:rPr dirty="0"/>
              <a:t>–</a:t>
            </a:r>
            <a:r>
              <a:rPr spc="-20" dirty="0"/>
              <a:t> </a:t>
            </a:r>
            <a:r>
              <a:rPr lang="en-US" spc="-20" dirty="0"/>
              <a:t>Kim Gia Bao</a:t>
            </a:r>
            <a:endParaRPr spc="-10" dirty="0"/>
          </a:p>
        </p:txBody>
      </p:sp>
      <p:sp>
        <p:nvSpPr>
          <p:cNvPr id="3" name="object 3">
            <a:extLst>
              <a:ext uri="{FF2B5EF4-FFF2-40B4-BE49-F238E27FC236}">
                <a16:creationId xmlns:a16="http://schemas.microsoft.com/office/drawing/2014/main" id="{7D4253BF-250C-7DE3-63FD-B0D624A5B6EB}"/>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1.2.3 AMBA ABP signals</a:t>
            </a:r>
          </a:p>
        </p:txBody>
      </p:sp>
      <p:graphicFrame>
        <p:nvGraphicFramePr>
          <p:cNvPr id="7" name="Table 6">
            <a:extLst>
              <a:ext uri="{FF2B5EF4-FFF2-40B4-BE49-F238E27FC236}">
                <a16:creationId xmlns:a16="http://schemas.microsoft.com/office/drawing/2014/main" id="{0EEF7FC7-1F40-AF54-11BB-EB9C34D02B25}"/>
              </a:ext>
            </a:extLst>
          </p:cNvPr>
          <p:cNvGraphicFramePr>
            <a:graphicFrameLocks noGrp="1"/>
          </p:cNvGraphicFramePr>
          <p:nvPr/>
        </p:nvGraphicFramePr>
        <p:xfrm>
          <a:off x="508317" y="1837178"/>
          <a:ext cx="11033444" cy="388112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dirty="0">
                          <a:latin typeface="Arial" panose="020B0604020202020204" pitchFamily="34" charset="0"/>
                          <a:cs typeface="Arial" panose="020B0604020202020204" pitchFamily="34" charset="0"/>
                        </a:rPr>
                        <a:t>PCLK</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Clock Source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Clock. The rising edge of PCLK times all transfer on the APB</a:t>
                      </a:r>
                    </a:p>
                  </a:txBody>
                  <a:tcPr/>
                </a:tc>
                <a:extLst>
                  <a:ext uri="{0D108BD9-81ED-4DB2-BD59-A6C34878D82A}">
                    <a16:rowId xmlns:a16="http://schemas.microsoft.com/office/drawing/2014/main" val="2693422610"/>
                  </a:ext>
                </a:extLst>
              </a:tr>
              <a:tr h="370840">
                <a:tc>
                  <a:txBody>
                    <a:bodyPr/>
                    <a:lstStyle/>
                    <a:p>
                      <a:pPr algn="ctr"/>
                      <a:r>
                        <a:rPr lang="en-US" sz="1600">
                          <a:latin typeface="Arial" panose="020B0604020202020204" pitchFamily="34" charset="0"/>
                          <a:cs typeface="Arial" panose="020B0604020202020204" pitchFamily="34" charset="0"/>
                        </a:rPr>
                        <a:t>PRESETn</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Reset. The APB reset signal is active LOW. This signal is normally connected directly to the system bus reset signal.</a:t>
                      </a:r>
                    </a:p>
                  </a:txBody>
                  <a:tcPr/>
                </a:tc>
                <a:extLst>
                  <a:ext uri="{0D108BD9-81ED-4DB2-BD59-A6C34878D82A}">
                    <a16:rowId xmlns:a16="http://schemas.microsoft.com/office/drawing/2014/main" val="363023051"/>
                  </a:ext>
                </a:extLst>
              </a:tr>
              <a:tr h="370840">
                <a:tc>
                  <a:txBody>
                    <a:bodyPr/>
                    <a:lstStyle/>
                    <a:p>
                      <a:pPr algn="ctr"/>
                      <a:r>
                        <a:rPr lang="en-US" sz="1600">
                          <a:latin typeface="Arial" panose="020B0604020202020204" pitchFamily="34" charset="0"/>
                          <a:cs typeface="Arial" panose="020B0604020202020204" pitchFamily="34" charset="0"/>
                        </a:rPr>
                        <a:t>PADDR</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ADDR_WIDTH</a:t>
                      </a:r>
                    </a:p>
                  </a:txBody>
                  <a:tcPr/>
                </a:tc>
                <a:tc>
                  <a:txBody>
                    <a:bodyPr/>
                    <a:lstStyle/>
                    <a:p>
                      <a:pPr algn="just"/>
                      <a:r>
                        <a:rPr lang="en-US" sz="1600">
                          <a:latin typeface="Arial" panose="020B0604020202020204" pitchFamily="34" charset="0"/>
                          <a:cs typeface="Arial" panose="020B0604020202020204" pitchFamily="34" charset="0"/>
                        </a:rPr>
                        <a:t>Address. This is APB address bus. It can be up to 32 bits wide and is driven by the peripheral bus bridge unit.</a:t>
                      </a:r>
                    </a:p>
                  </a:txBody>
                  <a:tcPr/>
                </a:tc>
                <a:extLst>
                  <a:ext uri="{0D108BD9-81ED-4DB2-BD59-A6C34878D82A}">
                    <a16:rowId xmlns:a16="http://schemas.microsoft.com/office/drawing/2014/main" val="1648389343"/>
                  </a:ext>
                </a:extLst>
              </a:tr>
              <a:tr h="370840">
                <a:tc>
                  <a:txBody>
                    <a:bodyPr/>
                    <a:lstStyle/>
                    <a:p>
                      <a:pPr algn="ctr"/>
                      <a:r>
                        <a:rPr lang="en-US" sz="1600">
                          <a:latin typeface="Arial" panose="020B0604020202020204" pitchFamily="34" charset="0"/>
                          <a:cs typeface="Arial" panose="020B0604020202020204" pitchFamily="34" charset="0"/>
                        </a:rPr>
                        <a:t>PPROT</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3</a:t>
                      </a:r>
                    </a:p>
                  </a:txBody>
                  <a:tcPr/>
                </a:tc>
                <a:tc>
                  <a:txBody>
                    <a:bodyPr/>
                    <a:lstStyle/>
                    <a:p>
                      <a:pPr algn="just"/>
                      <a:r>
                        <a:rPr lang="en-US" sz="1600">
                          <a:latin typeface="Arial" panose="020B0604020202020204" pitchFamily="34" charset="0"/>
                          <a:cs typeface="Arial" panose="020B0604020202020204" pitchFamily="34" charset="0"/>
                        </a:rPr>
                        <a:t>Protection type. This signal indicates the normal, privileged, or secure protection level of the transaction and whether the transaction is a data access or an instruction access.</a:t>
                      </a:r>
                    </a:p>
                  </a:txBody>
                  <a:tcPr/>
                </a:tc>
                <a:extLst>
                  <a:ext uri="{0D108BD9-81ED-4DB2-BD59-A6C34878D82A}">
                    <a16:rowId xmlns:a16="http://schemas.microsoft.com/office/drawing/2014/main" val="3605326436"/>
                  </a:ext>
                </a:extLst>
              </a:tr>
              <a:tr h="370840">
                <a:tc>
                  <a:txBody>
                    <a:bodyPr/>
                    <a:lstStyle/>
                    <a:p>
                      <a:pPr algn="ctr"/>
                      <a:r>
                        <a:rPr lang="en-US" sz="1600">
                          <a:latin typeface="Arial" panose="020B0604020202020204" pitchFamily="34" charset="0"/>
                          <a:cs typeface="Arial" panose="020B0604020202020204" pitchFamily="34" charset="0"/>
                        </a:rPr>
                        <a:t>PSELx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a:solidFill>
                            <a:schemeClr val="dk1"/>
                          </a:solidFill>
                          <a:effectLst/>
                          <a:latin typeface="Arial" panose="020B0604020202020204" pitchFamily="34" charset="0"/>
                          <a:ea typeface="+mn-ea"/>
                          <a:cs typeface="Arial" panose="020B0604020202020204" pitchFamily="34" charset="0"/>
                        </a:rPr>
                        <a:t>Slave select signal, there will be one PSEL signal for each slave connected to master.</a:t>
                      </a:r>
                      <a:r>
                        <a:rPr lang="en-US" sz="1600">
                          <a:latin typeface="Arial" panose="020B0604020202020204" pitchFamily="34" charset="0"/>
                          <a:cs typeface="Arial" panose="020B0604020202020204" pitchFamily="34" charset="0"/>
                        </a:rPr>
                        <a:t>. It’s an active high signal. </a:t>
                      </a:r>
                      <a:endParaRPr lang="en-IN" sz="160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PENABLE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Enable. It indicates the 2</a:t>
                      </a:r>
                      <a:r>
                        <a:rPr lang="en-US" sz="1600" baseline="30000" dirty="0">
                          <a:latin typeface="Arial" panose="020B0604020202020204" pitchFamily="34" charset="0"/>
                          <a:cs typeface="Arial" panose="020B0604020202020204" pitchFamily="34" charset="0"/>
                        </a:rPr>
                        <a:t>nd</a:t>
                      </a:r>
                      <a:r>
                        <a:rPr lang="en-US" sz="1600" dirty="0">
                          <a:latin typeface="Arial" panose="020B0604020202020204" pitchFamily="34" charset="0"/>
                          <a:cs typeface="Arial" panose="020B0604020202020204" pitchFamily="34" charset="0"/>
                        </a:rPr>
                        <a:t> cycle of a data transfer. It’s an active high signal. </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90504135"/>
                  </a:ext>
                </a:extLst>
              </a:tr>
            </a:tbl>
          </a:graphicData>
        </a:graphic>
      </p:graphicFrame>
      <p:sp>
        <p:nvSpPr>
          <p:cNvPr id="10" name="object 2">
            <a:extLst>
              <a:ext uri="{FF2B5EF4-FFF2-40B4-BE49-F238E27FC236}">
                <a16:creationId xmlns:a16="http://schemas.microsoft.com/office/drawing/2014/main" id="{EFE63B53-50C0-9F7A-3BC3-73F01C99463A}"/>
              </a:ext>
            </a:extLst>
          </p:cNvPr>
          <p:cNvSpPr txBox="1">
            <a:spLocks noGrp="1"/>
          </p:cNvSpPr>
          <p:nvPr>
            <p:ph type="title"/>
          </p:nvPr>
        </p:nvSpPr>
        <p:spPr>
          <a:xfrm>
            <a:off x="430161" y="553692"/>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193198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CE4EB-5929-3210-5DFD-B9073063FE1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2988452-65E6-FECE-CD15-F6358AC83D7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766A2FBB-B89F-0263-7DE2-2F0175DE84DB}"/>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23</a:t>
            </a:fld>
            <a:endParaRPr spc="-25" dirty="0"/>
          </a:p>
        </p:txBody>
      </p:sp>
      <p:sp>
        <p:nvSpPr>
          <p:cNvPr id="6" name="object 6">
            <a:extLst>
              <a:ext uri="{FF2B5EF4-FFF2-40B4-BE49-F238E27FC236}">
                <a16:creationId xmlns:a16="http://schemas.microsoft.com/office/drawing/2014/main" id="{33A2FA04-4D07-FCA9-8396-86ADBA357030}"/>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39AEF0B1-57D7-48F2-9ADD-79E78416C246}"/>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1.2.3 AMBA ABP signals</a:t>
            </a:r>
          </a:p>
        </p:txBody>
      </p:sp>
      <p:graphicFrame>
        <p:nvGraphicFramePr>
          <p:cNvPr id="7" name="Table 6">
            <a:extLst>
              <a:ext uri="{FF2B5EF4-FFF2-40B4-BE49-F238E27FC236}">
                <a16:creationId xmlns:a16="http://schemas.microsoft.com/office/drawing/2014/main" id="{B5C71BB4-2DCD-839E-93FA-CCA2B1F9C8FA}"/>
              </a:ext>
            </a:extLst>
          </p:cNvPr>
          <p:cNvGraphicFramePr>
            <a:graphicFrameLocks noGrp="1"/>
          </p:cNvGraphicFramePr>
          <p:nvPr/>
        </p:nvGraphicFramePr>
        <p:xfrm>
          <a:off x="579214" y="1884540"/>
          <a:ext cx="11033444" cy="436880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PWRITE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r>
                        <a:rPr lang="en-US" sz="1600">
                          <a:latin typeface="Arial" panose="020B0604020202020204" pitchFamily="34" charset="0"/>
                          <a:cs typeface="Arial" panose="020B0604020202020204" pitchFamily="34" charset="0"/>
                        </a:rPr>
                        <a:t>Direction. PWRITE indicates an APB write access when HIGH and an APB read access when LOW.</a:t>
                      </a:r>
                    </a:p>
                  </a:txBody>
                  <a:tcPr/>
                </a:tc>
                <a:extLst>
                  <a:ext uri="{0D108BD9-81ED-4DB2-BD59-A6C34878D82A}">
                    <a16:rowId xmlns:a16="http://schemas.microsoft.com/office/drawing/2014/main" val="413109115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PWDATA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Arial" panose="020B0604020202020204" pitchFamily="34" charset="0"/>
                          <a:cs typeface="Arial" panose="020B0604020202020204" pitchFamily="34" charset="0"/>
                        </a:rPr>
                        <a:t>APB bridge</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IN" sz="1600">
                          <a:solidFill>
                            <a:schemeClr val="tx1"/>
                          </a:solidFill>
                          <a:latin typeface="Arial" panose="020B0604020202020204" pitchFamily="34" charset="0"/>
                          <a:cs typeface="Arial" panose="020B0604020202020204" pitchFamily="34" charset="0"/>
                        </a:rPr>
                        <a:t>Write data. </a:t>
                      </a:r>
                      <a:r>
                        <a:rPr lang="en-US" sz="1600" b="0" i="0">
                          <a:solidFill>
                            <a:schemeClr val="dk1"/>
                          </a:solidFill>
                          <a:effectLst/>
                          <a:latin typeface="Arial" panose="020B0604020202020204" pitchFamily="34" charset="0"/>
                          <a:ea typeface="+mn-ea"/>
                          <a:cs typeface="Arial" panose="020B0604020202020204" pitchFamily="34" charset="0"/>
                        </a:rPr>
                        <a:t>Write data bus from Master to Slave,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en-IN" sz="1600">
                          <a:solidFill>
                            <a:schemeClr val="tx1"/>
                          </a:solidFill>
                          <a:latin typeface="Arial" panose="020B0604020202020204" pitchFamily="34" charset="0"/>
                          <a:cs typeface="Arial" panose="020B0604020202020204" pitchFamily="34" charset="0"/>
                        </a:rPr>
                        <a:t>PSTRB</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DATA_WIDTH/8</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a:latin typeface="Arial" panose="020B0604020202020204" pitchFamily="34" charset="0"/>
                          <a:cs typeface="Arial" panose="020B0604020202020204" pitchFamily="34" charset="0"/>
                        </a:rPr>
                        <a:t>Write strobe. PSTRB indicates which byte lanes to update during a write transfer. There is one write strobe for each 8 bits of the write data bus. PSTRB[n] corresponds to PWDATA[(8n + 7):(8n)]. PSTRB must not be active during a read transfer.</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23051"/>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PREADY</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It is used by the slave to include wait states in the transfer. i.e. whenever slave is not ready to complete the transaction, it will request the master for some time by de-asserting the PREADY.</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PSLVERR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Indicates the Success or failure of the transfer. HIGH indicates failure and LOW indicates Success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en-US" sz="1600" dirty="0">
                          <a:solidFill>
                            <a:schemeClr val="tx1"/>
                          </a:solidFill>
                          <a:latin typeface="Arial" panose="020B0604020202020204" pitchFamily="34" charset="0"/>
                          <a:cs typeface="Arial" panose="020B0604020202020204" pitchFamily="34" charset="0"/>
                        </a:rPr>
                        <a:t>PRDATA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DATA_WIDTH</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Read data us from Slave to Master,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bl>
          </a:graphicData>
        </a:graphic>
      </p:graphicFrame>
      <p:sp>
        <p:nvSpPr>
          <p:cNvPr id="10" name="object 2">
            <a:extLst>
              <a:ext uri="{FF2B5EF4-FFF2-40B4-BE49-F238E27FC236}">
                <a16:creationId xmlns:a16="http://schemas.microsoft.com/office/drawing/2014/main" id="{320E2ED4-75A7-433E-D83F-510A58A9C007}"/>
              </a:ext>
            </a:extLst>
          </p:cNvPr>
          <p:cNvSpPr txBox="1">
            <a:spLocks noGrp="1"/>
          </p:cNvSpPr>
          <p:nvPr>
            <p:ph type="title"/>
          </p:nvPr>
        </p:nvSpPr>
        <p:spPr>
          <a:xfrm>
            <a:off x="430161" y="553692"/>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1701639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190B-2F6F-72E7-3F18-C3336A0FC3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5E3BCA9-DEA2-7C44-58AB-DBF0FF45C7E7}"/>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C1D177D9-47FB-441C-C1A6-D962E330B5F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24</a:t>
            </a:fld>
            <a:endParaRPr spc="-25" dirty="0"/>
          </a:p>
        </p:txBody>
      </p:sp>
      <p:sp>
        <p:nvSpPr>
          <p:cNvPr id="6" name="object 6">
            <a:extLst>
              <a:ext uri="{FF2B5EF4-FFF2-40B4-BE49-F238E27FC236}">
                <a16:creationId xmlns:a16="http://schemas.microsoft.com/office/drawing/2014/main" id="{D9C5477C-FC30-E6C8-0CB0-F5B04E67283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5D7C0D84-A737-7738-8B8A-393FE89F15AB}"/>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1.2.4 APB Transfers – Write transfers</a:t>
            </a:r>
          </a:p>
        </p:txBody>
      </p:sp>
      <p:pic>
        <p:nvPicPr>
          <p:cNvPr id="8" name="Picture 7" descr="A diagram of a computer program&#10;&#10;AI-generated content may be incorrect.">
            <a:extLst>
              <a:ext uri="{FF2B5EF4-FFF2-40B4-BE49-F238E27FC236}">
                <a16:creationId xmlns:a16="http://schemas.microsoft.com/office/drawing/2014/main" id="{9E832978-0B3C-5343-0930-7540C02FE289}"/>
              </a:ext>
            </a:extLst>
          </p:cNvPr>
          <p:cNvPicPr>
            <a:picLocks noChangeAspect="1"/>
          </p:cNvPicPr>
          <p:nvPr/>
        </p:nvPicPr>
        <p:blipFill>
          <a:blip r:embed="rId2"/>
          <a:stretch>
            <a:fillRect/>
          </a:stretch>
        </p:blipFill>
        <p:spPr>
          <a:xfrm>
            <a:off x="152400" y="1945031"/>
            <a:ext cx="5272783" cy="3192815"/>
          </a:xfrm>
          <a:prstGeom prst="rect">
            <a:avLst/>
          </a:prstGeom>
        </p:spPr>
      </p:pic>
      <p:sp>
        <p:nvSpPr>
          <p:cNvPr id="10" name="TextBox 9">
            <a:extLst>
              <a:ext uri="{FF2B5EF4-FFF2-40B4-BE49-F238E27FC236}">
                <a16:creationId xmlns:a16="http://schemas.microsoft.com/office/drawing/2014/main" id="{4DC855C2-91B7-B770-419B-8279C7BF3828}"/>
              </a:ext>
            </a:extLst>
          </p:cNvPr>
          <p:cNvSpPr txBox="1"/>
          <p:nvPr/>
        </p:nvSpPr>
        <p:spPr>
          <a:xfrm>
            <a:off x="508317" y="1661817"/>
            <a:ext cx="4343400" cy="369332"/>
          </a:xfrm>
          <a:prstGeom prst="rect">
            <a:avLst/>
          </a:prstGeom>
          <a:noFill/>
        </p:spPr>
        <p:txBody>
          <a:bodyPr wrap="square">
            <a:spAutoFit/>
          </a:bodyPr>
          <a:lstStyle/>
          <a:p>
            <a:r>
              <a:rPr lang="en-US" b="1"/>
              <a:t>WRITE Transfer – Without Wait States</a:t>
            </a:r>
          </a:p>
        </p:txBody>
      </p:sp>
      <p:pic>
        <p:nvPicPr>
          <p:cNvPr id="7" name="Picture 6">
            <a:extLst>
              <a:ext uri="{FF2B5EF4-FFF2-40B4-BE49-F238E27FC236}">
                <a16:creationId xmlns:a16="http://schemas.microsoft.com/office/drawing/2014/main" id="{7D074E4D-589E-DE25-633B-FFFA2A578158}"/>
              </a:ext>
            </a:extLst>
          </p:cNvPr>
          <p:cNvPicPr>
            <a:picLocks noChangeAspect="1"/>
          </p:cNvPicPr>
          <p:nvPr/>
        </p:nvPicPr>
        <p:blipFill>
          <a:blip r:embed="rId3"/>
          <a:stretch>
            <a:fillRect/>
          </a:stretch>
        </p:blipFill>
        <p:spPr>
          <a:xfrm>
            <a:off x="5457138" y="2269227"/>
            <a:ext cx="6234749" cy="2868619"/>
          </a:xfrm>
          <a:prstGeom prst="rect">
            <a:avLst/>
          </a:prstGeom>
        </p:spPr>
      </p:pic>
      <p:sp>
        <p:nvSpPr>
          <p:cNvPr id="9" name="TextBox 8">
            <a:extLst>
              <a:ext uri="{FF2B5EF4-FFF2-40B4-BE49-F238E27FC236}">
                <a16:creationId xmlns:a16="http://schemas.microsoft.com/office/drawing/2014/main" id="{DCD9146E-3C7B-5131-DD85-5668BE01171A}"/>
              </a:ext>
            </a:extLst>
          </p:cNvPr>
          <p:cNvSpPr txBox="1"/>
          <p:nvPr/>
        </p:nvSpPr>
        <p:spPr>
          <a:xfrm>
            <a:off x="6824090" y="1748090"/>
            <a:ext cx="4343400" cy="369332"/>
          </a:xfrm>
          <a:prstGeom prst="rect">
            <a:avLst/>
          </a:prstGeom>
          <a:noFill/>
        </p:spPr>
        <p:txBody>
          <a:bodyPr wrap="square">
            <a:spAutoFit/>
          </a:bodyPr>
          <a:lstStyle/>
          <a:p>
            <a:r>
              <a:rPr lang="en-US" b="1" dirty="0"/>
              <a:t>WRITE Transfer – With Wait States</a:t>
            </a:r>
          </a:p>
        </p:txBody>
      </p:sp>
      <p:sp>
        <p:nvSpPr>
          <p:cNvPr id="15" name="object 2">
            <a:extLst>
              <a:ext uri="{FF2B5EF4-FFF2-40B4-BE49-F238E27FC236}">
                <a16:creationId xmlns:a16="http://schemas.microsoft.com/office/drawing/2014/main" id="{CDA3F1C8-1F0E-7B9D-4743-6F56FA20E975}"/>
              </a:ext>
            </a:extLst>
          </p:cNvPr>
          <p:cNvSpPr txBox="1">
            <a:spLocks noGrp="1"/>
          </p:cNvSpPr>
          <p:nvPr>
            <p:ph type="title"/>
          </p:nvPr>
        </p:nvSpPr>
        <p:spPr>
          <a:xfrm>
            <a:off x="430161" y="553692"/>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1472838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A167-D6BB-1D4B-CFBC-7DED1AFCE5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9B56BA-513E-56FB-FD28-FB496D95C1A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723A5E84-84AC-40D7-7124-414A5225A22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25</a:t>
            </a:fld>
            <a:endParaRPr spc="-25" dirty="0"/>
          </a:p>
        </p:txBody>
      </p:sp>
      <p:sp>
        <p:nvSpPr>
          <p:cNvPr id="6" name="object 6">
            <a:extLst>
              <a:ext uri="{FF2B5EF4-FFF2-40B4-BE49-F238E27FC236}">
                <a16:creationId xmlns:a16="http://schemas.microsoft.com/office/drawing/2014/main" id="{1DDAAC54-28D4-FA55-2E7B-DB98F4AB8949}"/>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BF45FF72-54DD-079B-B243-C1E1C885F602}"/>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1.2.5 APB Transfers – Read transfers</a:t>
            </a:r>
          </a:p>
        </p:txBody>
      </p:sp>
      <p:pic>
        <p:nvPicPr>
          <p:cNvPr id="8" name="Picture 7" descr="A diagram of a diagram&#10;&#10;AI-generated content may be incorrect.">
            <a:extLst>
              <a:ext uri="{FF2B5EF4-FFF2-40B4-BE49-F238E27FC236}">
                <a16:creationId xmlns:a16="http://schemas.microsoft.com/office/drawing/2014/main" id="{7B095D39-98FC-7FBF-8E06-81A487909CA6}"/>
              </a:ext>
            </a:extLst>
          </p:cNvPr>
          <p:cNvPicPr>
            <a:picLocks noChangeAspect="1"/>
          </p:cNvPicPr>
          <p:nvPr/>
        </p:nvPicPr>
        <p:blipFill>
          <a:blip r:embed="rId2"/>
          <a:stretch>
            <a:fillRect/>
          </a:stretch>
        </p:blipFill>
        <p:spPr>
          <a:xfrm>
            <a:off x="147008" y="1981200"/>
            <a:ext cx="5050946" cy="3097541"/>
          </a:xfrm>
          <a:prstGeom prst="rect">
            <a:avLst/>
          </a:prstGeom>
        </p:spPr>
      </p:pic>
      <p:sp>
        <p:nvSpPr>
          <p:cNvPr id="13" name="TextBox 12">
            <a:extLst>
              <a:ext uri="{FF2B5EF4-FFF2-40B4-BE49-F238E27FC236}">
                <a16:creationId xmlns:a16="http://schemas.microsoft.com/office/drawing/2014/main" id="{F17A4553-5FE5-512F-BDA1-EB13CC75171D}"/>
              </a:ext>
            </a:extLst>
          </p:cNvPr>
          <p:cNvSpPr txBox="1"/>
          <p:nvPr/>
        </p:nvSpPr>
        <p:spPr>
          <a:xfrm>
            <a:off x="609600" y="1661817"/>
            <a:ext cx="4343400" cy="369332"/>
          </a:xfrm>
          <a:prstGeom prst="rect">
            <a:avLst/>
          </a:prstGeom>
          <a:noFill/>
        </p:spPr>
        <p:txBody>
          <a:bodyPr wrap="square">
            <a:spAutoFit/>
          </a:bodyPr>
          <a:lstStyle/>
          <a:p>
            <a:r>
              <a:rPr lang="en-US" b="1" dirty="0"/>
              <a:t>Read Transfer – Without Wait States</a:t>
            </a:r>
          </a:p>
        </p:txBody>
      </p:sp>
      <p:pic>
        <p:nvPicPr>
          <p:cNvPr id="7" name="Picture 6" descr="A diagram of a diagram&#10;&#10;AI-generated content may be incorrect.">
            <a:extLst>
              <a:ext uri="{FF2B5EF4-FFF2-40B4-BE49-F238E27FC236}">
                <a16:creationId xmlns:a16="http://schemas.microsoft.com/office/drawing/2014/main" id="{7DD4323C-9337-8518-4712-0C26E9CE3302}"/>
              </a:ext>
            </a:extLst>
          </p:cNvPr>
          <p:cNvPicPr>
            <a:picLocks noChangeAspect="1"/>
          </p:cNvPicPr>
          <p:nvPr/>
        </p:nvPicPr>
        <p:blipFill>
          <a:blip r:embed="rId3"/>
          <a:stretch>
            <a:fillRect/>
          </a:stretch>
        </p:blipFill>
        <p:spPr>
          <a:xfrm>
            <a:off x="5486400" y="2286000"/>
            <a:ext cx="6387191" cy="2677491"/>
          </a:xfrm>
          <a:prstGeom prst="rect">
            <a:avLst/>
          </a:prstGeom>
        </p:spPr>
      </p:pic>
      <p:sp>
        <p:nvSpPr>
          <p:cNvPr id="9" name="TextBox 8">
            <a:extLst>
              <a:ext uri="{FF2B5EF4-FFF2-40B4-BE49-F238E27FC236}">
                <a16:creationId xmlns:a16="http://schemas.microsoft.com/office/drawing/2014/main" id="{BFEA4CED-08D5-F86E-1EEE-75A5F25AD6F8}"/>
              </a:ext>
            </a:extLst>
          </p:cNvPr>
          <p:cNvSpPr txBox="1"/>
          <p:nvPr/>
        </p:nvSpPr>
        <p:spPr>
          <a:xfrm>
            <a:off x="7188527" y="1667521"/>
            <a:ext cx="4343400" cy="369332"/>
          </a:xfrm>
          <a:prstGeom prst="rect">
            <a:avLst/>
          </a:prstGeom>
          <a:noFill/>
        </p:spPr>
        <p:txBody>
          <a:bodyPr wrap="square">
            <a:spAutoFit/>
          </a:bodyPr>
          <a:lstStyle/>
          <a:p>
            <a:r>
              <a:rPr lang="en-US" b="1" dirty="0"/>
              <a:t>Read Transfer – With Wait States</a:t>
            </a:r>
          </a:p>
        </p:txBody>
      </p:sp>
      <p:sp>
        <p:nvSpPr>
          <p:cNvPr id="14" name="object 2">
            <a:extLst>
              <a:ext uri="{FF2B5EF4-FFF2-40B4-BE49-F238E27FC236}">
                <a16:creationId xmlns:a16="http://schemas.microsoft.com/office/drawing/2014/main" id="{3180513F-21EB-05A4-69ED-1E88F7797428}"/>
              </a:ext>
            </a:extLst>
          </p:cNvPr>
          <p:cNvSpPr txBox="1">
            <a:spLocks noGrp="1"/>
          </p:cNvSpPr>
          <p:nvPr>
            <p:ph type="title"/>
          </p:nvPr>
        </p:nvSpPr>
        <p:spPr>
          <a:xfrm>
            <a:off x="430161" y="553692"/>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4274381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38AFC-DCA2-2EFD-2960-925EE996CD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685176-BBAB-8D55-ACC1-AACD25F80242}"/>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813A6AC-921D-6B7B-53A5-793914B3D3A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26</a:t>
            </a:fld>
            <a:endParaRPr spc="-25" dirty="0"/>
          </a:p>
        </p:txBody>
      </p:sp>
      <p:sp>
        <p:nvSpPr>
          <p:cNvPr id="6" name="object 6">
            <a:extLst>
              <a:ext uri="{FF2B5EF4-FFF2-40B4-BE49-F238E27FC236}">
                <a16:creationId xmlns:a16="http://schemas.microsoft.com/office/drawing/2014/main" id="{375F50E4-056D-F253-C94F-58FB2AFE795F}"/>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58EA604D-8C48-9086-2343-77CA92897F10}"/>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1.2.6 APB Transfers – Error response</a:t>
            </a:r>
          </a:p>
        </p:txBody>
      </p:sp>
      <p:pic>
        <p:nvPicPr>
          <p:cNvPr id="8" name="Picture 7" descr="A diagram of a computer program&#10;&#10;AI-generated content may be incorrect.">
            <a:extLst>
              <a:ext uri="{FF2B5EF4-FFF2-40B4-BE49-F238E27FC236}">
                <a16:creationId xmlns:a16="http://schemas.microsoft.com/office/drawing/2014/main" id="{6E778C71-EE3A-C4D0-EE83-235368B85E24}"/>
              </a:ext>
            </a:extLst>
          </p:cNvPr>
          <p:cNvPicPr>
            <a:picLocks noChangeAspect="1"/>
          </p:cNvPicPr>
          <p:nvPr/>
        </p:nvPicPr>
        <p:blipFill>
          <a:blip r:embed="rId2"/>
          <a:stretch>
            <a:fillRect/>
          </a:stretch>
        </p:blipFill>
        <p:spPr>
          <a:xfrm>
            <a:off x="457200" y="2286000"/>
            <a:ext cx="5086954" cy="2910183"/>
          </a:xfrm>
          <a:prstGeom prst="rect">
            <a:avLst/>
          </a:prstGeom>
        </p:spPr>
      </p:pic>
      <p:sp>
        <p:nvSpPr>
          <p:cNvPr id="11" name="TextBox 10">
            <a:extLst>
              <a:ext uri="{FF2B5EF4-FFF2-40B4-BE49-F238E27FC236}">
                <a16:creationId xmlns:a16="http://schemas.microsoft.com/office/drawing/2014/main" id="{2B797C39-0BC3-A949-008F-75DB935FF58D}"/>
              </a:ext>
            </a:extLst>
          </p:cNvPr>
          <p:cNvSpPr txBox="1"/>
          <p:nvPr/>
        </p:nvSpPr>
        <p:spPr>
          <a:xfrm>
            <a:off x="1959435" y="1720606"/>
            <a:ext cx="2082483" cy="369332"/>
          </a:xfrm>
          <a:prstGeom prst="rect">
            <a:avLst/>
          </a:prstGeom>
          <a:noFill/>
        </p:spPr>
        <p:txBody>
          <a:bodyPr wrap="square">
            <a:spAutoFit/>
          </a:bodyPr>
          <a:lstStyle/>
          <a:p>
            <a:r>
              <a:rPr lang="en-US" b="1" dirty="0"/>
              <a:t>Write transfers</a:t>
            </a:r>
          </a:p>
        </p:txBody>
      </p:sp>
      <p:pic>
        <p:nvPicPr>
          <p:cNvPr id="7" name="Picture 6" descr="A diagram of a diagram&#10;&#10;AI-generated content may be incorrect.">
            <a:extLst>
              <a:ext uri="{FF2B5EF4-FFF2-40B4-BE49-F238E27FC236}">
                <a16:creationId xmlns:a16="http://schemas.microsoft.com/office/drawing/2014/main" id="{D6FFFDF9-E5AD-6DC0-0D82-D5C88C5BFCAD}"/>
              </a:ext>
            </a:extLst>
          </p:cNvPr>
          <p:cNvPicPr>
            <a:picLocks noChangeAspect="1"/>
          </p:cNvPicPr>
          <p:nvPr/>
        </p:nvPicPr>
        <p:blipFill>
          <a:blip r:embed="rId3"/>
          <a:stretch>
            <a:fillRect/>
          </a:stretch>
        </p:blipFill>
        <p:spPr>
          <a:xfrm>
            <a:off x="5705745" y="2485644"/>
            <a:ext cx="5648055" cy="2673668"/>
          </a:xfrm>
          <a:prstGeom prst="rect">
            <a:avLst/>
          </a:prstGeom>
        </p:spPr>
      </p:pic>
      <p:sp>
        <p:nvSpPr>
          <p:cNvPr id="9" name="TextBox 8">
            <a:extLst>
              <a:ext uri="{FF2B5EF4-FFF2-40B4-BE49-F238E27FC236}">
                <a16:creationId xmlns:a16="http://schemas.microsoft.com/office/drawing/2014/main" id="{D2F6A99D-A9EA-210C-7279-D9C42BA76CE2}"/>
              </a:ext>
            </a:extLst>
          </p:cNvPr>
          <p:cNvSpPr txBox="1"/>
          <p:nvPr/>
        </p:nvSpPr>
        <p:spPr>
          <a:xfrm>
            <a:off x="7772400" y="1720606"/>
            <a:ext cx="2158683" cy="369332"/>
          </a:xfrm>
          <a:prstGeom prst="rect">
            <a:avLst/>
          </a:prstGeom>
          <a:noFill/>
        </p:spPr>
        <p:txBody>
          <a:bodyPr wrap="square">
            <a:spAutoFit/>
          </a:bodyPr>
          <a:lstStyle/>
          <a:p>
            <a:r>
              <a:rPr lang="en-US" b="1" dirty="0"/>
              <a:t>Read transfers</a:t>
            </a:r>
          </a:p>
        </p:txBody>
      </p:sp>
      <p:sp>
        <p:nvSpPr>
          <p:cNvPr id="13" name="object 2">
            <a:extLst>
              <a:ext uri="{FF2B5EF4-FFF2-40B4-BE49-F238E27FC236}">
                <a16:creationId xmlns:a16="http://schemas.microsoft.com/office/drawing/2014/main" id="{159B0C15-00AF-7D76-57C0-E7BCEB5C9EC6}"/>
              </a:ext>
            </a:extLst>
          </p:cNvPr>
          <p:cNvSpPr txBox="1">
            <a:spLocks noGrp="1"/>
          </p:cNvSpPr>
          <p:nvPr>
            <p:ph type="title"/>
          </p:nvPr>
        </p:nvSpPr>
        <p:spPr>
          <a:xfrm>
            <a:off x="430161" y="553692"/>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905194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B372C-BBD3-0748-754F-889E005621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956EB74-839D-2788-57E4-3998A3E273FA}"/>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0DA9755-6AFE-A323-DF1A-D9BEC6ABAE9D}"/>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27</a:t>
            </a:fld>
            <a:endParaRPr spc="-25" dirty="0"/>
          </a:p>
        </p:txBody>
      </p:sp>
      <p:sp>
        <p:nvSpPr>
          <p:cNvPr id="6" name="object 6">
            <a:extLst>
              <a:ext uri="{FF2B5EF4-FFF2-40B4-BE49-F238E27FC236}">
                <a16:creationId xmlns:a16="http://schemas.microsoft.com/office/drawing/2014/main" id="{A671C7BF-7D53-D3C2-EB3E-670A538C61D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6FA8958E-4309-1F78-D689-24F5A2566909}"/>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1.2.7 Operation States</a:t>
            </a:r>
          </a:p>
        </p:txBody>
      </p:sp>
      <p:pic>
        <p:nvPicPr>
          <p:cNvPr id="9" name="Picture 8" descr="A diagram of a system&#10;&#10;AI-generated content may be incorrect.">
            <a:extLst>
              <a:ext uri="{FF2B5EF4-FFF2-40B4-BE49-F238E27FC236}">
                <a16:creationId xmlns:a16="http://schemas.microsoft.com/office/drawing/2014/main" id="{A3D4582A-38E4-FAAD-2D87-51799E0B84C4}"/>
              </a:ext>
            </a:extLst>
          </p:cNvPr>
          <p:cNvPicPr>
            <a:picLocks noChangeAspect="1"/>
          </p:cNvPicPr>
          <p:nvPr/>
        </p:nvPicPr>
        <p:blipFill>
          <a:blip r:embed="rId2"/>
          <a:stretch>
            <a:fillRect/>
          </a:stretch>
        </p:blipFill>
        <p:spPr>
          <a:xfrm>
            <a:off x="6324600" y="1524000"/>
            <a:ext cx="4932866" cy="4953000"/>
          </a:xfrm>
          <a:prstGeom prst="rect">
            <a:avLst/>
          </a:prstGeom>
        </p:spPr>
      </p:pic>
      <p:graphicFrame>
        <p:nvGraphicFramePr>
          <p:cNvPr id="15" name="Table 14">
            <a:extLst>
              <a:ext uri="{FF2B5EF4-FFF2-40B4-BE49-F238E27FC236}">
                <a16:creationId xmlns:a16="http://schemas.microsoft.com/office/drawing/2014/main" id="{3FD3D88E-37E2-AAAF-1460-82558C5A71EB}"/>
              </a:ext>
            </a:extLst>
          </p:cNvPr>
          <p:cNvGraphicFramePr>
            <a:graphicFrameLocks noGrp="1"/>
          </p:cNvGraphicFramePr>
          <p:nvPr/>
        </p:nvGraphicFramePr>
        <p:xfrm>
          <a:off x="508317" y="2799759"/>
          <a:ext cx="5719950" cy="2926080"/>
        </p:xfrm>
        <a:graphic>
          <a:graphicData uri="http://schemas.openxmlformats.org/drawingml/2006/table">
            <a:tbl>
              <a:tblPr firstRow="1" bandRow="1">
                <a:tableStyleId>{5C22544A-7EE6-4342-B048-85BDC9FD1C3A}</a:tableStyleId>
              </a:tblPr>
              <a:tblGrid>
                <a:gridCol w="1472883">
                  <a:extLst>
                    <a:ext uri="{9D8B030D-6E8A-4147-A177-3AD203B41FA5}">
                      <a16:colId xmlns:a16="http://schemas.microsoft.com/office/drawing/2014/main" val="288523792"/>
                    </a:ext>
                  </a:extLst>
                </a:gridCol>
                <a:gridCol w="4247067">
                  <a:extLst>
                    <a:ext uri="{9D8B030D-6E8A-4147-A177-3AD203B41FA5}">
                      <a16:colId xmlns:a16="http://schemas.microsoft.com/office/drawing/2014/main" val="4248578073"/>
                    </a:ext>
                  </a:extLst>
                </a:gridCol>
              </a:tblGrid>
              <a:tr h="370840">
                <a:tc>
                  <a:txBody>
                    <a:bodyPr/>
                    <a:lstStyle/>
                    <a:p>
                      <a:r>
                        <a:rPr lang="en-US" b="1">
                          <a:solidFill>
                            <a:schemeClr val="tx1"/>
                          </a:solidFill>
                          <a:latin typeface="Arial" panose="020B0604020202020204" pitchFamily="34" charset="0"/>
                          <a:cs typeface="Arial" panose="020B0604020202020204" pitchFamily="34" charset="0"/>
                        </a:rPr>
                        <a:t>IDLE</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solidFill>
                            <a:schemeClr val="tx1"/>
                          </a:solidFill>
                          <a:latin typeface="Arial" panose="020B0604020202020204" pitchFamily="34" charset="0"/>
                          <a:cs typeface="Arial" panose="020B0604020202020204" pitchFamily="34" charset="0"/>
                        </a:rPr>
                        <a:t>This is the default state of the APB interface.</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8999248"/>
                  </a:ext>
                </a:extLst>
              </a:tr>
              <a:tr h="370840">
                <a:tc>
                  <a:txBody>
                    <a:bodyPr/>
                    <a:lstStyle/>
                    <a:p>
                      <a:r>
                        <a:rPr lang="en-US" b="1">
                          <a:solidFill>
                            <a:schemeClr val="tx1"/>
                          </a:solidFill>
                          <a:latin typeface="Arial" panose="020B0604020202020204" pitchFamily="34" charset="0"/>
                          <a:cs typeface="Arial" panose="020B0604020202020204" pitchFamily="34" charset="0"/>
                        </a:rPr>
                        <a:t>SETUP</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a:latin typeface="Arial" panose="020B0604020202020204" pitchFamily="34" charset="0"/>
                          <a:cs typeface="Arial" panose="020B0604020202020204" pitchFamily="34" charset="0"/>
                        </a:rPr>
                        <a:t>When a transfer is required, the interface moves into the SETUP state, where the appropriate select signal, PSELx, is asserted. The interface only remains in the SETUP state for one clock cycle and always moves to the ACCESS state on the next rising edge of the clock.</a:t>
                      </a:r>
                      <a:endParaRPr lang="en-US" b="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1320991"/>
                  </a:ext>
                </a:extLst>
              </a:tr>
            </a:tbl>
          </a:graphicData>
        </a:graphic>
      </p:graphicFrame>
      <p:sp>
        <p:nvSpPr>
          <p:cNvPr id="10" name="object 2">
            <a:extLst>
              <a:ext uri="{FF2B5EF4-FFF2-40B4-BE49-F238E27FC236}">
                <a16:creationId xmlns:a16="http://schemas.microsoft.com/office/drawing/2014/main" id="{9C3EB4CE-017A-2B47-D224-6A9BA055552A}"/>
              </a:ext>
            </a:extLst>
          </p:cNvPr>
          <p:cNvSpPr txBox="1">
            <a:spLocks noGrp="1"/>
          </p:cNvSpPr>
          <p:nvPr>
            <p:ph type="title"/>
          </p:nvPr>
        </p:nvSpPr>
        <p:spPr>
          <a:xfrm>
            <a:off x="430161" y="553692"/>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2757020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280A4-ACBD-B020-481A-97E5EF1A1F8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174AF18-A2AA-9062-BB87-C89F4F7751C9}"/>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3E4EBB39-557C-330A-396B-55357F2E9775}"/>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28</a:t>
            </a:fld>
            <a:endParaRPr spc="-25" dirty="0"/>
          </a:p>
        </p:txBody>
      </p:sp>
      <p:sp>
        <p:nvSpPr>
          <p:cNvPr id="6" name="object 6">
            <a:extLst>
              <a:ext uri="{FF2B5EF4-FFF2-40B4-BE49-F238E27FC236}">
                <a16:creationId xmlns:a16="http://schemas.microsoft.com/office/drawing/2014/main" id="{7D6138D6-E61C-A7E3-1BEF-6EBECF8CCF93}"/>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E58CA249-F67A-9386-8B03-DA3A84D779C2}"/>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1.2.7 Operation States</a:t>
            </a:r>
          </a:p>
        </p:txBody>
      </p:sp>
      <p:graphicFrame>
        <p:nvGraphicFramePr>
          <p:cNvPr id="7" name="Table 6">
            <a:extLst>
              <a:ext uri="{FF2B5EF4-FFF2-40B4-BE49-F238E27FC236}">
                <a16:creationId xmlns:a16="http://schemas.microsoft.com/office/drawing/2014/main" id="{F5345214-CCC0-1BDB-2373-E7DD381B7F5E}"/>
              </a:ext>
            </a:extLst>
          </p:cNvPr>
          <p:cNvGraphicFramePr>
            <a:graphicFrameLocks noGrp="1"/>
          </p:cNvGraphicFramePr>
          <p:nvPr/>
        </p:nvGraphicFramePr>
        <p:xfrm>
          <a:off x="476250" y="1898650"/>
          <a:ext cx="5719950" cy="4480560"/>
        </p:xfrm>
        <a:graphic>
          <a:graphicData uri="http://schemas.openxmlformats.org/drawingml/2006/table">
            <a:tbl>
              <a:tblPr firstRow="1" bandRow="1">
                <a:tableStyleId>{5C22544A-7EE6-4342-B048-85BDC9FD1C3A}</a:tableStyleId>
              </a:tblPr>
              <a:tblGrid>
                <a:gridCol w="1472883">
                  <a:extLst>
                    <a:ext uri="{9D8B030D-6E8A-4147-A177-3AD203B41FA5}">
                      <a16:colId xmlns:a16="http://schemas.microsoft.com/office/drawing/2014/main" val="2151413220"/>
                    </a:ext>
                  </a:extLst>
                </a:gridCol>
                <a:gridCol w="4247067">
                  <a:extLst>
                    <a:ext uri="{9D8B030D-6E8A-4147-A177-3AD203B41FA5}">
                      <a16:colId xmlns:a16="http://schemas.microsoft.com/office/drawing/2014/main" val="1620044529"/>
                    </a:ext>
                  </a:extLst>
                </a:gridCol>
              </a:tblGrid>
              <a:tr h="370840">
                <a:tc>
                  <a:txBody>
                    <a:bodyPr/>
                    <a:lstStyle/>
                    <a:p>
                      <a:r>
                        <a:rPr lang="en-US" b="1">
                          <a:solidFill>
                            <a:schemeClr val="tx1"/>
                          </a:solidFill>
                          <a:latin typeface="Arial" panose="020B0604020202020204" pitchFamily="34" charset="0"/>
                          <a:cs typeface="Arial" panose="020B0604020202020204" pitchFamily="34" charset="0"/>
                        </a:rPr>
                        <a:t>ACCESS</a:t>
                      </a:r>
                    </a:p>
                  </a:txBody>
                  <a:tcP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b="1">
                          <a:solidFill>
                            <a:schemeClr val="tx1"/>
                          </a:solidFill>
                          <a:latin typeface="Arial" panose="020B0604020202020204" pitchFamily="34" charset="0"/>
                          <a:cs typeface="Arial" panose="020B0604020202020204" pitchFamily="34" charset="0"/>
                        </a:rPr>
                        <a:t>PENABLE</a:t>
                      </a:r>
                      <a:r>
                        <a:rPr lang="en-US" b="0">
                          <a:solidFill>
                            <a:schemeClr val="tx1"/>
                          </a:solidFill>
                          <a:latin typeface="Arial" panose="020B0604020202020204" pitchFamily="34" charset="0"/>
                          <a:cs typeface="Arial" panose="020B0604020202020204" pitchFamily="34" charset="0"/>
                        </a:rPr>
                        <a:t> is asserted in the ACCESS state. During the transition from SETUP to ACCESS and throughout the ACCESS state, the following signals must remain stable: </a:t>
                      </a:r>
                      <a:r>
                        <a:rPr lang="en-US" b="1" i="1">
                          <a:solidFill>
                            <a:schemeClr val="tx1"/>
                          </a:solidFill>
                          <a:latin typeface="Arial" panose="020B0604020202020204" pitchFamily="34" charset="0"/>
                          <a:cs typeface="Arial" panose="020B0604020202020204" pitchFamily="34" charset="0"/>
                        </a:rPr>
                        <a:t>PADDR, PPROT, PWRITE, PSTRB, PAUSER, PWUSER, and PWDATA </a:t>
                      </a:r>
                      <a:r>
                        <a:rPr lang="en-US" b="0">
                          <a:solidFill>
                            <a:schemeClr val="tx1"/>
                          </a:solidFill>
                          <a:latin typeface="Arial" panose="020B0604020202020204" pitchFamily="34" charset="0"/>
                          <a:cs typeface="Arial" panose="020B0604020202020204" pitchFamily="34" charset="0"/>
                        </a:rPr>
                        <a:t>(for write transfers only).</a:t>
                      </a:r>
                    </a:p>
                    <a:p>
                      <a:pPr marL="285750" indent="-285750">
                        <a:buFont typeface="Arial" panose="020B0604020202020204" pitchFamily="34" charset="0"/>
                        <a:buChar char="•"/>
                      </a:pPr>
                      <a:r>
                        <a:rPr lang="en-US" b="0">
                          <a:solidFill>
                            <a:schemeClr val="tx1"/>
                          </a:solidFill>
                          <a:latin typeface="Arial" panose="020B0604020202020204" pitchFamily="34" charset="0"/>
                          <a:cs typeface="Arial" panose="020B0604020202020204" pitchFamily="34" charset="0"/>
                        </a:rPr>
                        <a:t>The exit from the ACCESS state depends on </a:t>
                      </a:r>
                      <a:r>
                        <a:rPr lang="en-US" b="1">
                          <a:solidFill>
                            <a:schemeClr val="tx1"/>
                          </a:solidFill>
                          <a:latin typeface="Arial" panose="020B0604020202020204" pitchFamily="34" charset="0"/>
                          <a:cs typeface="Arial" panose="020B0604020202020204" pitchFamily="34" charset="0"/>
                        </a:rPr>
                        <a:t>PREADY</a:t>
                      </a:r>
                      <a:r>
                        <a:rPr lang="en-US" b="0">
                          <a:solidFill>
                            <a:schemeClr val="tx1"/>
                          </a:solidFill>
                          <a:latin typeface="Arial" panose="020B0604020202020204" pitchFamily="34" charset="0"/>
                          <a:cs typeface="Arial" panose="020B0604020202020204" pitchFamily="34" charset="0"/>
                        </a:rPr>
                        <a:t> from the Completer: if </a:t>
                      </a:r>
                      <a:r>
                        <a:rPr lang="en-US" b="1">
                          <a:solidFill>
                            <a:schemeClr val="tx1"/>
                          </a:solidFill>
                          <a:latin typeface="Arial" panose="020B0604020202020204" pitchFamily="34" charset="0"/>
                          <a:cs typeface="Arial" panose="020B0604020202020204" pitchFamily="34" charset="0"/>
                        </a:rPr>
                        <a:t>PREADY</a:t>
                      </a:r>
                      <a:r>
                        <a:rPr lang="en-US" b="0">
                          <a:solidFill>
                            <a:schemeClr val="tx1"/>
                          </a:solidFill>
                          <a:latin typeface="Arial" panose="020B0604020202020204" pitchFamily="34" charset="0"/>
                          <a:cs typeface="Arial" panose="020B0604020202020204" pitchFamily="34" charset="0"/>
                        </a:rPr>
                        <a:t> is LOW, the bus </a:t>
                      </a:r>
                      <a:r>
                        <a:rPr lang="en-US" b="1" i="1">
                          <a:solidFill>
                            <a:schemeClr val="tx1"/>
                          </a:solidFill>
                          <a:latin typeface="Arial" panose="020B0604020202020204" pitchFamily="34" charset="0"/>
                          <a:cs typeface="Arial" panose="020B0604020202020204" pitchFamily="34" charset="0"/>
                        </a:rPr>
                        <a:t>stays</a:t>
                      </a:r>
                      <a:r>
                        <a:rPr lang="en-US" b="0">
                          <a:solidFill>
                            <a:schemeClr val="tx1"/>
                          </a:solidFill>
                          <a:latin typeface="Arial" panose="020B0604020202020204" pitchFamily="34" charset="0"/>
                          <a:cs typeface="Arial" panose="020B0604020202020204" pitchFamily="34" charset="0"/>
                        </a:rPr>
                        <a:t> </a:t>
                      </a:r>
                      <a:r>
                        <a:rPr lang="en-US" b="1" i="1">
                          <a:solidFill>
                            <a:schemeClr val="tx1"/>
                          </a:solidFill>
                          <a:latin typeface="Arial" panose="020B0604020202020204" pitchFamily="34" charset="0"/>
                          <a:cs typeface="Arial" panose="020B0604020202020204" pitchFamily="34" charset="0"/>
                        </a:rPr>
                        <a:t>in</a:t>
                      </a:r>
                      <a:r>
                        <a:rPr lang="en-US" b="0">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ACCESS</a:t>
                      </a:r>
                      <a:r>
                        <a:rPr lang="en-US" b="0">
                          <a:solidFill>
                            <a:schemeClr val="tx1"/>
                          </a:solidFill>
                          <a:latin typeface="Arial" panose="020B0604020202020204" pitchFamily="34" charset="0"/>
                          <a:cs typeface="Arial" panose="020B0604020202020204" pitchFamily="34" charset="0"/>
                        </a:rPr>
                        <a:t>; if </a:t>
                      </a:r>
                      <a:r>
                        <a:rPr lang="en-US" b="1">
                          <a:solidFill>
                            <a:schemeClr val="tx1"/>
                          </a:solidFill>
                          <a:latin typeface="Arial" panose="020B0604020202020204" pitchFamily="34" charset="0"/>
                          <a:cs typeface="Arial" panose="020B0604020202020204" pitchFamily="34" charset="0"/>
                        </a:rPr>
                        <a:t>PREADY</a:t>
                      </a:r>
                      <a:r>
                        <a:rPr lang="en-US" b="0">
                          <a:solidFill>
                            <a:schemeClr val="tx1"/>
                          </a:solidFill>
                          <a:latin typeface="Arial" panose="020B0604020202020204" pitchFamily="34" charset="0"/>
                          <a:cs typeface="Arial" panose="020B0604020202020204" pitchFamily="34" charset="0"/>
                        </a:rPr>
                        <a:t> is HIGH, the bus </a:t>
                      </a:r>
                      <a:r>
                        <a:rPr lang="en-US" b="1" i="1">
                          <a:solidFill>
                            <a:schemeClr val="tx1"/>
                          </a:solidFill>
                          <a:latin typeface="Arial" panose="020B0604020202020204" pitchFamily="34" charset="0"/>
                          <a:cs typeface="Arial" panose="020B0604020202020204" pitchFamily="34" charset="0"/>
                        </a:rPr>
                        <a:t>leaves</a:t>
                      </a:r>
                      <a:r>
                        <a:rPr lang="en-US" b="0">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ACCESS</a:t>
                      </a:r>
                      <a:r>
                        <a:rPr lang="en-US" b="0">
                          <a:solidFill>
                            <a:schemeClr val="tx1"/>
                          </a:solidFill>
                          <a:latin typeface="Arial" panose="020B0604020202020204" pitchFamily="34" charset="0"/>
                          <a:cs typeface="Arial" panose="020B0604020202020204" pitchFamily="34" charset="0"/>
                        </a:rPr>
                        <a:t> and returns to IDLE or moves directly to SETUP for the next transfer.</a:t>
                      </a:r>
                    </a:p>
                    <a:p>
                      <a:endParaRPr lang="en-US" b="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9539502"/>
                  </a:ext>
                </a:extLst>
              </a:tr>
            </a:tbl>
          </a:graphicData>
        </a:graphic>
      </p:graphicFrame>
      <p:pic>
        <p:nvPicPr>
          <p:cNvPr id="8" name="Picture 7" descr="A diagram of a system&#10;&#10;AI-generated content may be incorrect.">
            <a:extLst>
              <a:ext uri="{FF2B5EF4-FFF2-40B4-BE49-F238E27FC236}">
                <a16:creationId xmlns:a16="http://schemas.microsoft.com/office/drawing/2014/main" id="{CC727474-D7BE-6648-5E33-084D5996BDB2}"/>
              </a:ext>
            </a:extLst>
          </p:cNvPr>
          <p:cNvPicPr>
            <a:picLocks noChangeAspect="1"/>
          </p:cNvPicPr>
          <p:nvPr/>
        </p:nvPicPr>
        <p:blipFill>
          <a:blip r:embed="rId2"/>
          <a:stretch>
            <a:fillRect/>
          </a:stretch>
        </p:blipFill>
        <p:spPr>
          <a:xfrm>
            <a:off x="6324600" y="1524000"/>
            <a:ext cx="4932866" cy="4953000"/>
          </a:xfrm>
          <a:prstGeom prst="rect">
            <a:avLst/>
          </a:prstGeom>
        </p:spPr>
      </p:pic>
      <p:sp>
        <p:nvSpPr>
          <p:cNvPr id="11" name="object 2">
            <a:extLst>
              <a:ext uri="{FF2B5EF4-FFF2-40B4-BE49-F238E27FC236}">
                <a16:creationId xmlns:a16="http://schemas.microsoft.com/office/drawing/2014/main" id="{DA404635-3A7B-FE2A-485E-211DB478D5E1}"/>
              </a:ext>
            </a:extLst>
          </p:cNvPr>
          <p:cNvSpPr txBox="1">
            <a:spLocks noGrp="1"/>
          </p:cNvSpPr>
          <p:nvPr>
            <p:ph type="title"/>
          </p:nvPr>
        </p:nvSpPr>
        <p:spPr>
          <a:xfrm>
            <a:off x="430161" y="553692"/>
            <a:ext cx="5727384" cy="567463"/>
          </a:xfrm>
          <a:prstGeom prst="rect">
            <a:avLst/>
          </a:prstGeom>
        </p:spPr>
        <p:txBody>
          <a:bodyPr vert="horz" wrap="square" lIns="0" tIns="13335" rIns="0" bIns="0" rtlCol="0">
            <a:spAutoFit/>
          </a:bodyPr>
          <a:lstStyle/>
          <a:p>
            <a:pPr marL="12700">
              <a:lnSpc>
                <a:spcPct val="100000"/>
              </a:lnSpc>
              <a:spcBef>
                <a:spcPts val="105"/>
              </a:spcBef>
            </a:pPr>
            <a:r>
              <a:rPr dirty="0"/>
              <a:t>1</a:t>
            </a:r>
            <a:r>
              <a:rPr lang="en-US" dirty="0"/>
              <a:t>.2</a:t>
            </a:r>
            <a:r>
              <a:rPr dirty="0"/>
              <a:t>.</a:t>
            </a:r>
            <a:r>
              <a:rPr spc="-105" dirty="0"/>
              <a:t> </a:t>
            </a:r>
            <a:r>
              <a:rPr lang="en-US" spc="-20" dirty="0"/>
              <a:t>APB BUS PROTOCOL</a:t>
            </a:r>
            <a:endParaRPr spc="-20" dirty="0"/>
          </a:p>
        </p:txBody>
      </p:sp>
    </p:spTree>
    <p:extLst>
      <p:ext uri="{BB962C8B-B14F-4D97-AF65-F5344CB8AC3E}">
        <p14:creationId xmlns:p14="http://schemas.microsoft.com/office/powerpoint/2010/main" val="1451970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5787390" cy="575310"/>
          </a:xfrm>
          <a:prstGeom prst="rect">
            <a:avLst/>
          </a:prstGeom>
        </p:spPr>
        <p:txBody>
          <a:bodyPr vert="horz" wrap="square" lIns="0" tIns="13335" rIns="0" bIns="0" rtlCol="0">
            <a:spAutoFit/>
          </a:bodyPr>
          <a:lstStyle/>
          <a:p>
            <a:pPr marL="12700">
              <a:lnSpc>
                <a:spcPct val="100000"/>
              </a:lnSpc>
              <a:spcBef>
                <a:spcPts val="105"/>
              </a:spcBef>
            </a:pPr>
            <a:r>
              <a:rPr dirty="0"/>
              <a:t>2.</a:t>
            </a:r>
            <a:r>
              <a:rPr spc="-135" dirty="0"/>
              <a:t> </a:t>
            </a:r>
            <a:r>
              <a:rPr dirty="0"/>
              <a:t>High</a:t>
            </a:r>
            <a:r>
              <a:rPr spc="-145" dirty="0"/>
              <a:t> </a:t>
            </a:r>
            <a:r>
              <a:rPr dirty="0"/>
              <a:t>Level</a:t>
            </a:r>
            <a:r>
              <a:rPr spc="-150" dirty="0"/>
              <a:t> </a:t>
            </a:r>
            <a:r>
              <a:rPr dirty="0"/>
              <a:t>Block</a:t>
            </a:r>
            <a:r>
              <a:rPr spc="-165" dirty="0"/>
              <a:t> </a:t>
            </a:r>
            <a:r>
              <a:rPr spc="-10" dirty="0"/>
              <a:t>Design</a:t>
            </a:r>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29</a:t>
            </a:fld>
            <a:endParaRPr spc="-25" dirty="0"/>
          </a:p>
        </p:txBody>
      </p:sp>
      <p:sp>
        <p:nvSpPr>
          <p:cNvPr id="5" name="object 5"/>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E7BB08-FB83-6E10-F372-69DCFB9AD5C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B00A0D3-2652-FDA3-E517-5F252AD5B67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D531ADCB-242E-11BE-9BD7-5A4564A55CA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30</a:t>
            </a:fld>
            <a:endParaRPr spc="-25" dirty="0"/>
          </a:p>
        </p:txBody>
      </p:sp>
      <p:sp>
        <p:nvSpPr>
          <p:cNvPr id="6" name="object 6">
            <a:extLst>
              <a:ext uri="{FF2B5EF4-FFF2-40B4-BE49-F238E27FC236}">
                <a16:creationId xmlns:a16="http://schemas.microsoft.com/office/drawing/2014/main" id="{07DCDBD3-A1CD-EA3C-167D-DC6A62C3215B}"/>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799D8B8A-76EF-60A3-A7E8-19B56CC49C7F}"/>
              </a:ext>
            </a:extLst>
          </p:cNvPr>
          <p:cNvSpPr txBox="1">
            <a:spLocks noGrp="1"/>
          </p:cNvSpPr>
          <p:nvPr>
            <p:ph type="title"/>
          </p:nvPr>
        </p:nvSpPr>
        <p:spPr>
          <a:xfrm>
            <a:off x="381000" y="215174"/>
            <a:ext cx="4520883" cy="1059906"/>
          </a:xfrm>
          <a:prstGeom prst="rect">
            <a:avLst/>
          </a:prstGeom>
        </p:spPr>
        <p:txBody>
          <a:bodyPr vert="horz" wrap="square" lIns="0" tIns="13335" rIns="0" bIns="0" rtlCol="0">
            <a:spAutoFit/>
          </a:bodyPr>
          <a:lstStyle/>
          <a:p>
            <a:pPr marL="12700">
              <a:lnSpc>
                <a:spcPct val="100000"/>
              </a:lnSpc>
              <a:spcBef>
                <a:spcPts val="105"/>
              </a:spcBef>
            </a:pPr>
            <a:r>
              <a:rPr lang="en-US" dirty="0"/>
              <a:t>2</a:t>
            </a:r>
            <a:r>
              <a:rPr dirty="0"/>
              <a:t>.</a:t>
            </a:r>
            <a:r>
              <a:rPr spc="-105" dirty="0"/>
              <a:t> </a:t>
            </a:r>
            <a:r>
              <a:rPr lang="en-US" spc="-20" dirty="0"/>
              <a:t>High Level Block</a:t>
            </a:r>
            <a:br>
              <a:rPr lang="en-US" spc="-20" dirty="0"/>
            </a:br>
            <a:r>
              <a:rPr lang="en-US" sz="3200" spc="-20" dirty="0"/>
              <a:t>2.1. Interface</a:t>
            </a:r>
            <a:endParaRPr sz="3200" spc="-20" dirty="0"/>
          </a:p>
        </p:txBody>
      </p:sp>
      <p:pic>
        <p:nvPicPr>
          <p:cNvPr id="7" name="Picture 6">
            <a:extLst>
              <a:ext uri="{FF2B5EF4-FFF2-40B4-BE49-F238E27FC236}">
                <a16:creationId xmlns:a16="http://schemas.microsoft.com/office/drawing/2014/main" id="{E351B1DE-8976-82A5-C101-954EA7CACAF8}"/>
              </a:ext>
            </a:extLst>
          </p:cNvPr>
          <p:cNvPicPr>
            <a:picLocks noChangeAspect="1"/>
          </p:cNvPicPr>
          <p:nvPr/>
        </p:nvPicPr>
        <p:blipFill>
          <a:blip r:embed="rId2"/>
          <a:stretch>
            <a:fillRect/>
          </a:stretch>
        </p:blipFill>
        <p:spPr>
          <a:xfrm>
            <a:off x="2392729" y="1600200"/>
            <a:ext cx="7406413" cy="4432986"/>
          </a:xfrm>
          <a:prstGeom prst="rect">
            <a:avLst/>
          </a:prstGeom>
        </p:spPr>
      </p:pic>
    </p:spTree>
    <p:extLst>
      <p:ext uri="{BB962C8B-B14F-4D97-AF65-F5344CB8AC3E}">
        <p14:creationId xmlns:p14="http://schemas.microsoft.com/office/powerpoint/2010/main" val="2739553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2AA30C2-90CA-8E7C-3F63-E518EDF4144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CE3C91A-750F-8874-0F3E-E3400D8136CB}"/>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B6F29F0A-5BE5-CF53-7B5D-4505D5A54D04}"/>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31</a:t>
            </a:fld>
            <a:endParaRPr spc="-25" dirty="0"/>
          </a:p>
        </p:txBody>
      </p:sp>
      <p:sp>
        <p:nvSpPr>
          <p:cNvPr id="6" name="object 6">
            <a:extLst>
              <a:ext uri="{FF2B5EF4-FFF2-40B4-BE49-F238E27FC236}">
                <a16:creationId xmlns:a16="http://schemas.microsoft.com/office/drawing/2014/main" id="{AE294CA5-CC09-7A79-210A-EA88A1D64003}"/>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BE7C0CC3-5449-8542-1C86-FF051ED6BB34}"/>
              </a:ext>
            </a:extLst>
          </p:cNvPr>
          <p:cNvSpPr txBox="1">
            <a:spLocks noGrp="1"/>
          </p:cNvSpPr>
          <p:nvPr>
            <p:ph type="title"/>
          </p:nvPr>
        </p:nvSpPr>
        <p:spPr>
          <a:xfrm>
            <a:off x="381000" y="215174"/>
            <a:ext cx="4520883" cy="1552348"/>
          </a:xfrm>
          <a:prstGeom prst="rect">
            <a:avLst/>
          </a:prstGeom>
        </p:spPr>
        <p:txBody>
          <a:bodyPr vert="horz" wrap="square" lIns="0" tIns="13335" rIns="0" bIns="0" rtlCol="0">
            <a:spAutoFit/>
          </a:bodyPr>
          <a:lstStyle/>
          <a:p>
            <a:pPr marL="12700">
              <a:lnSpc>
                <a:spcPct val="100000"/>
              </a:lnSpc>
              <a:spcBef>
                <a:spcPts val="105"/>
              </a:spcBef>
            </a:pPr>
            <a:r>
              <a:rPr lang="en-US" dirty="0"/>
              <a:t>2</a:t>
            </a:r>
            <a:r>
              <a:rPr dirty="0"/>
              <a:t>.</a:t>
            </a:r>
            <a:r>
              <a:rPr spc="-105" dirty="0"/>
              <a:t> </a:t>
            </a:r>
            <a:r>
              <a:rPr lang="en-US" spc="-20" dirty="0"/>
              <a:t>High Level Block</a:t>
            </a:r>
            <a:br>
              <a:rPr lang="en-US" spc="-20" dirty="0"/>
            </a:br>
            <a:r>
              <a:rPr lang="en-US" sz="3200" spc="-20" dirty="0"/>
              <a:t>2.1. Interface</a:t>
            </a:r>
            <a:br>
              <a:rPr lang="en-US" sz="3200" spc="-20" dirty="0"/>
            </a:br>
            <a:r>
              <a:rPr lang="en-US" sz="3200" spc="-20" dirty="0" err="1"/>
              <a:t>APB_Master</a:t>
            </a:r>
            <a:r>
              <a:rPr lang="en-US" sz="3200" spc="-20" dirty="0"/>
              <a:t>:</a:t>
            </a:r>
            <a:endParaRPr sz="3200" spc="-20" dirty="0"/>
          </a:p>
        </p:txBody>
      </p:sp>
      <p:pic>
        <p:nvPicPr>
          <p:cNvPr id="8" name="Picture 7">
            <a:extLst>
              <a:ext uri="{FF2B5EF4-FFF2-40B4-BE49-F238E27FC236}">
                <a16:creationId xmlns:a16="http://schemas.microsoft.com/office/drawing/2014/main" id="{E4D4703A-05D1-B407-2D87-3AB0653F9987}"/>
              </a:ext>
            </a:extLst>
          </p:cNvPr>
          <p:cNvPicPr>
            <a:picLocks noChangeAspect="1"/>
          </p:cNvPicPr>
          <p:nvPr/>
        </p:nvPicPr>
        <p:blipFill>
          <a:blip r:embed="rId2"/>
          <a:stretch>
            <a:fillRect/>
          </a:stretch>
        </p:blipFill>
        <p:spPr>
          <a:xfrm>
            <a:off x="3149456" y="1600200"/>
            <a:ext cx="5892959" cy="4913201"/>
          </a:xfrm>
          <a:prstGeom prst="rect">
            <a:avLst/>
          </a:prstGeom>
        </p:spPr>
      </p:pic>
    </p:spTree>
    <p:extLst>
      <p:ext uri="{BB962C8B-B14F-4D97-AF65-F5344CB8AC3E}">
        <p14:creationId xmlns:p14="http://schemas.microsoft.com/office/powerpoint/2010/main" val="2605295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F9A562-BFB5-FF46-44EB-A56473F101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FDB81C6-FBF7-B3A7-254D-C88C1BBC003E}"/>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83A65E32-975C-DF84-8537-8112BA3AB81C}"/>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32</a:t>
            </a:fld>
            <a:endParaRPr spc="-25" dirty="0"/>
          </a:p>
        </p:txBody>
      </p:sp>
      <p:sp>
        <p:nvSpPr>
          <p:cNvPr id="6" name="object 6">
            <a:extLst>
              <a:ext uri="{FF2B5EF4-FFF2-40B4-BE49-F238E27FC236}">
                <a16:creationId xmlns:a16="http://schemas.microsoft.com/office/drawing/2014/main" id="{61B07515-37B2-3584-57F4-B9405F75ACB8}"/>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BE56C219-A169-A157-3151-DFFC9F443173}"/>
              </a:ext>
            </a:extLst>
          </p:cNvPr>
          <p:cNvSpPr txBox="1">
            <a:spLocks noGrp="1"/>
          </p:cNvSpPr>
          <p:nvPr>
            <p:ph type="title"/>
          </p:nvPr>
        </p:nvSpPr>
        <p:spPr>
          <a:xfrm>
            <a:off x="381000" y="215174"/>
            <a:ext cx="4520883" cy="1552348"/>
          </a:xfrm>
          <a:prstGeom prst="rect">
            <a:avLst/>
          </a:prstGeom>
        </p:spPr>
        <p:txBody>
          <a:bodyPr vert="horz" wrap="square" lIns="0" tIns="13335" rIns="0" bIns="0" rtlCol="0">
            <a:spAutoFit/>
          </a:bodyPr>
          <a:lstStyle/>
          <a:p>
            <a:pPr marL="12700">
              <a:lnSpc>
                <a:spcPct val="100000"/>
              </a:lnSpc>
              <a:spcBef>
                <a:spcPts val="105"/>
              </a:spcBef>
            </a:pPr>
            <a:r>
              <a:rPr lang="en-US" dirty="0"/>
              <a:t>2</a:t>
            </a:r>
            <a:r>
              <a:rPr dirty="0"/>
              <a:t>.</a:t>
            </a:r>
            <a:r>
              <a:rPr spc="-105" dirty="0"/>
              <a:t> </a:t>
            </a:r>
            <a:r>
              <a:rPr lang="en-US" spc="-20" dirty="0"/>
              <a:t>High Level Block</a:t>
            </a:r>
            <a:br>
              <a:rPr lang="en-US" spc="-20" dirty="0"/>
            </a:br>
            <a:r>
              <a:rPr lang="en-US" sz="3200" spc="-20" dirty="0"/>
              <a:t>2.1. Interface</a:t>
            </a:r>
            <a:br>
              <a:rPr lang="en-US" sz="3200" spc="-20" dirty="0"/>
            </a:br>
            <a:r>
              <a:rPr lang="en-US" sz="3200" spc="-20" dirty="0" err="1"/>
              <a:t>APB_Slave</a:t>
            </a:r>
            <a:r>
              <a:rPr lang="en-US" sz="3200" spc="-20" dirty="0"/>
              <a:t>:</a:t>
            </a:r>
            <a:endParaRPr sz="3200" spc="-20" dirty="0"/>
          </a:p>
        </p:txBody>
      </p:sp>
      <p:pic>
        <p:nvPicPr>
          <p:cNvPr id="7" name="Picture 6">
            <a:extLst>
              <a:ext uri="{FF2B5EF4-FFF2-40B4-BE49-F238E27FC236}">
                <a16:creationId xmlns:a16="http://schemas.microsoft.com/office/drawing/2014/main" id="{C231873E-BD5A-CA13-7BEE-72897C3F45EB}"/>
              </a:ext>
            </a:extLst>
          </p:cNvPr>
          <p:cNvPicPr>
            <a:picLocks noChangeAspect="1"/>
          </p:cNvPicPr>
          <p:nvPr/>
        </p:nvPicPr>
        <p:blipFill>
          <a:blip r:embed="rId2"/>
          <a:stretch>
            <a:fillRect/>
          </a:stretch>
        </p:blipFill>
        <p:spPr>
          <a:xfrm>
            <a:off x="2971300" y="2057400"/>
            <a:ext cx="6249272" cy="4134427"/>
          </a:xfrm>
          <a:prstGeom prst="rect">
            <a:avLst/>
          </a:prstGeom>
        </p:spPr>
      </p:pic>
    </p:spTree>
    <p:extLst>
      <p:ext uri="{BB962C8B-B14F-4D97-AF65-F5344CB8AC3E}">
        <p14:creationId xmlns:p14="http://schemas.microsoft.com/office/powerpoint/2010/main" val="2534059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6856781-0798-741F-8D4E-59403E1C3FA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247AE00-A5FA-21F0-3031-1ACB2357CBA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ECD6931-B9D7-9D90-6661-57F68D726873}"/>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33</a:t>
            </a:fld>
            <a:endParaRPr spc="-25" dirty="0"/>
          </a:p>
        </p:txBody>
      </p:sp>
      <p:sp>
        <p:nvSpPr>
          <p:cNvPr id="6" name="object 6">
            <a:extLst>
              <a:ext uri="{FF2B5EF4-FFF2-40B4-BE49-F238E27FC236}">
                <a16:creationId xmlns:a16="http://schemas.microsoft.com/office/drawing/2014/main" id="{986113DA-0951-D369-3F52-64DD5B3D463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3A977C03-5172-71E6-A3CC-C6838EBF32F7}"/>
              </a:ext>
            </a:extLst>
          </p:cNvPr>
          <p:cNvSpPr txBox="1">
            <a:spLocks noGrp="1"/>
          </p:cNvSpPr>
          <p:nvPr>
            <p:ph type="title"/>
          </p:nvPr>
        </p:nvSpPr>
        <p:spPr>
          <a:xfrm>
            <a:off x="381000" y="215174"/>
            <a:ext cx="5943600" cy="1059906"/>
          </a:xfrm>
          <a:prstGeom prst="rect">
            <a:avLst/>
          </a:prstGeom>
        </p:spPr>
        <p:txBody>
          <a:bodyPr vert="horz" wrap="square" lIns="0" tIns="13335" rIns="0" bIns="0" rtlCol="0">
            <a:spAutoFit/>
          </a:bodyPr>
          <a:lstStyle/>
          <a:p>
            <a:pPr marL="12700">
              <a:lnSpc>
                <a:spcPct val="100000"/>
              </a:lnSpc>
              <a:spcBef>
                <a:spcPts val="105"/>
              </a:spcBef>
            </a:pPr>
            <a:r>
              <a:rPr lang="en-US" dirty="0"/>
              <a:t>2</a:t>
            </a:r>
            <a:r>
              <a:rPr dirty="0"/>
              <a:t>.</a:t>
            </a:r>
            <a:r>
              <a:rPr spc="-105" dirty="0"/>
              <a:t> </a:t>
            </a:r>
            <a:r>
              <a:rPr lang="en-US" spc="-20" dirty="0"/>
              <a:t>High Level Block</a:t>
            </a:r>
            <a:br>
              <a:rPr lang="en-US" spc="-20" dirty="0"/>
            </a:br>
            <a:r>
              <a:rPr lang="en-US" sz="3200" spc="-20" dirty="0"/>
              <a:t>2.2. Waveform – Write Transfer</a:t>
            </a:r>
            <a:endParaRPr sz="3200" spc="-20" dirty="0"/>
          </a:p>
        </p:txBody>
      </p:sp>
      <p:pic>
        <p:nvPicPr>
          <p:cNvPr id="8" name="Picture 7">
            <a:extLst>
              <a:ext uri="{FF2B5EF4-FFF2-40B4-BE49-F238E27FC236}">
                <a16:creationId xmlns:a16="http://schemas.microsoft.com/office/drawing/2014/main" id="{280A3767-58FE-5C73-8E87-465382DDA397}"/>
              </a:ext>
            </a:extLst>
          </p:cNvPr>
          <p:cNvPicPr>
            <a:picLocks noChangeAspect="1"/>
          </p:cNvPicPr>
          <p:nvPr/>
        </p:nvPicPr>
        <p:blipFill>
          <a:blip r:embed="rId2"/>
          <a:stretch>
            <a:fillRect/>
          </a:stretch>
        </p:blipFill>
        <p:spPr>
          <a:xfrm>
            <a:off x="342720" y="1828800"/>
            <a:ext cx="11506560" cy="3962400"/>
          </a:xfrm>
          <a:prstGeom prst="rect">
            <a:avLst/>
          </a:prstGeom>
        </p:spPr>
      </p:pic>
    </p:spTree>
    <p:extLst>
      <p:ext uri="{BB962C8B-B14F-4D97-AF65-F5344CB8AC3E}">
        <p14:creationId xmlns:p14="http://schemas.microsoft.com/office/powerpoint/2010/main" val="531756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6927D04-03DA-C122-1022-DB67D91E478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0083AD-3ACC-6438-D90A-359C865B25CE}"/>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A78DDE27-E8DF-CE61-091E-6EBC37FCEA4B}"/>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34</a:t>
            </a:fld>
            <a:endParaRPr spc="-25" dirty="0"/>
          </a:p>
        </p:txBody>
      </p:sp>
      <p:sp>
        <p:nvSpPr>
          <p:cNvPr id="6" name="object 6">
            <a:extLst>
              <a:ext uri="{FF2B5EF4-FFF2-40B4-BE49-F238E27FC236}">
                <a16:creationId xmlns:a16="http://schemas.microsoft.com/office/drawing/2014/main" id="{CE409D7C-9E85-E954-0F20-20FBBA559859}"/>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6B8DEC6F-1B85-AB4E-6181-F9E48DCE15AF}"/>
              </a:ext>
            </a:extLst>
          </p:cNvPr>
          <p:cNvSpPr txBox="1">
            <a:spLocks noGrp="1"/>
          </p:cNvSpPr>
          <p:nvPr>
            <p:ph type="title"/>
          </p:nvPr>
        </p:nvSpPr>
        <p:spPr>
          <a:xfrm>
            <a:off x="381000" y="215174"/>
            <a:ext cx="5943600" cy="1059906"/>
          </a:xfrm>
          <a:prstGeom prst="rect">
            <a:avLst/>
          </a:prstGeom>
        </p:spPr>
        <p:txBody>
          <a:bodyPr vert="horz" wrap="square" lIns="0" tIns="13335" rIns="0" bIns="0" rtlCol="0">
            <a:spAutoFit/>
          </a:bodyPr>
          <a:lstStyle/>
          <a:p>
            <a:pPr marL="12700">
              <a:lnSpc>
                <a:spcPct val="100000"/>
              </a:lnSpc>
              <a:spcBef>
                <a:spcPts val="105"/>
              </a:spcBef>
            </a:pPr>
            <a:r>
              <a:rPr lang="en-US" dirty="0"/>
              <a:t>2</a:t>
            </a:r>
            <a:r>
              <a:rPr dirty="0"/>
              <a:t>.</a:t>
            </a:r>
            <a:r>
              <a:rPr spc="-105" dirty="0"/>
              <a:t> </a:t>
            </a:r>
            <a:r>
              <a:rPr lang="en-US" spc="-20" dirty="0"/>
              <a:t>High Level Block</a:t>
            </a:r>
            <a:br>
              <a:rPr lang="en-US" spc="-20" dirty="0"/>
            </a:br>
            <a:r>
              <a:rPr lang="en-US" sz="3200" spc="-20" dirty="0"/>
              <a:t>2.2. Waveform – Read Transfer</a:t>
            </a:r>
            <a:endParaRPr sz="3200" spc="-20" dirty="0"/>
          </a:p>
        </p:txBody>
      </p:sp>
      <p:pic>
        <p:nvPicPr>
          <p:cNvPr id="7" name="Picture 6">
            <a:extLst>
              <a:ext uri="{FF2B5EF4-FFF2-40B4-BE49-F238E27FC236}">
                <a16:creationId xmlns:a16="http://schemas.microsoft.com/office/drawing/2014/main" id="{351FD0D3-D04E-6B4C-1349-909A8EFD093E}"/>
              </a:ext>
            </a:extLst>
          </p:cNvPr>
          <p:cNvPicPr>
            <a:picLocks noChangeAspect="1"/>
          </p:cNvPicPr>
          <p:nvPr/>
        </p:nvPicPr>
        <p:blipFill>
          <a:blip r:embed="rId2"/>
          <a:stretch>
            <a:fillRect/>
          </a:stretch>
        </p:blipFill>
        <p:spPr>
          <a:xfrm>
            <a:off x="114300" y="1642688"/>
            <a:ext cx="11963400" cy="3807394"/>
          </a:xfrm>
          <a:prstGeom prst="rect">
            <a:avLst/>
          </a:prstGeom>
        </p:spPr>
      </p:pic>
    </p:spTree>
    <p:extLst>
      <p:ext uri="{BB962C8B-B14F-4D97-AF65-F5344CB8AC3E}">
        <p14:creationId xmlns:p14="http://schemas.microsoft.com/office/powerpoint/2010/main" val="2978558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61E75-4015-5C49-9A1B-2A759E8A06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6C749E-A4DA-844D-2C22-C61C40F65A9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A3E2A4A-0886-4358-AD93-906974195064}"/>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35</a:t>
            </a:fld>
            <a:endParaRPr spc="-25" dirty="0"/>
          </a:p>
        </p:txBody>
      </p:sp>
      <p:sp>
        <p:nvSpPr>
          <p:cNvPr id="6" name="object 6">
            <a:extLst>
              <a:ext uri="{FF2B5EF4-FFF2-40B4-BE49-F238E27FC236}">
                <a16:creationId xmlns:a16="http://schemas.microsoft.com/office/drawing/2014/main" id="{9048BF82-8737-BD26-8084-C0B3AE4C1885}"/>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2" name="object 2">
            <a:extLst>
              <a:ext uri="{FF2B5EF4-FFF2-40B4-BE49-F238E27FC236}">
                <a16:creationId xmlns:a16="http://schemas.microsoft.com/office/drawing/2014/main" id="{51E91BDC-9B77-25B9-97EA-AE089AC486A2}"/>
              </a:ext>
            </a:extLst>
          </p:cNvPr>
          <p:cNvSpPr txBox="1">
            <a:spLocks noGrp="1"/>
          </p:cNvSpPr>
          <p:nvPr>
            <p:ph type="title"/>
          </p:nvPr>
        </p:nvSpPr>
        <p:spPr>
          <a:xfrm>
            <a:off x="508316" y="480313"/>
            <a:ext cx="6197283" cy="567463"/>
          </a:xfrm>
          <a:prstGeom prst="rect">
            <a:avLst/>
          </a:prstGeom>
        </p:spPr>
        <p:txBody>
          <a:bodyPr vert="horz" wrap="square" lIns="0" tIns="13335" rIns="0" bIns="0" rtlCol="0">
            <a:spAutoFit/>
          </a:bodyPr>
          <a:lstStyle/>
          <a:p>
            <a:pPr marL="12700">
              <a:lnSpc>
                <a:spcPct val="100000"/>
              </a:lnSpc>
              <a:spcBef>
                <a:spcPts val="105"/>
              </a:spcBef>
            </a:pPr>
            <a:r>
              <a:rPr lang="en-US"/>
              <a:t>2.</a:t>
            </a:r>
            <a:r>
              <a:rPr lang="en-US" spc="-160"/>
              <a:t> </a:t>
            </a:r>
            <a:r>
              <a:rPr lang="en-US"/>
              <a:t>High</a:t>
            </a:r>
            <a:r>
              <a:rPr lang="en-US" spc="-140"/>
              <a:t> </a:t>
            </a:r>
            <a:r>
              <a:rPr lang="en-US"/>
              <a:t>Level</a:t>
            </a:r>
            <a:r>
              <a:rPr lang="en-US" spc="-140"/>
              <a:t> </a:t>
            </a:r>
            <a:r>
              <a:rPr lang="en-US"/>
              <a:t>Block</a:t>
            </a:r>
            <a:r>
              <a:rPr lang="en-US" spc="-160"/>
              <a:t> </a:t>
            </a:r>
            <a:r>
              <a:rPr lang="en-US" spc="-10"/>
              <a:t>Design</a:t>
            </a:r>
            <a:endParaRPr spc="-20" dirty="0"/>
          </a:p>
        </p:txBody>
      </p:sp>
      <p:sp>
        <p:nvSpPr>
          <p:cNvPr id="3" name="object 3">
            <a:extLst>
              <a:ext uri="{FF2B5EF4-FFF2-40B4-BE49-F238E27FC236}">
                <a16:creationId xmlns:a16="http://schemas.microsoft.com/office/drawing/2014/main" id="{02B9E5EF-4194-21A1-31C3-81B500230ACE}"/>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2.3 AMBA ABP Interface signals</a:t>
            </a:r>
          </a:p>
        </p:txBody>
      </p:sp>
      <p:graphicFrame>
        <p:nvGraphicFramePr>
          <p:cNvPr id="7" name="Table 6">
            <a:extLst>
              <a:ext uri="{FF2B5EF4-FFF2-40B4-BE49-F238E27FC236}">
                <a16:creationId xmlns:a16="http://schemas.microsoft.com/office/drawing/2014/main" id="{4C4EDEA5-EA21-A2C7-4F0C-BA369F1472D1}"/>
              </a:ext>
            </a:extLst>
          </p:cNvPr>
          <p:cNvGraphicFramePr>
            <a:graphicFrameLocks noGrp="1"/>
          </p:cNvGraphicFramePr>
          <p:nvPr>
            <p:extLst>
              <p:ext uri="{D42A27DB-BD31-4B8C-83A1-F6EECF244321}">
                <p14:modId xmlns:p14="http://schemas.microsoft.com/office/powerpoint/2010/main" val="649645054"/>
              </p:ext>
            </p:extLst>
          </p:nvPr>
        </p:nvGraphicFramePr>
        <p:xfrm>
          <a:off x="508317" y="1837178"/>
          <a:ext cx="11033444" cy="4640580"/>
        </p:xfrm>
        <a:graphic>
          <a:graphicData uri="http://schemas.openxmlformats.org/drawingml/2006/table">
            <a:tbl>
              <a:tblPr firstRow="1" bandRow="1">
                <a:tableStyleId>{5C22544A-7EE6-4342-B048-85BDC9FD1C3A}</a:tableStyleId>
              </a:tblPr>
              <a:tblGrid>
                <a:gridCol w="2463483">
                  <a:extLst>
                    <a:ext uri="{9D8B030D-6E8A-4147-A177-3AD203B41FA5}">
                      <a16:colId xmlns:a16="http://schemas.microsoft.com/office/drawing/2014/main" val="1108912286"/>
                    </a:ext>
                  </a:extLst>
                </a:gridCol>
                <a:gridCol w="15240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54457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en-US" sz="1600">
                          <a:latin typeface="Arial" panose="020B0604020202020204" pitchFamily="34" charset="0"/>
                          <a:cs typeface="Arial" panose="020B0604020202020204" pitchFamily="34" charset="0"/>
                        </a:rPr>
                        <a:t>TRANS</a:t>
                      </a:r>
                    </a:p>
                  </a:txBody>
                  <a:tcPr/>
                </a:tc>
                <a:tc>
                  <a:txBody>
                    <a:bodyPr/>
                    <a:lstStyle/>
                    <a:p>
                      <a:pPr algn="ctr"/>
                      <a:r>
                        <a:rPr lang="en-IN" sz="1600">
                          <a:solidFill>
                            <a:schemeClr val="tx1"/>
                          </a:solidFill>
                          <a:latin typeface="Arial" panose="020B0604020202020204" pitchFamily="34" charset="0"/>
                          <a:cs typeface="Arial" panose="020B0604020202020204" pitchFamily="34" charset="0"/>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fontAlgn="t">
                        <a:lnSpc>
                          <a:spcPts val="1500"/>
                        </a:lnSpc>
                        <a:buNone/>
                      </a:pPr>
                      <a:r>
                        <a:rPr lang="en-US" sz="1600" b="0" i="0">
                          <a:effectLst/>
                          <a:latin typeface="Arial" panose="020B0604020202020204" pitchFamily="34" charset="0"/>
                          <a:cs typeface="Arial" panose="020B0604020202020204" pitchFamily="34" charset="0"/>
                        </a:rPr>
                        <a:t>Start signal. When the TRANS signal is set to HIGH, the system will begin operation. This signal may remain active for one clock cycle or multiple cycles.</a:t>
                      </a:r>
                    </a:p>
                  </a:txBody>
                  <a:tcPr/>
                </a:tc>
                <a:extLst>
                  <a:ext uri="{0D108BD9-81ED-4DB2-BD59-A6C34878D82A}">
                    <a16:rowId xmlns:a16="http://schemas.microsoft.com/office/drawing/2014/main" val="2693422610"/>
                  </a:ext>
                </a:extLst>
              </a:tr>
              <a:tr h="370840">
                <a:tc>
                  <a:txBody>
                    <a:bodyPr/>
                    <a:lstStyle/>
                    <a:p>
                      <a:pPr algn="ctr"/>
                      <a:r>
                        <a:rPr lang="en-US" sz="1600">
                          <a:latin typeface="Arial" panose="020B0604020202020204" pitchFamily="34" charset="0"/>
                          <a:cs typeface="Arial" panose="020B0604020202020204" pitchFamily="34" charset="0"/>
                        </a:rPr>
                        <a:t>READ</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r>
                        <a:rPr lang="en-US" sz="1600">
                          <a:latin typeface="Arial" panose="020B0604020202020204" pitchFamily="34" charset="0"/>
                          <a:cs typeface="Arial" panose="020B0604020202020204" pitchFamily="34" charset="0"/>
                        </a:rPr>
                        <a:t>Read signal. </a:t>
                      </a:r>
                    </a:p>
                  </a:txBody>
                  <a:tcPr/>
                </a:tc>
                <a:extLst>
                  <a:ext uri="{0D108BD9-81ED-4DB2-BD59-A6C34878D82A}">
                    <a16:rowId xmlns:a16="http://schemas.microsoft.com/office/drawing/2014/main" val="363023051"/>
                  </a:ext>
                </a:extLst>
              </a:tr>
              <a:tr h="370840">
                <a:tc>
                  <a:txBody>
                    <a:bodyPr/>
                    <a:lstStyle/>
                    <a:p>
                      <a:pPr algn="ctr"/>
                      <a:r>
                        <a:rPr lang="en-US" sz="1600">
                          <a:latin typeface="Arial" panose="020B0604020202020204" pitchFamily="34" charset="0"/>
                          <a:cs typeface="Arial" panose="020B0604020202020204" pitchFamily="34" charset="0"/>
                        </a:rPr>
                        <a:t>WRITE</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Write signal. </a:t>
                      </a:r>
                    </a:p>
                  </a:txBody>
                  <a:tcPr/>
                </a:tc>
                <a:extLst>
                  <a:ext uri="{0D108BD9-81ED-4DB2-BD59-A6C34878D82A}">
                    <a16:rowId xmlns:a16="http://schemas.microsoft.com/office/drawing/2014/main" val="1648389343"/>
                  </a:ext>
                </a:extLst>
              </a:tr>
              <a:tr h="370840">
                <a:tc>
                  <a:txBody>
                    <a:bodyPr/>
                    <a:lstStyle/>
                    <a:p>
                      <a:pPr algn="ctr"/>
                      <a:r>
                        <a:rPr lang="en-US" sz="1600" dirty="0">
                          <a:latin typeface="Arial" panose="020B0604020202020204" pitchFamily="34" charset="0"/>
                          <a:cs typeface="Arial" panose="020B0604020202020204" pitchFamily="34" charset="0"/>
                        </a:rPr>
                        <a:t>APB_WADDR</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32</a:t>
                      </a:r>
                    </a:p>
                  </a:txBody>
                  <a:tcPr/>
                </a:tc>
                <a:tc>
                  <a:txBody>
                    <a:bodyPr/>
                    <a:lstStyle/>
                    <a:p>
                      <a:pPr fontAlgn="t">
                        <a:lnSpc>
                          <a:spcPts val="1500"/>
                        </a:lnSpc>
                        <a:buNone/>
                      </a:pPr>
                      <a:r>
                        <a:rPr lang="en-US" sz="1600" b="0" i="0">
                          <a:effectLst/>
                          <a:latin typeface="Arial" panose="020B0604020202020204" pitchFamily="34" charset="0"/>
                          <a:cs typeface="Arial" panose="020B0604020202020204" pitchFamily="34" charset="0"/>
                        </a:rPr>
                        <a:t>Address. This is the APB write address used by the APB master to write data to the slave. The address can be up to 32 bits wide.</a:t>
                      </a:r>
                    </a:p>
                  </a:txBody>
                  <a:tcPr/>
                </a:tc>
                <a:extLst>
                  <a:ext uri="{0D108BD9-81ED-4DB2-BD59-A6C34878D82A}">
                    <a16:rowId xmlns:a16="http://schemas.microsoft.com/office/drawing/2014/main" val="3605326436"/>
                  </a:ext>
                </a:extLst>
              </a:tr>
              <a:tr h="370840">
                <a:tc>
                  <a:txBody>
                    <a:bodyPr/>
                    <a:lstStyle/>
                    <a:p>
                      <a:pPr algn="ctr"/>
                      <a:r>
                        <a:rPr lang="en-US" sz="1600" dirty="0">
                          <a:latin typeface="Arial" panose="020B0604020202020204" pitchFamily="34" charset="0"/>
                          <a:cs typeface="Arial" panose="020B0604020202020204" pitchFamily="34" charset="0"/>
                        </a:rPr>
                        <a:t>APB_WDATA</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32</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i="0">
                          <a:effectLst/>
                          <a:latin typeface="Arial" panose="020B0604020202020204" pitchFamily="34" charset="0"/>
                          <a:cs typeface="Arial" panose="020B0604020202020204" pitchFamily="34" charset="0"/>
                        </a:rPr>
                        <a:t>Data Write. This is the data sent from the APB master to the APB slave during a write operation. The data width can be up to 32 bits.</a:t>
                      </a:r>
                    </a:p>
                  </a:txBody>
                  <a:tcPr/>
                </a:tc>
                <a:extLst>
                  <a:ext uri="{0D108BD9-81ED-4DB2-BD59-A6C34878D82A}">
                    <a16:rowId xmlns:a16="http://schemas.microsoft.com/office/drawing/2014/main" val="679113978"/>
                  </a:ext>
                </a:extLst>
              </a:tr>
              <a:tr h="370840">
                <a:tc>
                  <a:txBody>
                    <a:bodyPr/>
                    <a:lstStyle/>
                    <a:p>
                      <a:pPr algn="ctr"/>
                      <a:r>
                        <a:rPr lang="en-IN" sz="1600" dirty="0">
                          <a:solidFill>
                            <a:schemeClr val="tx1"/>
                          </a:solidFill>
                          <a:latin typeface="Arial" panose="020B0604020202020204" pitchFamily="34" charset="0"/>
                          <a:cs typeface="Arial" panose="020B0604020202020204" pitchFamily="34" charset="0"/>
                        </a:rPr>
                        <a:t>APB_RADDR</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32</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a:effectLst/>
                          <a:latin typeface="Arial" panose="020B0604020202020204" pitchFamily="34" charset="0"/>
                          <a:cs typeface="Arial" panose="020B0604020202020204" pitchFamily="34" charset="0"/>
                        </a:rPr>
                        <a:t>Address. This is the APB read address used by the APB master to read data from the slave. The address can be up to 32 bits wide.</a:t>
                      </a:r>
                    </a:p>
                  </a:txBody>
                  <a:tcPr/>
                </a:tc>
                <a:extLst>
                  <a:ext uri="{0D108BD9-81ED-4DB2-BD59-A6C34878D82A}">
                    <a16:rowId xmlns:a16="http://schemas.microsoft.com/office/drawing/2014/main" val="1090504135"/>
                  </a:ext>
                </a:extLst>
              </a:tr>
              <a:tr h="370840">
                <a:tc>
                  <a:txBody>
                    <a:bodyPr/>
                    <a:lstStyle/>
                    <a:p>
                      <a:pPr algn="ctr"/>
                      <a:r>
                        <a:rPr lang="en-IN" sz="1600" dirty="0">
                          <a:solidFill>
                            <a:schemeClr val="tx1"/>
                          </a:solidFill>
                          <a:latin typeface="Arial" panose="020B0604020202020204" pitchFamily="34" charset="0"/>
                          <a:cs typeface="Arial" panose="020B0604020202020204" pitchFamily="34" charset="0"/>
                        </a:rPr>
                        <a:t>SHA_DATA</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System BUS</a:t>
                      </a:r>
                      <a:endPar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256</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fontAlgn="t">
                        <a:lnSpc>
                          <a:spcPts val="1500"/>
                        </a:lnSpc>
                        <a:buNone/>
                      </a:pPr>
                      <a:r>
                        <a:rPr lang="en-US" sz="1600" b="0" i="0" dirty="0">
                          <a:effectLst/>
                          <a:latin typeface="Arial" panose="020B0604020202020204" pitchFamily="34" charset="0"/>
                          <a:cs typeface="Arial" panose="020B0604020202020204" pitchFamily="34" charset="0"/>
                        </a:rPr>
                        <a:t>Data has been encryption by SHA-256. This is the data which is read from slave. The data width can be up to 256 bits.</a:t>
                      </a:r>
                    </a:p>
                  </a:txBody>
                  <a:tcPr/>
                </a:tc>
                <a:extLst>
                  <a:ext uri="{0D108BD9-81ED-4DB2-BD59-A6C34878D82A}">
                    <a16:rowId xmlns:a16="http://schemas.microsoft.com/office/drawing/2014/main" val="4154895400"/>
                  </a:ext>
                </a:extLst>
              </a:tr>
            </a:tbl>
          </a:graphicData>
        </a:graphic>
      </p:graphicFrame>
    </p:spTree>
    <p:extLst>
      <p:ext uri="{BB962C8B-B14F-4D97-AF65-F5344CB8AC3E}">
        <p14:creationId xmlns:p14="http://schemas.microsoft.com/office/powerpoint/2010/main" val="9138994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C4F7B-C4AD-7588-9D62-709D0E1563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312106-84E0-FFE0-E62F-E0376C700F72}"/>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11F9F34-3BE3-852B-F16E-1E0A5745F07F}"/>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36</a:t>
            </a:fld>
            <a:endParaRPr spc="-25" dirty="0"/>
          </a:p>
        </p:txBody>
      </p:sp>
      <p:sp>
        <p:nvSpPr>
          <p:cNvPr id="6" name="object 6">
            <a:extLst>
              <a:ext uri="{FF2B5EF4-FFF2-40B4-BE49-F238E27FC236}">
                <a16:creationId xmlns:a16="http://schemas.microsoft.com/office/drawing/2014/main" id="{70C09A7D-0E96-C2B6-DABC-5B4A8C6FB7A3}"/>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2" name="object 2">
            <a:extLst>
              <a:ext uri="{FF2B5EF4-FFF2-40B4-BE49-F238E27FC236}">
                <a16:creationId xmlns:a16="http://schemas.microsoft.com/office/drawing/2014/main" id="{1CEB6338-2B66-0A24-E967-1EED27424CC6}"/>
              </a:ext>
            </a:extLst>
          </p:cNvPr>
          <p:cNvSpPr txBox="1">
            <a:spLocks noGrp="1"/>
          </p:cNvSpPr>
          <p:nvPr>
            <p:ph type="title"/>
          </p:nvPr>
        </p:nvSpPr>
        <p:spPr>
          <a:xfrm>
            <a:off x="508316" y="480313"/>
            <a:ext cx="7721283" cy="567463"/>
          </a:xfrm>
          <a:prstGeom prst="rect">
            <a:avLst/>
          </a:prstGeom>
        </p:spPr>
        <p:txBody>
          <a:bodyPr vert="horz" wrap="square" lIns="0" tIns="13335" rIns="0" bIns="0" rtlCol="0">
            <a:spAutoFit/>
          </a:bodyPr>
          <a:lstStyle/>
          <a:p>
            <a:pPr marL="12700">
              <a:lnSpc>
                <a:spcPct val="100000"/>
              </a:lnSpc>
              <a:spcBef>
                <a:spcPts val="105"/>
              </a:spcBef>
            </a:pPr>
            <a:r>
              <a:rPr lang="en-US"/>
              <a:t>2.</a:t>
            </a:r>
            <a:r>
              <a:rPr lang="en-US" spc="-160"/>
              <a:t> </a:t>
            </a:r>
            <a:r>
              <a:rPr lang="en-US"/>
              <a:t>High</a:t>
            </a:r>
            <a:r>
              <a:rPr lang="en-US" spc="-140"/>
              <a:t> </a:t>
            </a:r>
            <a:r>
              <a:rPr lang="en-US"/>
              <a:t>Level</a:t>
            </a:r>
            <a:r>
              <a:rPr lang="en-US" spc="-140"/>
              <a:t> </a:t>
            </a:r>
            <a:r>
              <a:rPr lang="en-US"/>
              <a:t>Block</a:t>
            </a:r>
            <a:r>
              <a:rPr lang="en-US" spc="-160"/>
              <a:t> </a:t>
            </a:r>
            <a:r>
              <a:rPr lang="en-US" spc="-10"/>
              <a:t>Design</a:t>
            </a:r>
            <a:endParaRPr spc="-20" dirty="0"/>
          </a:p>
        </p:txBody>
      </p:sp>
      <p:sp>
        <p:nvSpPr>
          <p:cNvPr id="3" name="object 3">
            <a:extLst>
              <a:ext uri="{FF2B5EF4-FFF2-40B4-BE49-F238E27FC236}">
                <a16:creationId xmlns:a16="http://schemas.microsoft.com/office/drawing/2014/main" id="{3D8210DD-2E80-62FA-79C8-18F3DC580829}"/>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2.3 AMBA ABP Interface signals</a:t>
            </a:r>
          </a:p>
        </p:txBody>
      </p:sp>
      <p:graphicFrame>
        <p:nvGraphicFramePr>
          <p:cNvPr id="7" name="Table 6">
            <a:extLst>
              <a:ext uri="{FF2B5EF4-FFF2-40B4-BE49-F238E27FC236}">
                <a16:creationId xmlns:a16="http://schemas.microsoft.com/office/drawing/2014/main" id="{FBE074F0-5D0E-1ABE-2C5E-B9F900394545}"/>
              </a:ext>
            </a:extLst>
          </p:cNvPr>
          <p:cNvGraphicFramePr>
            <a:graphicFrameLocks noGrp="1"/>
          </p:cNvGraphicFramePr>
          <p:nvPr>
            <p:extLst>
              <p:ext uri="{D42A27DB-BD31-4B8C-83A1-F6EECF244321}">
                <p14:modId xmlns:p14="http://schemas.microsoft.com/office/powerpoint/2010/main" val="914934179"/>
              </p:ext>
            </p:extLst>
          </p:nvPr>
        </p:nvGraphicFramePr>
        <p:xfrm>
          <a:off x="579214" y="1884540"/>
          <a:ext cx="11033444" cy="305816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vi-VN" sz="1600" dirty="0">
                          <a:latin typeface="Arial" panose="020B0604020202020204" pitchFamily="34" charset="0"/>
                          <a:cs typeface="Arial" panose="020B0604020202020204" pitchFamily="34" charset="0"/>
                        </a:rPr>
                        <a:t>p</a:t>
                      </a:r>
                      <a:r>
                        <a:rPr lang="en-US" sz="1600" dirty="0">
                          <a:latin typeface="Arial" panose="020B0604020202020204" pitchFamily="34" charset="0"/>
                          <a:cs typeface="Arial" panose="020B0604020202020204" pitchFamily="34" charset="0"/>
                        </a:rPr>
                        <a:t>CLK</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Clock Source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Clock. The rising edge of PCLK times all transfer on the APB</a:t>
                      </a:r>
                    </a:p>
                  </a:txBody>
                  <a:tcPr/>
                </a:tc>
                <a:extLst>
                  <a:ext uri="{0D108BD9-81ED-4DB2-BD59-A6C34878D82A}">
                    <a16:rowId xmlns:a16="http://schemas.microsoft.com/office/drawing/2014/main" val="4131091150"/>
                  </a:ext>
                </a:extLst>
              </a:tr>
              <a:tr h="370840">
                <a:tc>
                  <a:txBody>
                    <a:bodyPr/>
                    <a:lstStyle/>
                    <a:p>
                      <a:pPr algn="ctr"/>
                      <a:r>
                        <a:rPr lang="vi-VN" sz="1600" dirty="0">
                          <a:latin typeface="Arial" panose="020B0604020202020204" pitchFamily="34" charset="0"/>
                          <a:cs typeface="Arial" panose="020B0604020202020204" pitchFamily="34" charset="0"/>
                        </a:rPr>
                        <a:t>p</a:t>
                      </a:r>
                      <a:r>
                        <a:rPr lang="en-US" sz="1600" dirty="0" err="1">
                          <a:latin typeface="Arial" panose="020B0604020202020204" pitchFamily="34" charset="0"/>
                          <a:cs typeface="Arial" panose="020B0604020202020204" pitchFamily="34" charset="0"/>
                        </a:rPr>
                        <a:t>RESETn</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System Bus</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algn="just"/>
                      <a:r>
                        <a:rPr lang="en-US" sz="1600">
                          <a:latin typeface="Arial" panose="020B0604020202020204" pitchFamily="34" charset="0"/>
                          <a:cs typeface="Arial" panose="020B0604020202020204" pitchFamily="34" charset="0"/>
                        </a:rPr>
                        <a:t>Reset. The APB reset signal is active LOW. This signal is normally connected directly to the system bus reset signal.</a:t>
                      </a:r>
                    </a:p>
                  </a:txBody>
                  <a:tcPr/>
                </a:tc>
                <a:extLst>
                  <a:ext uri="{0D108BD9-81ED-4DB2-BD59-A6C34878D82A}">
                    <a16:rowId xmlns:a16="http://schemas.microsoft.com/office/drawing/2014/main" val="2693422610"/>
                  </a:ext>
                </a:extLst>
              </a:tr>
              <a:tr h="370840">
                <a:tc>
                  <a:txBody>
                    <a:bodyPr/>
                    <a:lstStyle/>
                    <a:p>
                      <a:pPr algn="ctr"/>
                      <a:r>
                        <a:rPr lang="vi-VN" sz="1600" dirty="0">
                          <a:latin typeface="Arial" panose="020B0604020202020204" pitchFamily="34" charset="0"/>
                          <a:cs typeface="Arial" panose="020B0604020202020204" pitchFamily="34" charset="0"/>
                        </a:rPr>
                        <a:t>p</a:t>
                      </a:r>
                      <a:r>
                        <a:rPr lang="en-US" sz="1600" dirty="0">
                          <a:latin typeface="Arial" panose="020B0604020202020204" pitchFamily="34" charset="0"/>
                          <a:cs typeface="Arial" panose="020B0604020202020204" pitchFamily="34" charset="0"/>
                        </a:rPr>
                        <a:t>ADDR</a:t>
                      </a: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32</a:t>
                      </a:r>
                    </a:p>
                  </a:txBody>
                  <a:tcPr/>
                </a:tc>
                <a:tc>
                  <a:txBody>
                    <a:bodyPr/>
                    <a:lstStyle/>
                    <a:p>
                      <a:pPr algn="just"/>
                      <a:r>
                        <a:rPr lang="en-US" sz="1600">
                          <a:latin typeface="Arial" panose="020B0604020202020204" pitchFamily="34" charset="0"/>
                          <a:cs typeface="Arial" panose="020B0604020202020204" pitchFamily="34" charset="0"/>
                        </a:rPr>
                        <a:t>Address. This is APB address bus. It can be up to 32 bits wide and is driven by the peripheral bus bridge unit.</a:t>
                      </a:r>
                    </a:p>
                  </a:txBody>
                  <a:tcPr/>
                </a:tc>
                <a:extLst>
                  <a:ext uri="{0D108BD9-81ED-4DB2-BD59-A6C34878D82A}">
                    <a16:rowId xmlns:a16="http://schemas.microsoft.com/office/drawing/2014/main" val="363023051"/>
                  </a:ext>
                </a:extLst>
              </a:tr>
              <a:tr h="370840">
                <a:tc>
                  <a:txBody>
                    <a:bodyPr/>
                    <a:lstStyle/>
                    <a:p>
                      <a:pPr algn="ctr"/>
                      <a:r>
                        <a:rPr lang="vi-VN" sz="1600" dirty="0">
                          <a:latin typeface="Arial" panose="020B0604020202020204" pitchFamily="34" charset="0"/>
                          <a:cs typeface="Arial" panose="020B0604020202020204" pitchFamily="34" charset="0"/>
                        </a:rPr>
                        <a:t>p</a:t>
                      </a:r>
                      <a:r>
                        <a:rPr lang="en-US" sz="1600" dirty="0">
                          <a:latin typeface="Arial" panose="020B0604020202020204" pitchFamily="34" charset="0"/>
                          <a:cs typeface="Arial" panose="020B0604020202020204" pitchFamily="34" charset="0"/>
                        </a:rPr>
                        <a:t>SEL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dk1"/>
                          </a:solidFill>
                          <a:effectLst/>
                          <a:latin typeface="Arial" panose="020B0604020202020204" pitchFamily="34" charset="0"/>
                          <a:ea typeface="+mn-ea"/>
                          <a:cs typeface="Arial" panose="020B0604020202020204" pitchFamily="34" charset="0"/>
                        </a:rPr>
                        <a:t>Slave select signal, there will be one PSEL signal for each slave connected to master.</a:t>
                      </a:r>
                      <a:r>
                        <a:rPr lang="en-US" sz="1600" dirty="0">
                          <a:latin typeface="Arial" panose="020B0604020202020204" pitchFamily="34" charset="0"/>
                          <a:cs typeface="Arial" panose="020B0604020202020204" pitchFamily="34" charset="0"/>
                        </a:rPr>
                        <a:t>. It’s an active high signal. </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vi-VN" sz="1600" dirty="0">
                          <a:solidFill>
                            <a:schemeClr val="tx1"/>
                          </a:solidFill>
                          <a:latin typeface="Arial" panose="020B0604020202020204" pitchFamily="34" charset="0"/>
                          <a:cs typeface="Arial" panose="020B0604020202020204" pitchFamily="34" charset="0"/>
                        </a:rPr>
                        <a:t>p</a:t>
                      </a:r>
                      <a:r>
                        <a:rPr lang="en-US" sz="1600" dirty="0">
                          <a:solidFill>
                            <a:schemeClr val="tx1"/>
                          </a:solidFill>
                          <a:latin typeface="Arial" panose="020B0604020202020204" pitchFamily="34" charset="0"/>
                          <a:cs typeface="Arial" panose="020B0604020202020204" pitchFamily="34" charset="0"/>
                        </a:rPr>
                        <a:t>ENABLE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Enable. It indicates the 2</a:t>
                      </a:r>
                      <a:r>
                        <a:rPr lang="en-US" sz="1600" baseline="30000" dirty="0">
                          <a:latin typeface="Arial" panose="020B0604020202020204" pitchFamily="34" charset="0"/>
                          <a:cs typeface="Arial" panose="020B0604020202020204" pitchFamily="34" charset="0"/>
                        </a:rPr>
                        <a:t>nd</a:t>
                      </a:r>
                      <a:r>
                        <a:rPr lang="en-US" sz="1600" dirty="0">
                          <a:latin typeface="Arial" panose="020B0604020202020204" pitchFamily="34" charset="0"/>
                          <a:cs typeface="Arial" panose="020B0604020202020204" pitchFamily="34" charset="0"/>
                        </a:rPr>
                        <a:t> cycle of a data transfer. It’s an active high signal. </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bl>
          </a:graphicData>
        </a:graphic>
      </p:graphicFrame>
    </p:spTree>
    <p:extLst>
      <p:ext uri="{BB962C8B-B14F-4D97-AF65-F5344CB8AC3E}">
        <p14:creationId xmlns:p14="http://schemas.microsoft.com/office/powerpoint/2010/main" val="108738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F6972-62BB-B539-7894-0D3730732A5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A33796-6821-0C81-9031-2B4020B8D872}"/>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F94D3344-C409-6BF3-E883-1E19C4605D24}"/>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37</a:t>
            </a:fld>
            <a:endParaRPr spc="-25" dirty="0"/>
          </a:p>
        </p:txBody>
      </p:sp>
      <p:sp>
        <p:nvSpPr>
          <p:cNvPr id="6" name="object 6">
            <a:extLst>
              <a:ext uri="{FF2B5EF4-FFF2-40B4-BE49-F238E27FC236}">
                <a16:creationId xmlns:a16="http://schemas.microsoft.com/office/drawing/2014/main" id="{FA0BD365-EDEF-72FD-07E5-C91512C345DF}"/>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2" name="object 2">
            <a:extLst>
              <a:ext uri="{FF2B5EF4-FFF2-40B4-BE49-F238E27FC236}">
                <a16:creationId xmlns:a16="http://schemas.microsoft.com/office/drawing/2014/main" id="{F6F932A8-46B5-548C-7E8B-38563E70F830}"/>
              </a:ext>
            </a:extLst>
          </p:cNvPr>
          <p:cNvSpPr txBox="1">
            <a:spLocks noGrp="1"/>
          </p:cNvSpPr>
          <p:nvPr>
            <p:ph type="title"/>
          </p:nvPr>
        </p:nvSpPr>
        <p:spPr>
          <a:xfrm>
            <a:off x="508316" y="480313"/>
            <a:ext cx="7721283" cy="567463"/>
          </a:xfrm>
          <a:prstGeom prst="rect">
            <a:avLst/>
          </a:prstGeom>
        </p:spPr>
        <p:txBody>
          <a:bodyPr vert="horz" wrap="square" lIns="0" tIns="13335" rIns="0" bIns="0" rtlCol="0">
            <a:spAutoFit/>
          </a:bodyPr>
          <a:lstStyle/>
          <a:p>
            <a:pPr marL="12700">
              <a:lnSpc>
                <a:spcPct val="100000"/>
              </a:lnSpc>
              <a:spcBef>
                <a:spcPts val="105"/>
              </a:spcBef>
            </a:pPr>
            <a:r>
              <a:rPr lang="en-US"/>
              <a:t>2.</a:t>
            </a:r>
            <a:r>
              <a:rPr lang="en-US" spc="-160"/>
              <a:t> </a:t>
            </a:r>
            <a:r>
              <a:rPr lang="en-US"/>
              <a:t>High</a:t>
            </a:r>
            <a:r>
              <a:rPr lang="en-US" spc="-140"/>
              <a:t> </a:t>
            </a:r>
            <a:r>
              <a:rPr lang="en-US"/>
              <a:t>Level</a:t>
            </a:r>
            <a:r>
              <a:rPr lang="en-US" spc="-140"/>
              <a:t> </a:t>
            </a:r>
            <a:r>
              <a:rPr lang="en-US"/>
              <a:t>Block</a:t>
            </a:r>
            <a:r>
              <a:rPr lang="en-US" spc="-160"/>
              <a:t> </a:t>
            </a:r>
            <a:r>
              <a:rPr lang="en-US" spc="-10"/>
              <a:t>Design</a:t>
            </a:r>
            <a:endParaRPr spc="-20" dirty="0"/>
          </a:p>
        </p:txBody>
      </p:sp>
      <p:sp>
        <p:nvSpPr>
          <p:cNvPr id="3" name="object 3">
            <a:extLst>
              <a:ext uri="{FF2B5EF4-FFF2-40B4-BE49-F238E27FC236}">
                <a16:creationId xmlns:a16="http://schemas.microsoft.com/office/drawing/2014/main" id="{34BBC1CE-6D6C-1E6B-079E-94AACD7E16E3}"/>
              </a:ext>
            </a:extLst>
          </p:cNvPr>
          <p:cNvSpPr txBox="1"/>
          <p:nvPr/>
        </p:nvSpPr>
        <p:spPr>
          <a:xfrm>
            <a:off x="457200" y="1121155"/>
            <a:ext cx="10896600"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2.3 AMBA ABP Interface signals</a:t>
            </a:r>
          </a:p>
        </p:txBody>
      </p:sp>
      <p:graphicFrame>
        <p:nvGraphicFramePr>
          <p:cNvPr id="7" name="Table 6">
            <a:extLst>
              <a:ext uri="{FF2B5EF4-FFF2-40B4-BE49-F238E27FC236}">
                <a16:creationId xmlns:a16="http://schemas.microsoft.com/office/drawing/2014/main" id="{56C44590-07AC-E7E2-9AA5-8E71F8704879}"/>
              </a:ext>
            </a:extLst>
          </p:cNvPr>
          <p:cNvGraphicFramePr>
            <a:graphicFrameLocks noGrp="1"/>
          </p:cNvGraphicFramePr>
          <p:nvPr>
            <p:extLst>
              <p:ext uri="{D42A27DB-BD31-4B8C-83A1-F6EECF244321}">
                <p14:modId xmlns:p14="http://schemas.microsoft.com/office/powerpoint/2010/main" val="898744474"/>
              </p:ext>
            </p:extLst>
          </p:nvPr>
        </p:nvGraphicFramePr>
        <p:xfrm>
          <a:off x="579214" y="1884540"/>
          <a:ext cx="11033444" cy="3672840"/>
        </p:xfrm>
        <a:graphic>
          <a:graphicData uri="http://schemas.openxmlformats.org/drawingml/2006/table">
            <a:tbl>
              <a:tblPr firstRow="1" bandRow="1">
                <a:tableStyleId>{5C22544A-7EE6-4342-B048-85BDC9FD1C3A}</a:tableStyleId>
              </a:tblPr>
              <a:tblGrid>
                <a:gridCol w="1777683">
                  <a:extLst>
                    <a:ext uri="{9D8B030D-6E8A-4147-A177-3AD203B41FA5}">
                      <a16:colId xmlns:a16="http://schemas.microsoft.com/office/drawing/2014/main" val="1108912286"/>
                    </a:ext>
                  </a:extLst>
                </a:gridCol>
                <a:gridCol w="1600200">
                  <a:extLst>
                    <a:ext uri="{9D8B030D-6E8A-4147-A177-3AD203B41FA5}">
                      <a16:colId xmlns:a16="http://schemas.microsoft.com/office/drawing/2014/main" val="2272246613"/>
                    </a:ext>
                  </a:extLst>
                </a:gridCol>
                <a:gridCol w="1600200">
                  <a:extLst>
                    <a:ext uri="{9D8B030D-6E8A-4147-A177-3AD203B41FA5}">
                      <a16:colId xmlns:a16="http://schemas.microsoft.com/office/drawing/2014/main" val="10821907"/>
                    </a:ext>
                  </a:extLst>
                </a:gridCol>
                <a:gridCol w="6055361">
                  <a:extLst>
                    <a:ext uri="{9D8B030D-6E8A-4147-A177-3AD203B41FA5}">
                      <a16:colId xmlns:a16="http://schemas.microsoft.com/office/drawing/2014/main" val="3160994262"/>
                    </a:ext>
                  </a:extLst>
                </a:gridCol>
              </a:tblGrid>
              <a:tr h="370840">
                <a:tc>
                  <a:txBody>
                    <a:bodyPr/>
                    <a:lstStyle/>
                    <a:p>
                      <a:pPr algn="ctr"/>
                      <a:r>
                        <a:rPr lang="en-US" sz="1600">
                          <a:solidFill>
                            <a:schemeClr val="bg1"/>
                          </a:solidFill>
                          <a:latin typeface="Arial" panose="020B0604020202020204" pitchFamily="34" charset="0"/>
                          <a:cs typeface="Arial" panose="020B0604020202020204" pitchFamily="34" charset="0"/>
                        </a:rPr>
                        <a:t>Signal</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Source</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Width</a:t>
                      </a:r>
                    </a:p>
                  </a:txBody>
                  <a:tcPr>
                    <a:solidFill>
                      <a:srgbClr val="7030A0"/>
                    </a:solidFill>
                  </a:tcPr>
                </a:tc>
                <a:tc>
                  <a:txBody>
                    <a:bodyPr/>
                    <a:lstStyle/>
                    <a:p>
                      <a:pPr algn="ctr"/>
                      <a:r>
                        <a:rPr lang="en-US" sz="1600">
                          <a:solidFill>
                            <a:schemeClr val="bg1"/>
                          </a:solidFill>
                          <a:latin typeface="Arial" panose="020B0604020202020204" pitchFamily="34" charset="0"/>
                          <a:cs typeface="Arial" panose="020B0604020202020204" pitchFamily="34" charset="0"/>
                        </a:rPr>
                        <a:t>Description</a:t>
                      </a:r>
                    </a:p>
                  </a:txBody>
                  <a:tcPr>
                    <a:solidFill>
                      <a:srgbClr val="7030A0"/>
                    </a:solidFill>
                  </a:tcPr>
                </a:tc>
                <a:extLst>
                  <a:ext uri="{0D108BD9-81ED-4DB2-BD59-A6C34878D82A}">
                    <a16:rowId xmlns:a16="http://schemas.microsoft.com/office/drawing/2014/main" val="3816104531"/>
                  </a:ext>
                </a:extLst>
              </a:tr>
              <a:tr h="370840">
                <a:tc>
                  <a:txBody>
                    <a:bodyPr/>
                    <a:lstStyle/>
                    <a:p>
                      <a:pPr algn="ctr"/>
                      <a:r>
                        <a:rPr lang="vi-VN" sz="1600" dirty="0">
                          <a:latin typeface="Arial" panose="020B0604020202020204" pitchFamily="34" charset="0"/>
                          <a:cs typeface="Arial" panose="020B0604020202020204" pitchFamily="34" charset="0"/>
                        </a:rPr>
                        <a:t>p</a:t>
                      </a:r>
                      <a:r>
                        <a:rPr lang="en-US" sz="1600" dirty="0">
                          <a:latin typeface="Arial" panose="020B0604020202020204" pitchFamily="34" charset="0"/>
                          <a:cs typeface="Arial" panose="020B0604020202020204" pitchFamily="34" charset="0"/>
                        </a:rPr>
                        <a:t>WRITE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APB 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a:latin typeface="Arial" panose="020B0604020202020204" pitchFamily="34" charset="0"/>
                          <a:cs typeface="Arial" panose="020B0604020202020204" pitchFamily="34" charset="0"/>
                        </a:rPr>
                        <a:t>1</a:t>
                      </a:r>
                    </a:p>
                  </a:txBody>
                  <a:tcPr/>
                </a:tc>
                <a:tc>
                  <a:txBody>
                    <a:bodyPr/>
                    <a:lstStyle/>
                    <a:p>
                      <a:r>
                        <a:rPr lang="en-US" sz="1600">
                          <a:latin typeface="Arial" panose="020B0604020202020204" pitchFamily="34" charset="0"/>
                          <a:cs typeface="Arial" panose="020B0604020202020204" pitchFamily="34" charset="0"/>
                        </a:rPr>
                        <a:t>Direction. PWRITE indicates an APB write access when HIGH and an APB read access when LOW.</a:t>
                      </a:r>
                    </a:p>
                  </a:txBody>
                  <a:tcPr/>
                </a:tc>
                <a:extLst>
                  <a:ext uri="{0D108BD9-81ED-4DB2-BD59-A6C34878D82A}">
                    <a16:rowId xmlns:a16="http://schemas.microsoft.com/office/drawing/2014/main" val="4131091150"/>
                  </a:ext>
                </a:extLst>
              </a:tr>
              <a:tr h="370840">
                <a:tc>
                  <a:txBody>
                    <a:bodyPr/>
                    <a:lstStyle/>
                    <a:p>
                      <a:pPr algn="ctr"/>
                      <a:r>
                        <a:rPr lang="vi-VN" sz="1600" dirty="0">
                          <a:solidFill>
                            <a:schemeClr val="tx1"/>
                          </a:solidFill>
                          <a:latin typeface="Arial" panose="020B0604020202020204" pitchFamily="34" charset="0"/>
                          <a:cs typeface="Arial" panose="020B0604020202020204" pitchFamily="34" charset="0"/>
                        </a:rPr>
                        <a:t>p</a:t>
                      </a:r>
                      <a:r>
                        <a:rPr lang="en-IN" sz="1600" dirty="0">
                          <a:solidFill>
                            <a:schemeClr val="tx1"/>
                          </a:solidFill>
                          <a:latin typeface="Arial" panose="020B0604020202020204" pitchFamily="34" charset="0"/>
                          <a:cs typeface="Arial" panose="020B0604020202020204" pitchFamily="34" charset="0"/>
                        </a:rPr>
                        <a:t>WDATA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solidFill>
                          <a:latin typeface="Arial" panose="020B0604020202020204" pitchFamily="34" charset="0"/>
                          <a:cs typeface="Arial" panose="020B0604020202020204" pitchFamily="34" charset="0"/>
                        </a:rPr>
                        <a:t>APB bridge</a:t>
                      </a:r>
                      <a:endParaRPr lang="en-IN" sz="160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32</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IN" sz="1600">
                          <a:solidFill>
                            <a:schemeClr val="tx1"/>
                          </a:solidFill>
                          <a:latin typeface="Arial" panose="020B0604020202020204" pitchFamily="34" charset="0"/>
                          <a:cs typeface="Arial" panose="020B0604020202020204" pitchFamily="34" charset="0"/>
                        </a:rPr>
                        <a:t>Write data. </a:t>
                      </a:r>
                      <a:r>
                        <a:rPr lang="en-US" sz="1600" b="0" i="0">
                          <a:solidFill>
                            <a:schemeClr val="dk1"/>
                          </a:solidFill>
                          <a:effectLst/>
                          <a:latin typeface="Arial" panose="020B0604020202020204" pitchFamily="34" charset="0"/>
                          <a:ea typeface="+mn-ea"/>
                          <a:cs typeface="Arial" panose="020B0604020202020204" pitchFamily="34" charset="0"/>
                        </a:rPr>
                        <a:t>Write data bus from Master to Slave,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93422610"/>
                  </a:ext>
                </a:extLst>
              </a:tr>
              <a:tr h="370840">
                <a:tc>
                  <a:txBody>
                    <a:bodyPr/>
                    <a:lstStyle/>
                    <a:p>
                      <a:pPr algn="ctr"/>
                      <a:r>
                        <a:rPr lang="vi-VN" sz="1600" dirty="0">
                          <a:solidFill>
                            <a:schemeClr val="tx1"/>
                          </a:solidFill>
                          <a:latin typeface="Arial" panose="020B0604020202020204" pitchFamily="34" charset="0"/>
                          <a:cs typeface="Arial" panose="020B0604020202020204" pitchFamily="34" charset="0"/>
                        </a:rPr>
                        <a:t>p</a:t>
                      </a:r>
                      <a:r>
                        <a:rPr lang="en-US" sz="1600" dirty="0">
                          <a:solidFill>
                            <a:schemeClr val="tx1"/>
                          </a:solidFill>
                          <a:latin typeface="Arial" panose="020B0604020202020204" pitchFamily="34" charset="0"/>
                          <a:cs typeface="Arial" panose="020B0604020202020204" pitchFamily="34" charset="0"/>
                        </a:rPr>
                        <a:t>READY</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dirty="0">
                          <a:solidFill>
                            <a:schemeClr val="dk1"/>
                          </a:solidFill>
                          <a:effectLst/>
                          <a:latin typeface="Arial" panose="020B0604020202020204" pitchFamily="34" charset="0"/>
                          <a:ea typeface="+mn-ea"/>
                          <a:cs typeface="Arial" panose="020B0604020202020204" pitchFamily="34" charset="0"/>
                        </a:rPr>
                        <a:t>It is used by the slave to include wait states in the transfer. i.e. whenever slave is not ready to complete the transaction, it will request the master for some time by de-asserting the PREADY.</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48389343"/>
                  </a:ext>
                </a:extLst>
              </a:tr>
              <a:tr h="370840">
                <a:tc>
                  <a:txBody>
                    <a:bodyPr/>
                    <a:lstStyle/>
                    <a:p>
                      <a:pPr algn="ctr"/>
                      <a:r>
                        <a:rPr lang="vi-VN" sz="1600" dirty="0">
                          <a:solidFill>
                            <a:schemeClr val="tx1"/>
                          </a:solidFill>
                          <a:latin typeface="Arial" panose="020B0604020202020204" pitchFamily="34" charset="0"/>
                          <a:cs typeface="Arial" panose="020B0604020202020204" pitchFamily="34" charset="0"/>
                        </a:rPr>
                        <a:t>p</a:t>
                      </a:r>
                      <a:r>
                        <a:rPr lang="en-US" sz="1600" dirty="0">
                          <a:solidFill>
                            <a:schemeClr val="tx1"/>
                          </a:solidFill>
                          <a:latin typeface="Arial" panose="020B0604020202020204" pitchFamily="34" charset="0"/>
                          <a:cs typeface="Arial" panose="020B0604020202020204" pitchFamily="34" charset="0"/>
                        </a:rPr>
                        <a:t>SLVERR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a:solidFill>
                            <a:schemeClr val="dk1"/>
                          </a:solidFill>
                          <a:effectLst/>
                          <a:latin typeface="Arial" panose="020B0604020202020204" pitchFamily="34" charset="0"/>
                          <a:ea typeface="+mn-ea"/>
                          <a:cs typeface="Arial" panose="020B0604020202020204" pitchFamily="34" charset="0"/>
                        </a:rPr>
                        <a:t>Indicates the Success or failure of the transfer. HIGH indicates failure and LOW indicates Success</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326436"/>
                  </a:ext>
                </a:extLst>
              </a:tr>
              <a:tr h="370840">
                <a:tc>
                  <a:txBody>
                    <a:bodyPr/>
                    <a:lstStyle/>
                    <a:p>
                      <a:pPr algn="ctr"/>
                      <a:r>
                        <a:rPr lang="vi-VN" sz="1600" dirty="0">
                          <a:solidFill>
                            <a:schemeClr val="tx1"/>
                          </a:solidFill>
                          <a:latin typeface="Arial" panose="020B0604020202020204" pitchFamily="34" charset="0"/>
                          <a:cs typeface="Arial" panose="020B0604020202020204" pitchFamily="34" charset="0"/>
                        </a:rPr>
                        <a:t>p</a:t>
                      </a:r>
                      <a:r>
                        <a:rPr lang="en-US" sz="1600" dirty="0">
                          <a:solidFill>
                            <a:schemeClr val="tx1"/>
                          </a:solidFill>
                          <a:latin typeface="Arial" panose="020B0604020202020204" pitchFamily="34" charset="0"/>
                          <a:cs typeface="Arial" panose="020B0604020202020204" pitchFamily="34" charset="0"/>
                        </a:rPr>
                        <a:t>RDATA</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Arial" panose="020B0604020202020204" pitchFamily="34" charset="0"/>
                          <a:cs typeface="Arial" panose="020B0604020202020204" pitchFamily="34" charset="0"/>
                        </a:rPr>
                        <a:t>Slave Interface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32</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en-US" sz="1600" b="0" i="0" dirty="0">
                          <a:solidFill>
                            <a:schemeClr val="dk1"/>
                          </a:solidFill>
                          <a:effectLst/>
                          <a:latin typeface="Arial" panose="020B0604020202020204" pitchFamily="34" charset="0"/>
                          <a:ea typeface="+mn-ea"/>
                          <a:cs typeface="Arial" panose="020B0604020202020204" pitchFamily="34" charset="0"/>
                        </a:rPr>
                        <a:t>Read data us from Slave to Master, can be up to 32 bit wide</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79113978"/>
                  </a:ext>
                </a:extLst>
              </a:tr>
              <a:tr h="370840">
                <a:tc>
                  <a:txBody>
                    <a:bodyPr/>
                    <a:lstStyle/>
                    <a:p>
                      <a:pPr algn="ctr"/>
                      <a:r>
                        <a:rPr lang="vi-VN" sz="1600" dirty="0">
                          <a:solidFill>
                            <a:schemeClr val="tx1"/>
                          </a:solidFill>
                          <a:latin typeface="Arial" panose="020B0604020202020204" pitchFamily="34" charset="0"/>
                          <a:cs typeface="Arial" panose="020B0604020202020204" pitchFamily="34" charset="0"/>
                        </a:rPr>
                        <a:t>SLAVE_ERR</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600" dirty="0">
                          <a:solidFill>
                            <a:schemeClr val="tx1"/>
                          </a:solidFill>
                          <a:latin typeface="Arial" panose="020B0604020202020204" pitchFamily="34" charset="0"/>
                          <a:cs typeface="Arial" panose="020B0604020202020204" pitchFamily="34" charset="0"/>
                        </a:rPr>
                        <a:t>APB </a:t>
                      </a:r>
                      <a:r>
                        <a:rPr lang="vi-VN" sz="1600" dirty="0" err="1">
                          <a:solidFill>
                            <a:schemeClr val="tx1"/>
                          </a:solidFill>
                          <a:latin typeface="Arial" panose="020B0604020202020204" pitchFamily="34" charset="0"/>
                          <a:cs typeface="Arial" panose="020B0604020202020204" pitchFamily="34" charset="0"/>
                        </a:rPr>
                        <a:t>bridge</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ctr"/>
                      <a:r>
                        <a:rPr lang="vi-VN" sz="1600" dirty="0">
                          <a:solidFill>
                            <a:schemeClr val="tx1"/>
                          </a:solidFill>
                          <a:latin typeface="Arial" panose="020B0604020202020204" pitchFamily="34" charset="0"/>
                          <a:cs typeface="Arial" panose="020B0604020202020204" pitchFamily="34" charset="0"/>
                        </a:rPr>
                        <a:t>1</a:t>
                      </a:r>
                      <a:endParaRPr lang="en-IN" sz="1600" dirty="0">
                        <a:solidFill>
                          <a:schemeClr val="tx1"/>
                        </a:solidFill>
                        <a:latin typeface="Arial" panose="020B0604020202020204" pitchFamily="34" charset="0"/>
                        <a:cs typeface="Arial" panose="020B0604020202020204" pitchFamily="34" charset="0"/>
                      </a:endParaRPr>
                    </a:p>
                  </a:txBody>
                  <a:tcPr/>
                </a:tc>
                <a:tc>
                  <a:txBody>
                    <a:bodyPr/>
                    <a:lstStyle/>
                    <a:p>
                      <a:pPr algn="l"/>
                      <a:r>
                        <a:rPr lang="vi-VN" sz="1600" dirty="0" err="1">
                          <a:solidFill>
                            <a:schemeClr val="tx1"/>
                          </a:solidFill>
                          <a:latin typeface="Arial" panose="020B0604020202020204" pitchFamily="34" charset="0"/>
                          <a:cs typeface="Arial" panose="020B0604020202020204" pitchFamily="34" charset="0"/>
                        </a:rPr>
                        <a:t>Assign</a:t>
                      </a:r>
                      <a:r>
                        <a:rPr lang="vi-VN" sz="1600" dirty="0">
                          <a:solidFill>
                            <a:schemeClr val="tx1"/>
                          </a:solidFill>
                          <a:latin typeface="Arial" panose="020B0604020202020204" pitchFamily="34" charset="0"/>
                          <a:cs typeface="Arial" panose="020B0604020202020204" pitchFamily="34" charset="0"/>
                        </a:rPr>
                        <a:t> to </a:t>
                      </a:r>
                      <a:r>
                        <a:rPr lang="vi-VN" sz="1600" dirty="0" err="1">
                          <a:solidFill>
                            <a:schemeClr val="tx1"/>
                          </a:solidFill>
                          <a:latin typeface="Arial" panose="020B0604020202020204" pitchFamily="34" charset="0"/>
                          <a:cs typeface="Arial" panose="020B0604020202020204" pitchFamily="34" charset="0"/>
                        </a:rPr>
                        <a:t>pSLVERR</a:t>
                      </a:r>
                      <a:endParaRPr lang="en-IN" sz="16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74755859"/>
                  </a:ext>
                </a:extLst>
              </a:tr>
            </a:tbl>
          </a:graphicData>
        </a:graphic>
      </p:graphicFrame>
    </p:spTree>
    <p:extLst>
      <p:ext uri="{BB962C8B-B14F-4D97-AF65-F5344CB8AC3E}">
        <p14:creationId xmlns:p14="http://schemas.microsoft.com/office/powerpoint/2010/main" val="3358597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5764530" cy="575310"/>
          </a:xfrm>
          <a:prstGeom prst="rect">
            <a:avLst/>
          </a:prstGeom>
        </p:spPr>
        <p:txBody>
          <a:bodyPr vert="horz" wrap="square" lIns="0" tIns="13335" rIns="0" bIns="0" rtlCol="0">
            <a:spAutoFit/>
          </a:bodyPr>
          <a:lstStyle/>
          <a:p>
            <a:pPr marL="12700">
              <a:lnSpc>
                <a:spcPct val="100000"/>
              </a:lnSpc>
              <a:spcBef>
                <a:spcPts val="105"/>
              </a:spcBef>
            </a:pPr>
            <a:r>
              <a:rPr dirty="0"/>
              <a:t>3.</a:t>
            </a:r>
            <a:r>
              <a:rPr spc="-70" dirty="0"/>
              <a:t> </a:t>
            </a:r>
            <a:r>
              <a:rPr dirty="0"/>
              <a:t>Low</a:t>
            </a:r>
            <a:r>
              <a:rPr spc="10" dirty="0"/>
              <a:t> </a:t>
            </a:r>
            <a:r>
              <a:rPr dirty="0"/>
              <a:t>Level</a:t>
            </a:r>
            <a:r>
              <a:rPr spc="10" dirty="0"/>
              <a:t> </a:t>
            </a:r>
            <a:r>
              <a:rPr dirty="0"/>
              <a:t>Block</a:t>
            </a:r>
            <a:r>
              <a:rPr spc="-10" dirty="0"/>
              <a:t> Design</a:t>
            </a:r>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38</a:t>
            </a:fld>
            <a:endParaRPr spc="-25" dirty="0"/>
          </a:p>
        </p:txBody>
      </p:sp>
      <p:sp>
        <p:nvSpPr>
          <p:cNvPr id="5" name="object 5"/>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4A6DA1-913D-8873-616B-53FBF09347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307B59-5578-D262-F3FE-80AA86DB101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1C43B3EA-3845-6B19-F0CE-E77EF7962BF3}"/>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39</a:t>
            </a:fld>
            <a:endParaRPr spc="-25" dirty="0"/>
          </a:p>
        </p:txBody>
      </p:sp>
      <p:sp>
        <p:nvSpPr>
          <p:cNvPr id="6" name="object 6">
            <a:extLst>
              <a:ext uri="{FF2B5EF4-FFF2-40B4-BE49-F238E27FC236}">
                <a16:creationId xmlns:a16="http://schemas.microsoft.com/office/drawing/2014/main" id="{4B5EC5FD-AC55-E201-DDFF-FEB9BEB4791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FD81C1D7-68BA-E005-73BC-1F93CD8987D3}"/>
              </a:ext>
            </a:extLst>
          </p:cNvPr>
          <p:cNvSpPr txBox="1">
            <a:spLocks noGrp="1"/>
          </p:cNvSpPr>
          <p:nvPr>
            <p:ph type="title"/>
          </p:nvPr>
        </p:nvSpPr>
        <p:spPr>
          <a:xfrm>
            <a:off x="381000" y="215174"/>
            <a:ext cx="4520883" cy="1059906"/>
          </a:xfrm>
          <a:prstGeom prst="rect">
            <a:avLst/>
          </a:prstGeom>
        </p:spPr>
        <p:txBody>
          <a:bodyPr vert="horz" wrap="square" lIns="0" tIns="13335" rIns="0" bIns="0" rtlCol="0">
            <a:spAutoFit/>
          </a:bodyPr>
          <a:lstStyle/>
          <a:p>
            <a:pPr marL="12700">
              <a:lnSpc>
                <a:spcPct val="100000"/>
              </a:lnSpc>
              <a:spcBef>
                <a:spcPts val="105"/>
              </a:spcBef>
            </a:pPr>
            <a:r>
              <a:rPr lang="en-US" spc="-20" dirty="0"/>
              <a:t>3. Low Level Block</a:t>
            </a:r>
            <a:br>
              <a:rPr lang="en-US" spc="-20" dirty="0"/>
            </a:br>
            <a:r>
              <a:rPr lang="en-US" sz="3200" spc="-20" dirty="0"/>
              <a:t>3.1. </a:t>
            </a:r>
            <a:r>
              <a:rPr lang="en-US" sz="3200" spc="-20" dirty="0" err="1"/>
              <a:t>APB_Master</a:t>
            </a:r>
            <a:endParaRPr sz="3200" spc="-20" dirty="0"/>
          </a:p>
        </p:txBody>
      </p:sp>
      <p:pic>
        <p:nvPicPr>
          <p:cNvPr id="7" name="Picture 6">
            <a:extLst>
              <a:ext uri="{FF2B5EF4-FFF2-40B4-BE49-F238E27FC236}">
                <a16:creationId xmlns:a16="http://schemas.microsoft.com/office/drawing/2014/main" id="{B828BFC9-990E-745A-72DF-BB19E081F945}"/>
              </a:ext>
            </a:extLst>
          </p:cNvPr>
          <p:cNvPicPr>
            <a:picLocks noChangeAspect="1"/>
          </p:cNvPicPr>
          <p:nvPr/>
        </p:nvPicPr>
        <p:blipFill>
          <a:blip r:embed="rId2"/>
          <a:stretch>
            <a:fillRect/>
          </a:stretch>
        </p:blipFill>
        <p:spPr>
          <a:xfrm>
            <a:off x="1143000" y="1676400"/>
            <a:ext cx="2741886" cy="4367663"/>
          </a:xfrm>
          <a:prstGeom prst="rect">
            <a:avLst/>
          </a:prstGeom>
        </p:spPr>
      </p:pic>
      <p:pic>
        <p:nvPicPr>
          <p:cNvPr id="8" name="Picture 4">
            <a:extLst>
              <a:ext uri="{FF2B5EF4-FFF2-40B4-BE49-F238E27FC236}">
                <a16:creationId xmlns:a16="http://schemas.microsoft.com/office/drawing/2014/main" id="{7143CD85-7EC8-EB5A-F364-D0CC1E707E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200" y="2115992"/>
            <a:ext cx="7361621"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600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392BC9-A730-783C-92CC-0F2B96DD26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ED197C-A58B-6233-BB78-9E2B48C99286}"/>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4789ADC0-F4F9-2A03-3D87-7A014C42038F}"/>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40</a:t>
            </a:fld>
            <a:endParaRPr spc="-25" dirty="0"/>
          </a:p>
        </p:txBody>
      </p:sp>
      <p:sp>
        <p:nvSpPr>
          <p:cNvPr id="6" name="object 6">
            <a:extLst>
              <a:ext uri="{FF2B5EF4-FFF2-40B4-BE49-F238E27FC236}">
                <a16:creationId xmlns:a16="http://schemas.microsoft.com/office/drawing/2014/main" id="{E3FB2D91-1A96-A59C-2E70-99679CBB2E1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591A9BDE-FAAB-00C3-4FCB-78CEB8FC1B3E}"/>
              </a:ext>
            </a:extLst>
          </p:cNvPr>
          <p:cNvSpPr txBox="1">
            <a:spLocks noGrp="1"/>
          </p:cNvSpPr>
          <p:nvPr>
            <p:ph type="title"/>
          </p:nvPr>
        </p:nvSpPr>
        <p:spPr>
          <a:xfrm>
            <a:off x="381000" y="215174"/>
            <a:ext cx="4520883" cy="1059906"/>
          </a:xfrm>
          <a:prstGeom prst="rect">
            <a:avLst/>
          </a:prstGeom>
        </p:spPr>
        <p:txBody>
          <a:bodyPr vert="horz" wrap="square" lIns="0" tIns="13335" rIns="0" bIns="0" rtlCol="0">
            <a:spAutoFit/>
          </a:bodyPr>
          <a:lstStyle/>
          <a:p>
            <a:pPr marL="12700">
              <a:lnSpc>
                <a:spcPct val="100000"/>
              </a:lnSpc>
              <a:spcBef>
                <a:spcPts val="105"/>
              </a:spcBef>
            </a:pPr>
            <a:r>
              <a:rPr lang="en-US" spc="-20" dirty="0"/>
              <a:t>3. Low Level Block</a:t>
            </a:r>
            <a:br>
              <a:rPr lang="en-US" spc="-20" dirty="0"/>
            </a:br>
            <a:r>
              <a:rPr lang="en-US" sz="3200" spc="-20" dirty="0"/>
              <a:t>3.1. </a:t>
            </a:r>
            <a:r>
              <a:rPr lang="en-US" sz="3200" spc="-20" dirty="0" err="1"/>
              <a:t>APB_Master</a:t>
            </a:r>
            <a:endParaRPr sz="3200" spc="-20" dirty="0"/>
          </a:p>
        </p:txBody>
      </p:sp>
      <p:pic>
        <p:nvPicPr>
          <p:cNvPr id="9" name="Picture 8">
            <a:extLst>
              <a:ext uri="{FF2B5EF4-FFF2-40B4-BE49-F238E27FC236}">
                <a16:creationId xmlns:a16="http://schemas.microsoft.com/office/drawing/2014/main" id="{F7F00119-121B-9F61-0FA2-C883F8F87873}"/>
              </a:ext>
            </a:extLst>
          </p:cNvPr>
          <p:cNvPicPr>
            <a:picLocks noChangeAspect="1"/>
          </p:cNvPicPr>
          <p:nvPr/>
        </p:nvPicPr>
        <p:blipFill>
          <a:blip r:embed="rId2"/>
          <a:stretch>
            <a:fillRect/>
          </a:stretch>
        </p:blipFill>
        <p:spPr>
          <a:xfrm>
            <a:off x="2821193" y="1248393"/>
            <a:ext cx="6549486" cy="5281843"/>
          </a:xfrm>
          <a:prstGeom prst="rect">
            <a:avLst/>
          </a:prstGeom>
        </p:spPr>
      </p:pic>
    </p:spTree>
    <p:extLst>
      <p:ext uri="{BB962C8B-B14F-4D97-AF65-F5344CB8AC3E}">
        <p14:creationId xmlns:p14="http://schemas.microsoft.com/office/powerpoint/2010/main" val="487197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7B0C62-C18D-3F9B-B7D5-12A793FD02A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C9AD0C-B433-105C-3A72-BBB23FB5E8DB}"/>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A726E00B-B19C-5938-C4AF-AF0381A8C92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41</a:t>
            </a:fld>
            <a:endParaRPr spc="-25" dirty="0"/>
          </a:p>
        </p:txBody>
      </p:sp>
      <p:sp>
        <p:nvSpPr>
          <p:cNvPr id="6" name="object 6">
            <a:extLst>
              <a:ext uri="{FF2B5EF4-FFF2-40B4-BE49-F238E27FC236}">
                <a16:creationId xmlns:a16="http://schemas.microsoft.com/office/drawing/2014/main" id="{723F6D2E-0E43-28FC-CB80-FB56FABE3A44}"/>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E7141E40-8E21-BB59-6E1E-E6E16BEDC4CB}"/>
              </a:ext>
            </a:extLst>
          </p:cNvPr>
          <p:cNvSpPr txBox="1">
            <a:spLocks noGrp="1"/>
          </p:cNvSpPr>
          <p:nvPr>
            <p:ph type="title"/>
          </p:nvPr>
        </p:nvSpPr>
        <p:spPr>
          <a:xfrm>
            <a:off x="381000" y="215174"/>
            <a:ext cx="4520883" cy="1059906"/>
          </a:xfrm>
          <a:prstGeom prst="rect">
            <a:avLst/>
          </a:prstGeom>
        </p:spPr>
        <p:txBody>
          <a:bodyPr vert="horz" wrap="square" lIns="0" tIns="13335" rIns="0" bIns="0" rtlCol="0">
            <a:spAutoFit/>
          </a:bodyPr>
          <a:lstStyle/>
          <a:p>
            <a:pPr marL="12700">
              <a:lnSpc>
                <a:spcPct val="100000"/>
              </a:lnSpc>
              <a:spcBef>
                <a:spcPts val="105"/>
              </a:spcBef>
            </a:pPr>
            <a:r>
              <a:rPr lang="en-US" spc="-20" dirty="0"/>
              <a:t>3. Low Level Block</a:t>
            </a:r>
            <a:br>
              <a:rPr lang="en-US" spc="-20" dirty="0"/>
            </a:br>
            <a:r>
              <a:rPr lang="en-US" sz="3200" spc="-20" dirty="0"/>
              <a:t>3.1. </a:t>
            </a:r>
            <a:r>
              <a:rPr lang="en-US" sz="3200" spc="-20" dirty="0" err="1"/>
              <a:t>APB_Slave</a:t>
            </a:r>
            <a:endParaRPr sz="3200" spc="-20" dirty="0"/>
          </a:p>
        </p:txBody>
      </p:sp>
      <p:graphicFrame>
        <p:nvGraphicFramePr>
          <p:cNvPr id="8" name="Table 7">
            <a:extLst>
              <a:ext uri="{FF2B5EF4-FFF2-40B4-BE49-F238E27FC236}">
                <a16:creationId xmlns:a16="http://schemas.microsoft.com/office/drawing/2014/main" id="{70FF9FCD-BB81-F8ED-251E-23385FF774BD}"/>
              </a:ext>
            </a:extLst>
          </p:cNvPr>
          <p:cNvGraphicFramePr>
            <a:graphicFrameLocks noGrp="1"/>
          </p:cNvGraphicFramePr>
          <p:nvPr>
            <p:extLst>
              <p:ext uri="{D42A27DB-BD31-4B8C-83A1-F6EECF244321}">
                <p14:modId xmlns:p14="http://schemas.microsoft.com/office/powerpoint/2010/main" val="3475759532"/>
              </p:ext>
            </p:extLst>
          </p:nvPr>
        </p:nvGraphicFramePr>
        <p:xfrm>
          <a:off x="1046733" y="4419600"/>
          <a:ext cx="10932160" cy="1249680"/>
        </p:xfrm>
        <a:graphic>
          <a:graphicData uri="http://schemas.openxmlformats.org/drawingml/2006/table">
            <a:tbl>
              <a:tblPr firstRow="1" bandRow="1">
                <a:tableStyleId>{00A15C55-8517-42AA-B614-E9B94910E393}</a:tableStyleId>
              </a:tblPr>
              <a:tblGrid>
                <a:gridCol w="1622808">
                  <a:extLst>
                    <a:ext uri="{9D8B030D-6E8A-4147-A177-3AD203B41FA5}">
                      <a16:colId xmlns:a16="http://schemas.microsoft.com/office/drawing/2014/main" val="579931218"/>
                    </a:ext>
                  </a:extLst>
                </a:gridCol>
                <a:gridCol w="2541998">
                  <a:extLst>
                    <a:ext uri="{9D8B030D-6E8A-4147-A177-3AD203B41FA5}">
                      <a16:colId xmlns:a16="http://schemas.microsoft.com/office/drawing/2014/main" val="1158279828"/>
                    </a:ext>
                  </a:extLst>
                </a:gridCol>
                <a:gridCol w="6767354">
                  <a:extLst>
                    <a:ext uri="{9D8B030D-6E8A-4147-A177-3AD203B41FA5}">
                      <a16:colId xmlns:a16="http://schemas.microsoft.com/office/drawing/2014/main" val="3965270395"/>
                    </a:ext>
                  </a:extLst>
                </a:gridCol>
              </a:tblGrid>
              <a:tr h="198120">
                <a:tc>
                  <a:txBody>
                    <a:bodyPr/>
                    <a:lstStyle/>
                    <a:p>
                      <a:pPr algn="ctr"/>
                      <a:r>
                        <a:rPr lang="en-US" sz="1600" dirty="0">
                          <a:latin typeface="Arial" panose="020B0604020202020204" pitchFamily="34" charset="0"/>
                          <a:cs typeface="Arial" panose="020B0604020202020204" pitchFamily="34" charset="0"/>
                        </a:rPr>
                        <a:t>BUS Signals</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Name</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Descriptions</a:t>
                      </a:r>
                    </a:p>
                  </a:txBody>
                  <a:tcPr>
                    <a:solidFill>
                      <a:srgbClr val="7030A0"/>
                    </a:solidFill>
                  </a:tcPr>
                </a:tc>
                <a:extLst>
                  <a:ext uri="{0D108BD9-81ED-4DB2-BD59-A6C34878D82A}">
                    <a16:rowId xmlns:a16="http://schemas.microsoft.com/office/drawing/2014/main" val="539352098"/>
                  </a:ext>
                </a:extLst>
              </a:tr>
              <a:tr h="0">
                <a:tc>
                  <a:txBody>
                    <a:bodyPr/>
                    <a:lstStyle/>
                    <a:p>
                      <a:pPr algn="ctr"/>
                      <a:r>
                        <a:rPr lang="en-US" sz="1600">
                          <a:latin typeface="Arial" panose="020B0604020202020204" pitchFamily="34" charset="0"/>
                          <a:cs typeface="Arial" panose="020B0604020202020204" pitchFamily="34" charset="0"/>
                        </a:rPr>
                        <a:t>PADDR[31]</a:t>
                      </a:r>
                    </a:p>
                  </a:txBody>
                  <a:tcPr anchor="ctr"/>
                </a:tc>
                <a:tc>
                  <a:txBody>
                    <a:bodyPr/>
                    <a:lstStyle/>
                    <a:p>
                      <a:pPr algn="just"/>
                      <a:r>
                        <a:rPr lang="en-US" sz="1600">
                          <a:latin typeface="Arial" panose="020B0604020202020204" pitchFamily="34" charset="0"/>
                          <a:cs typeface="Arial" panose="020B0604020202020204" pitchFamily="34" charset="0"/>
                        </a:rPr>
                        <a:t>Slave Select Bit</a:t>
                      </a:r>
                    </a:p>
                  </a:txBody>
                  <a:tcPr/>
                </a:tc>
                <a:tc>
                  <a:txBody>
                    <a:bodyPr/>
                    <a:lstStyle/>
                    <a:p>
                      <a:pPr algn="just"/>
                      <a:r>
                        <a:rPr lang="en-US" sz="1600">
                          <a:latin typeface="Arial" panose="020B0604020202020204" pitchFamily="34" charset="0"/>
                          <a:cs typeface="Arial" panose="020B0604020202020204" pitchFamily="34" charset="0"/>
                        </a:rPr>
                        <a:t>Used to select the target slave. </a:t>
                      </a:r>
                      <a:r>
                        <a:rPr lang="en-US" sz="1600">
                          <a:solidFill>
                            <a:schemeClr val="dk1"/>
                          </a:solidFill>
                          <a:latin typeface="Arial" panose="020B0604020202020204" pitchFamily="34" charset="0"/>
                          <a:ea typeface="+mn-ea"/>
                          <a:cs typeface="Arial" panose="020B0604020202020204" pitchFamily="34" charset="0"/>
                        </a:rPr>
                        <a:t>0</a:t>
                      </a:r>
                      <a:r>
                        <a:rPr lang="en-US" sz="1600">
                          <a:latin typeface="Arial" panose="020B0604020202020204" pitchFamily="34" charset="0"/>
                          <a:cs typeface="Arial" panose="020B0604020202020204" pitchFamily="34" charset="0"/>
                        </a:rPr>
                        <a:t> selects Slave 0; </a:t>
                      </a:r>
                      <a:r>
                        <a:rPr lang="en-US" sz="1600">
                          <a:solidFill>
                            <a:schemeClr val="dk1"/>
                          </a:solidFill>
                          <a:latin typeface="Arial" panose="020B0604020202020204" pitchFamily="34" charset="0"/>
                          <a:ea typeface="+mn-ea"/>
                          <a:cs typeface="Arial" panose="020B0604020202020204" pitchFamily="34" charset="0"/>
                        </a:rPr>
                        <a:t>1</a:t>
                      </a:r>
                      <a:r>
                        <a:rPr lang="en-US" sz="1600">
                          <a:latin typeface="Arial" panose="020B0604020202020204" pitchFamily="34" charset="0"/>
                          <a:cs typeface="Arial" panose="020B0604020202020204" pitchFamily="34" charset="0"/>
                        </a:rPr>
                        <a:t> selects Slave 1.</a:t>
                      </a:r>
                    </a:p>
                  </a:txBody>
                  <a:tcPr/>
                </a:tc>
                <a:extLst>
                  <a:ext uri="{0D108BD9-81ED-4DB2-BD59-A6C34878D82A}">
                    <a16:rowId xmlns:a16="http://schemas.microsoft.com/office/drawing/2014/main" val="1815105458"/>
                  </a:ext>
                </a:extLst>
              </a:tr>
              <a:tr h="0">
                <a:tc>
                  <a:txBody>
                    <a:bodyPr/>
                    <a:lstStyle/>
                    <a:p>
                      <a:pPr algn="ctr"/>
                      <a:r>
                        <a:rPr lang="en-US" sz="1600" dirty="0">
                          <a:latin typeface="Arial" panose="020B0604020202020204" pitchFamily="34" charset="0"/>
                          <a:cs typeface="Arial" panose="020B0604020202020204" pitchFamily="34" charset="0"/>
                        </a:rPr>
                        <a:t>PADDR[</a:t>
                      </a:r>
                      <a:r>
                        <a:rPr lang="vi-VN" sz="1600" dirty="0">
                          <a:latin typeface="Arial" panose="020B0604020202020204" pitchFamily="34" charset="0"/>
                          <a:cs typeface="Arial" panose="020B0604020202020204" pitchFamily="34" charset="0"/>
                        </a:rPr>
                        <a:t>15</a:t>
                      </a:r>
                      <a:r>
                        <a:rPr lang="en-US" sz="1600" dirty="0">
                          <a:latin typeface="Arial" panose="020B0604020202020204" pitchFamily="34" charset="0"/>
                          <a:cs typeface="Arial" panose="020B0604020202020204" pitchFamily="34" charset="0"/>
                        </a:rPr>
                        <a:t>:0]</a:t>
                      </a:r>
                    </a:p>
                  </a:txBody>
                  <a:tcPr anchor="ctr"/>
                </a:tc>
                <a:tc>
                  <a:txBody>
                    <a:bodyPr/>
                    <a:lstStyle/>
                    <a:p>
                      <a:pPr algn="just"/>
                      <a:r>
                        <a:rPr lang="en-US" sz="1600">
                          <a:latin typeface="Arial" panose="020B0604020202020204" pitchFamily="34" charset="0"/>
                          <a:cs typeface="Arial" panose="020B0604020202020204" pitchFamily="34" charset="0"/>
                        </a:rPr>
                        <a:t>Memory Address</a:t>
                      </a:r>
                    </a:p>
                  </a:txBody>
                  <a:tcPr/>
                </a:tc>
                <a:tc>
                  <a:txBody>
                    <a:bodyPr/>
                    <a:lstStyle/>
                    <a:p>
                      <a:pPr algn="just"/>
                      <a:r>
                        <a:rPr lang="en-US" sz="1600" dirty="0">
                          <a:latin typeface="Arial" panose="020B0604020202020204" pitchFamily="34" charset="0"/>
                          <a:cs typeface="Arial" panose="020B0604020202020204" pitchFamily="34" charset="0"/>
                        </a:rPr>
                        <a:t>These bits represent the internal memory index (Word-aligned). They are used to access specific data entries within the slave's memory array.</a:t>
                      </a:r>
                    </a:p>
                  </a:txBody>
                  <a:tcPr/>
                </a:tc>
                <a:extLst>
                  <a:ext uri="{0D108BD9-81ED-4DB2-BD59-A6C34878D82A}">
                    <a16:rowId xmlns:a16="http://schemas.microsoft.com/office/drawing/2014/main" val="1486802341"/>
                  </a:ext>
                </a:extLst>
              </a:tr>
            </a:tbl>
          </a:graphicData>
        </a:graphic>
      </p:graphicFrame>
      <p:pic>
        <p:nvPicPr>
          <p:cNvPr id="9" name="Picture 8">
            <a:extLst>
              <a:ext uri="{FF2B5EF4-FFF2-40B4-BE49-F238E27FC236}">
                <a16:creationId xmlns:a16="http://schemas.microsoft.com/office/drawing/2014/main" id="{28F9C8A8-0B47-32FD-72E1-E3D6F9934436}"/>
              </a:ext>
            </a:extLst>
          </p:cNvPr>
          <p:cNvPicPr>
            <a:picLocks noChangeAspect="1"/>
          </p:cNvPicPr>
          <p:nvPr/>
        </p:nvPicPr>
        <p:blipFill>
          <a:blip r:embed="rId2"/>
          <a:stretch>
            <a:fillRect/>
          </a:stretch>
        </p:blipFill>
        <p:spPr>
          <a:xfrm>
            <a:off x="3339956" y="1275080"/>
            <a:ext cx="5511959" cy="2538294"/>
          </a:xfrm>
          <a:prstGeom prst="rect">
            <a:avLst/>
          </a:prstGeom>
        </p:spPr>
      </p:pic>
    </p:spTree>
    <p:extLst>
      <p:ext uri="{BB962C8B-B14F-4D97-AF65-F5344CB8AC3E}">
        <p14:creationId xmlns:p14="http://schemas.microsoft.com/office/powerpoint/2010/main" val="1950489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6C2382-2F1D-87FB-3CAD-B6FB400E80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141EF3-DD1D-F43F-D699-2E92EC8E22F4}"/>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6AD9986A-7E5E-3B39-EBD1-7D96ED50ED5A}"/>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42</a:t>
            </a:fld>
            <a:endParaRPr spc="-25" dirty="0"/>
          </a:p>
        </p:txBody>
      </p:sp>
      <p:sp>
        <p:nvSpPr>
          <p:cNvPr id="6" name="object 6">
            <a:extLst>
              <a:ext uri="{FF2B5EF4-FFF2-40B4-BE49-F238E27FC236}">
                <a16:creationId xmlns:a16="http://schemas.microsoft.com/office/drawing/2014/main" id="{4663D5F2-D467-E27B-50EC-1C06E207E16E}"/>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sp>
        <p:nvSpPr>
          <p:cNvPr id="2" name="object 2">
            <a:extLst>
              <a:ext uri="{FF2B5EF4-FFF2-40B4-BE49-F238E27FC236}">
                <a16:creationId xmlns:a16="http://schemas.microsoft.com/office/drawing/2014/main" id="{9DC3302E-689A-313D-9BC7-F83D53329990}"/>
              </a:ext>
            </a:extLst>
          </p:cNvPr>
          <p:cNvSpPr txBox="1">
            <a:spLocks noGrp="1"/>
          </p:cNvSpPr>
          <p:nvPr>
            <p:ph type="title"/>
          </p:nvPr>
        </p:nvSpPr>
        <p:spPr>
          <a:xfrm>
            <a:off x="381000" y="215174"/>
            <a:ext cx="4520883" cy="1059906"/>
          </a:xfrm>
          <a:prstGeom prst="rect">
            <a:avLst/>
          </a:prstGeom>
        </p:spPr>
        <p:txBody>
          <a:bodyPr vert="horz" wrap="square" lIns="0" tIns="13335" rIns="0" bIns="0" rtlCol="0">
            <a:spAutoFit/>
          </a:bodyPr>
          <a:lstStyle/>
          <a:p>
            <a:pPr marL="12700">
              <a:lnSpc>
                <a:spcPct val="100000"/>
              </a:lnSpc>
              <a:spcBef>
                <a:spcPts val="105"/>
              </a:spcBef>
            </a:pPr>
            <a:r>
              <a:rPr lang="en-US" spc="-20" dirty="0"/>
              <a:t>3. Low Level Block</a:t>
            </a:r>
            <a:br>
              <a:rPr lang="en-US" spc="-20" dirty="0"/>
            </a:br>
            <a:r>
              <a:rPr lang="en-US" sz="3200" spc="-20" dirty="0"/>
              <a:t>3.1. </a:t>
            </a:r>
            <a:r>
              <a:rPr lang="en-US" sz="3200" spc="-20" dirty="0" err="1"/>
              <a:t>APB_Slave</a:t>
            </a:r>
            <a:endParaRPr sz="3200" spc="-20" dirty="0"/>
          </a:p>
        </p:txBody>
      </p:sp>
      <p:pic>
        <p:nvPicPr>
          <p:cNvPr id="7" name="Picture 6">
            <a:extLst>
              <a:ext uri="{FF2B5EF4-FFF2-40B4-BE49-F238E27FC236}">
                <a16:creationId xmlns:a16="http://schemas.microsoft.com/office/drawing/2014/main" id="{A7A51157-FFF3-BE5A-63EF-B4763B285AE1}"/>
              </a:ext>
            </a:extLst>
          </p:cNvPr>
          <p:cNvPicPr>
            <a:picLocks noChangeAspect="1"/>
          </p:cNvPicPr>
          <p:nvPr/>
        </p:nvPicPr>
        <p:blipFill>
          <a:blip r:embed="rId2"/>
          <a:stretch>
            <a:fillRect/>
          </a:stretch>
        </p:blipFill>
        <p:spPr>
          <a:xfrm>
            <a:off x="1967417" y="1317784"/>
            <a:ext cx="8929183" cy="5202979"/>
          </a:xfrm>
          <a:prstGeom prst="rect">
            <a:avLst/>
          </a:prstGeom>
        </p:spPr>
      </p:pic>
    </p:spTree>
    <p:extLst>
      <p:ext uri="{BB962C8B-B14F-4D97-AF65-F5344CB8AC3E}">
        <p14:creationId xmlns:p14="http://schemas.microsoft.com/office/powerpoint/2010/main" val="3376973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1D55923-D1B8-4E0C-27D5-C712E1B152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12FB815-96AE-A5A8-4951-E1086B1F2C1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5" name="object 5">
            <a:extLst>
              <a:ext uri="{FF2B5EF4-FFF2-40B4-BE49-F238E27FC236}">
                <a16:creationId xmlns:a16="http://schemas.microsoft.com/office/drawing/2014/main" id="{D15FE006-4CAB-EC93-9245-C3C1C132E1DC}"/>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43</a:t>
            </a:fld>
            <a:endParaRPr spc="-25" dirty="0"/>
          </a:p>
        </p:txBody>
      </p:sp>
      <p:sp>
        <p:nvSpPr>
          <p:cNvPr id="6" name="object 6">
            <a:extLst>
              <a:ext uri="{FF2B5EF4-FFF2-40B4-BE49-F238E27FC236}">
                <a16:creationId xmlns:a16="http://schemas.microsoft.com/office/drawing/2014/main" id="{1D8A766C-94AF-BCB2-F89F-D1A2CF955229}"/>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lang="vi-VN" dirty="0"/>
              <a:t>2026</a:t>
            </a:r>
            <a:r>
              <a:rPr spc="-15" dirty="0"/>
              <a:t> </a:t>
            </a:r>
            <a:r>
              <a:rPr dirty="0"/>
              <a:t>–</a:t>
            </a:r>
            <a:r>
              <a:rPr spc="-20" dirty="0"/>
              <a:t> </a:t>
            </a:r>
            <a:r>
              <a:rPr lang="vi-VN" spc="-20" dirty="0"/>
              <a:t>Kim Gia Bao</a:t>
            </a:r>
            <a:endParaRPr spc="-10" dirty="0"/>
          </a:p>
        </p:txBody>
      </p:sp>
      <p:graphicFrame>
        <p:nvGraphicFramePr>
          <p:cNvPr id="11" name="Table 10">
            <a:extLst>
              <a:ext uri="{FF2B5EF4-FFF2-40B4-BE49-F238E27FC236}">
                <a16:creationId xmlns:a16="http://schemas.microsoft.com/office/drawing/2014/main" id="{A036969D-24A5-7E2B-6E5B-213F38C2E6F7}"/>
              </a:ext>
            </a:extLst>
          </p:cNvPr>
          <p:cNvGraphicFramePr>
            <a:graphicFrameLocks noGrp="1"/>
          </p:cNvGraphicFramePr>
          <p:nvPr>
            <p:extLst>
              <p:ext uri="{D42A27DB-BD31-4B8C-83A1-F6EECF244321}">
                <p14:modId xmlns:p14="http://schemas.microsoft.com/office/powerpoint/2010/main" val="2181184198"/>
              </p:ext>
            </p:extLst>
          </p:nvPr>
        </p:nvGraphicFramePr>
        <p:xfrm>
          <a:off x="1113312" y="3652520"/>
          <a:ext cx="9965246" cy="2595880"/>
        </p:xfrm>
        <a:graphic>
          <a:graphicData uri="http://schemas.openxmlformats.org/drawingml/2006/table">
            <a:tbl>
              <a:tblPr firstRow="1" bandRow="1">
                <a:tableStyleId>{5C22544A-7EE6-4342-B048-85BDC9FD1C3A}</a:tableStyleId>
              </a:tblPr>
              <a:tblGrid>
                <a:gridCol w="1732283">
                  <a:extLst>
                    <a:ext uri="{9D8B030D-6E8A-4147-A177-3AD203B41FA5}">
                      <a16:colId xmlns:a16="http://schemas.microsoft.com/office/drawing/2014/main" val="3310348979"/>
                    </a:ext>
                  </a:extLst>
                </a:gridCol>
                <a:gridCol w="1092128">
                  <a:extLst>
                    <a:ext uri="{9D8B030D-6E8A-4147-A177-3AD203B41FA5}">
                      <a16:colId xmlns:a16="http://schemas.microsoft.com/office/drawing/2014/main" val="3562606465"/>
                    </a:ext>
                  </a:extLst>
                </a:gridCol>
                <a:gridCol w="1764206">
                  <a:extLst>
                    <a:ext uri="{9D8B030D-6E8A-4147-A177-3AD203B41FA5}">
                      <a16:colId xmlns:a16="http://schemas.microsoft.com/office/drawing/2014/main" val="3291760261"/>
                    </a:ext>
                  </a:extLst>
                </a:gridCol>
                <a:gridCol w="5376629">
                  <a:extLst>
                    <a:ext uri="{9D8B030D-6E8A-4147-A177-3AD203B41FA5}">
                      <a16:colId xmlns:a16="http://schemas.microsoft.com/office/drawing/2014/main" val="1217350508"/>
                    </a:ext>
                  </a:extLst>
                </a:gridCol>
              </a:tblGrid>
              <a:tr h="370840">
                <a:tc>
                  <a:txBody>
                    <a:bodyPr/>
                    <a:lstStyle/>
                    <a:p>
                      <a:r>
                        <a:rPr lang="en-US" dirty="0">
                          <a:solidFill>
                            <a:schemeClr val="bg1"/>
                          </a:solidFill>
                          <a:latin typeface="Arial" panose="020B0604020202020204" pitchFamily="34" charset="0"/>
                          <a:cs typeface="Arial" panose="020B0604020202020204" pitchFamily="34" charset="0"/>
                        </a:rPr>
                        <a:t>Port </a:t>
                      </a:r>
                      <a:endParaRPr lang="en-ID" dirty="0">
                        <a:solidFill>
                          <a:schemeClr val="bg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r>
                        <a:rPr lang="en-US" dirty="0">
                          <a:solidFill>
                            <a:schemeClr val="bg1"/>
                          </a:solidFill>
                          <a:latin typeface="Arial" panose="020B0604020202020204" pitchFamily="34" charset="0"/>
                          <a:cs typeface="Arial" panose="020B0604020202020204" pitchFamily="34" charset="0"/>
                        </a:rPr>
                        <a:t>Size</a:t>
                      </a:r>
                      <a:endParaRPr lang="en-ID" dirty="0">
                        <a:solidFill>
                          <a:schemeClr val="bg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r>
                        <a:rPr lang="en-US" dirty="0">
                          <a:solidFill>
                            <a:schemeClr val="bg1"/>
                          </a:solidFill>
                          <a:latin typeface="Arial" panose="020B0604020202020204" pitchFamily="34" charset="0"/>
                          <a:cs typeface="Arial" panose="020B0604020202020204" pitchFamily="34" charset="0"/>
                        </a:rPr>
                        <a:t>Direction</a:t>
                      </a:r>
                      <a:endParaRPr lang="en-ID" dirty="0">
                        <a:solidFill>
                          <a:schemeClr val="bg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dirty="0">
                          <a:solidFill>
                            <a:schemeClr val="bg1"/>
                          </a:solidFill>
                          <a:latin typeface="Arial" panose="020B0604020202020204" pitchFamily="34" charset="0"/>
                          <a:cs typeface="Arial" panose="020B0604020202020204" pitchFamily="34" charset="0"/>
                        </a:rPr>
                        <a:t>Description</a:t>
                      </a:r>
                      <a:endParaRPr lang="en-ID" dirty="0">
                        <a:solidFill>
                          <a:schemeClr val="bg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158929062"/>
                  </a:ext>
                </a:extLst>
              </a:tr>
              <a:tr h="370840">
                <a:tc>
                  <a:txBody>
                    <a:bodyPr/>
                    <a:lstStyle/>
                    <a:p>
                      <a:r>
                        <a:rPr lang="en-US" sz="1600" dirty="0" err="1">
                          <a:latin typeface="Arial" panose="020B0604020202020204" pitchFamily="34" charset="0"/>
                          <a:cs typeface="Arial" panose="020B0604020202020204" pitchFamily="34" charset="0"/>
                        </a:rPr>
                        <a:t>clk</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1</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Input</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Clock</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7033115"/>
                  </a:ext>
                </a:extLst>
              </a:tr>
              <a:tr h="370840">
                <a:tc>
                  <a:txBody>
                    <a:bodyPr/>
                    <a:lstStyle/>
                    <a:p>
                      <a:r>
                        <a:rPr lang="en-US" sz="1600" dirty="0" err="1">
                          <a:latin typeface="Arial" panose="020B0604020202020204" pitchFamily="34" charset="0"/>
                          <a:cs typeface="Arial" panose="020B0604020202020204" pitchFamily="34" charset="0"/>
                        </a:rPr>
                        <a:t>rst_n</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1</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Input</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Asynchronous reset, active LOW</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7964475"/>
                  </a:ext>
                </a:extLst>
              </a:tr>
              <a:tr h="370840">
                <a:tc>
                  <a:txBody>
                    <a:bodyPr/>
                    <a:lstStyle/>
                    <a:p>
                      <a:r>
                        <a:rPr lang="en-US" sz="1600" dirty="0" err="1">
                          <a:latin typeface="Arial" panose="020B0604020202020204" pitchFamily="34" charset="0"/>
                          <a:cs typeface="Arial" panose="020B0604020202020204" pitchFamily="34" charset="0"/>
                        </a:rPr>
                        <a:t>en</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1</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Input</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Start signal, active for 1 cycle clock</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06612122"/>
                  </a:ext>
                </a:extLst>
              </a:tr>
              <a:tr h="370840">
                <a:tc>
                  <a:txBody>
                    <a:bodyPr/>
                    <a:lstStyle/>
                    <a:p>
                      <a:r>
                        <a:rPr lang="en-US" sz="1600" dirty="0" err="1">
                          <a:latin typeface="Arial" panose="020B0604020202020204" pitchFamily="34" charset="0"/>
                          <a:cs typeface="Arial" panose="020B0604020202020204" pitchFamily="34" charset="0"/>
                        </a:rPr>
                        <a:t>data_in</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32</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Input</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Data in </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6144440"/>
                  </a:ext>
                </a:extLst>
              </a:tr>
              <a:tr h="370840">
                <a:tc>
                  <a:txBody>
                    <a:bodyPr/>
                    <a:lstStyle/>
                    <a:p>
                      <a:r>
                        <a:rPr lang="en-US" sz="1600" dirty="0" err="1">
                          <a:latin typeface="Arial" panose="020B0604020202020204" pitchFamily="34" charset="0"/>
                          <a:cs typeface="Arial" panose="020B0604020202020204" pitchFamily="34" charset="0"/>
                        </a:rPr>
                        <a:t>hash_data</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256</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Output</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Hash data</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6718999"/>
                  </a:ext>
                </a:extLst>
              </a:tr>
              <a:tr h="370840">
                <a:tc>
                  <a:txBody>
                    <a:bodyPr/>
                    <a:lstStyle/>
                    <a:p>
                      <a:r>
                        <a:rPr lang="en-US" sz="1600" dirty="0">
                          <a:latin typeface="Arial" panose="020B0604020202020204" pitchFamily="34" charset="0"/>
                          <a:cs typeface="Arial" panose="020B0604020202020204" pitchFamily="34" charset="0"/>
                        </a:rPr>
                        <a:t>finish</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1</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Output</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latin typeface="Arial" panose="020B0604020202020204" pitchFamily="34" charset="0"/>
                          <a:cs typeface="Arial" panose="020B0604020202020204" pitchFamily="34" charset="0"/>
                        </a:rPr>
                        <a:t>Signal indicating that the hashing process has been finish</a:t>
                      </a:r>
                      <a:endParaRPr lang="en-ID" sz="1600" dirty="0">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3583596"/>
                  </a:ext>
                </a:extLst>
              </a:tr>
            </a:tbl>
          </a:graphicData>
        </a:graphic>
      </p:graphicFrame>
      <p:sp>
        <p:nvSpPr>
          <p:cNvPr id="8" name="object 2">
            <a:extLst>
              <a:ext uri="{FF2B5EF4-FFF2-40B4-BE49-F238E27FC236}">
                <a16:creationId xmlns:a16="http://schemas.microsoft.com/office/drawing/2014/main" id="{D4B43D32-B88D-7539-3104-C6F35D23EE39}"/>
              </a:ext>
            </a:extLst>
          </p:cNvPr>
          <p:cNvSpPr txBox="1">
            <a:spLocks/>
          </p:cNvSpPr>
          <p:nvPr/>
        </p:nvSpPr>
        <p:spPr>
          <a:xfrm>
            <a:off x="228600" y="71717"/>
            <a:ext cx="4520883" cy="1059906"/>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US" spc="-20" dirty="0"/>
              <a:t>3. Low Level Block</a:t>
            </a:r>
            <a:br>
              <a:rPr lang="en-US" spc="-20" dirty="0"/>
            </a:br>
            <a:r>
              <a:rPr lang="en-US" sz="3200" spc="-20" dirty="0"/>
              <a:t>3.2.1 SHA Block:</a:t>
            </a:r>
          </a:p>
        </p:txBody>
      </p:sp>
      <p:pic>
        <p:nvPicPr>
          <p:cNvPr id="12" name="Picture 11">
            <a:extLst>
              <a:ext uri="{FF2B5EF4-FFF2-40B4-BE49-F238E27FC236}">
                <a16:creationId xmlns:a16="http://schemas.microsoft.com/office/drawing/2014/main" id="{9818C996-A860-EA53-0877-C3A7D9B136B0}"/>
              </a:ext>
            </a:extLst>
          </p:cNvPr>
          <p:cNvPicPr>
            <a:picLocks noChangeAspect="1"/>
          </p:cNvPicPr>
          <p:nvPr/>
        </p:nvPicPr>
        <p:blipFill>
          <a:blip r:embed="rId2"/>
          <a:stretch>
            <a:fillRect/>
          </a:stretch>
        </p:blipFill>
        <p:spPr>
          <a:xfrm>
            <a:off x="3335666" y="1423030"/>
            <a:ext cx="4686785" cy="2195077"/>
          </a:xfrm>
          <a:prstGeom prst="rect">
            <a:avLst/>
          </a:prstGeom>
        </p:spPr>
      </p:pic>
    </p:spTree>
    <p:extLst>
      <p:ext uri="{BB962C8B-B14F-4D97-AF65-F5344CB8AC3E}">
        <p14:creationId xmlns:p14="http://schemas.microsoft.com/office/powerpoint/2010/main" val="635567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8B56AA2-22C8-F31C-2781-7F9A4FCE61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7739882-384B-76F8-9C87-CAADA5C6C654}"/>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lang="en-ID"/>
              <a:t>Thiết</a:t>
            </a:r>
            <a:r>
              <a:rPr lang="en-ID" spc="-20"/>
              <a:t> </a:t>
            </a:r>
            <a:r>
              <a:rPr lang="en-ID"/>
              <a:t>Kế</a:t>
            </a:r>
            <a:r>
              <a:rPr lang="en-ID" spc="-40"/>
              <a:t> </a:t>
            </a:r>
            <a:r>
              <a:rPr lang="en-ID"/>
              <a:t>Vi</a:t>
            </a:r>
            <a:r>
              <a:rPr lang="en-ID" spc="10"/>
              <a:t> </a:t>
            </a:r>
            <a:r>
              <a:rPr lang="en-ID" spc="-20"/>
              <a:t>Mạch</a:t>
            </a:r>
            <a:endParaRPr lang="en-ID" spc="-20" dirty="0"/>
          </a:p>
        </p:txBody>
      </p:sp>
      <p:sp>
        <p:nvSpPr>
          <p:cNvPr id="5" name="object 5">
            <a:extLst>
              <a:ext uri="{FF2B5EF4-FFF2-40B4-BE49-F238E27FC236}">
                <a16:creationId xmlns:a16="http://schemas.microsoft.com/office/drawing/2014/main" id="{95BBC5F0-FEE3-D93B-8D2E-B1E47AE9FE79}"/>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lang="en-ID" spc="-25" smtClean="0"/>
              <a:t>44</a:t>
            </a:fld>
            <a:endParaRPr lang="en-ID" spc="-25" dirty="0"/>
          </a:p>
        </p:txBody>
      </p:sp>
      <p:sp>
        <p:nvSpPr>
          <p:cNvPr id="6" name="object 6">
            <a:extLst>
              <a:ext uri="{FF2B5EF4-FFF2-40B4-BE49-F238E27FC236}">
                <a16:creationId xmlns:a16="http://schemas.microsoft.com/office/drawing/2014/main" id="{2AC74EAD-23E9-E12C-C4D5-BE3F6CD01485}"/>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lang="en-ID"/>
              <a:t>©</a:t>
            </a:r>
            <a:r>
              <a:rPr lang="en-ID" spc="-45"/>
              <a:t> </a:t>
            </a:r>
            <a:r>
              <a:rPr lang="en-ID"/>
              <a:t>2026</a:t>
            </a:r>
            <a:r>
              <a:rPr lang="en-ID" spc="-15"/>
              <a:t> </a:t>
            </a:r>
            <a:r>
              <a:rPr lang="en-ID"/>
              <a:t>–</a:t>
            </a:r>
            <a:r>
              <a:rPr lang="en-ID" spc="-20"/>
              <a:t> Kim Gia Bao</a:t>
            </a:r>
            <a:endParaRPr lang="en-ID" spc="-10" dirty="0"/>
          </a:p>
        </p:txBody>
      </p:sp>
      <p:pic>
        <p:nvPicPr>
          <p:cNvPr id="7" name="Picture 6">
            <a:extLst>
              <a:ext uri="{FF2B5EF4-FFF2-40B4-BE49-F238E27FC236}">
                <a16:creationId xmlns:a16="http://schemas.microsoft.com/office/drawing/2014/main" id="{AF006733-6D1F-85C2-9702-028342F320C2}"/>
              </a:ext>
            </a:extLst>
          </p:cNvPr>
          <p:cNvPicPr>
            <a:picLocks noChangeAspect="1"/>
          </p:cNvPicPr>
          <p:nvPr/>
        </p:nvPicPr>
        <p:blipFill>
          <a:blip r:embed="rId2"/>
          <a:stretch>
            <a:fillRect/>
          </a:stretch>
        </p:blipFill>
        <p:spPr>
          <a:xfrm>
            <a:off x="460336" y="1600200"/>
            <a:ext cx="11271199" cy="4191000"/>
          </a:xfrm>
          <a:prstGeom prst="rect">
            <a:avLst/>
          </a:prstGeom>
        </p:spPr>
      </p:pic>
      <p:sp>
        <p:nvSpPr>
          <p:cNvPr id="9" name="object 2">
            <a:extLst>
              <a:ext uri="{FF2B5EF4-FFF2-40B4-BE49-F238E27FC236}">
                <a16:creationId xmlns:a16="http://schemas.microsoft.com/office/drawing/2014/main" id="{25ACD488-49E0-1B64-84A7-C089D0533FC7}"/>
              </a:ext>
            </a:extLst>
          </p:cNvPr>
          <p:cNvSpPr txBox="1">
            <a:spLocks/>
          </p:cNvSpPr>
          <p:nvPr/>
        </p:nvSpPr>
        <p:spPr>
          <a:xfrm>
            <a:off x="228600" y="71717"/>
            <a:ext cx="4520883" cy="1059906"/>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US" spc="-20" dirty="0"/>
              <a:t>3. Low Level Block</a:t>
            </a:r>
            <a:br>
              <a:rPr lang="en-US" spc="-20" dirty="0"/>
            </a:br>
            <a:r>
              <a:rPr lang="en-US" sz="3200" spc="-20" dirty="0"/>
              <a:t>3.2.2 SHA Waveform:</a:t>
            </a:r>
          </a:p>
        </p:txBody>
      </p:sp>
    </p:spTree>
    <p:extLst>
      <p:ext uri="{BB962C8B-B14F-4D97-AF65-F5344CB8AC3E}">
        <p14:creationId xmlns:p14="http://schemas.microsoft.com/office/powerpoint/2010/main" val="19903533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6F57B6-8192-CC3D-2FFD-124E594F710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B90BA04-D500-C2DD-2ED2-11B0A0B771C3}"/>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lang="en-ID"/>
              <a:t>Thiết</a:t>
            </a:r>
            <a:r>
              <a:rPr lang="en-ID" spc="-20"/>
              <a:t> </a:t>
            </a:r>
            <a:r>
              <a:rPr lang="en-ID"/>
              <a:t>Kế</a:t>
            </a:r>
            <a:r>
              <a:rPr lang="en-ID" spc="-40"/>
              <a:t> </a:t>
            </a:r>
            <a:r>
              <a:rPr lang="en-ID"/>
              <a:t>Vi</a:t>
            </a:r>
            <a:r>
              <a:rPr lang="en-ID" spc="10"/>
              <a:t> </a:t>
            </a:r>
            <a:r>
              <a:rPr lang="en-ID" spc="-20"/>
              <a:t>Mạch</a:t>
            </a:r>
            <a:endParaRPr lang="en-ID" spc="-20" dirty="0"/>
          </a:p>
        </p:txBody>
      </p:sp>
      <p:sp>
        <p:nvSpPr>
          <p:cNvPr id="5" name="object 5">
            <a:extLst>
              <a:ext uri="{FF2B5EF4-FFF2-40B4-BE49-F238E27FC236}">
                <a16:creationId xmlns:a16="http://schemas.microsoft.com/office/drawing/2014/main" id="{1B410190-E845-9C9C-E55B-B19AB3AFA4C5}"/>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lang="en-ID" spc="-25" smtClean="0"/>
              <a:t>45</a:t>
            </a:fld>
            <a:endParaRPr lang="en-ID" spc="-25" dirty="0"/>
          </a:p>
        </p:txBody>
      </p:sp>
      <p:sp>
        <p:nvSpPr>
          <p:cNvPr id="6" name="object 6">
            <a:extLst>
              <a:ext uri="{FF2B5EF4-FFF2-40B4-BE49-F238E27FC236}">
                <a16:creationId xmlns:a16="http://schemas.microsoft.com/office/drawing/2014/main" id="{F0483E70-204F-BF54-1245-858AFB1C598A}"/>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lang="en-ID"/>
              <a:t>©</a:t>
            </a:r>
            <a:r>
              <a:rPr lang="en-ID" spc="-45"/>
              <a:t> </a:t>
            </a:r>
            <a:r>
              <a:rPr lang="en-ID"/>
              <a:t>2026</a:t>
            </a:r>
            <a:r>
              <a:rPr lang="en-ID" spc="-15"/>
              <a:t> </a:t>
            </a:r>
            <a:r>
              <a:rPr lang="en-ID"/>
              <a:t>–</a:t>
            </a:r>
            <a:r>
              <a:rPr lang="en-ID" spc="-20"/>
              <a:t> Kim Gia Bao</a:t>
            </a:r>
            <a:endParaRPr lang="en-ID" spc="-10" dirty="0"/>
          </a:p>
        </p:txBody>
      </p:sp>
      <p:pic>
        <p:nvPicPr>
          <p:cNvPr id="7" name="Picture 6">
            <a:extLst>
              <a:ext uri="{FF2B5EF4-FFF2-40B4-BE49-F238E27FC236}">
                <a16:creationId xmlns:a16="http://schemas.microsoft.com/office/drawing/2014/main" id="{406F0ECC-EA86-476C-E8E0-57C207335C83}"/>
              </a:ext>
            </a:extLst>
          </p:cNvPr>
          <p:cNvPicPr>
            <a:picLocks noChangeAspect="1"/>
          </p:cNvPicPr>
          <p:nvPr/>
        </p:nvPicPr>
        <p:blipFill>
          <a:blip r:embed="rId2"/>
          <a:stretch>
            <a:fillRect/>
          </a:stretch>
        </p:blipFill>
        <p:spPr>
          <a:xfrm>
            <a:off x="2101784" y="1275080"/>
            <a:ext cx="7988303" cy="5160029"/>
          </a:xfrm>
          <a:prstGeom prst="rect">
            <a:avLst/>
          </a:prstGeom>
        </p:spPr>
      </p:pic>
      <p:sp>
        <p:nvSpPr>
          <p:cNvPr id="11" name="object 2">
            <a:extLst>
              <a:ext uri="{FF2B5EF4-FFF2-40B4-BE49-F238E27FC236}">
                <a16:creationId xmlns:a16="http://schemas.microsoft.com/office/drawing/2014/main" id="{F854C8F2-CDB0-E17E-CDDB-21AECFE64367}"/>
              </a:ext>
            </a:extLst>
          </p:cNvPr>
          <p:cNvSpPr txBox="1">
            <a:spLocks/>
          </p:cNvSpPr>
          <p:nvPr/>
        </p:nvSpPr>
        <p:spPr>
          <a:xfrm>
            <a:off x="228600" y="71717"/>
            <a:ext cx="4520883" cy="1059906"/>
          </a:xfrm>
          <a:prstGeom prst="rect">
            <a:avLst/>
          </a:prstGeom>
        </p:spPr>
        <p:txBody>
          <a:bodyPr vert="horz" wrap="square" lIns="0" tIns="13335" rIns="0" bIns="0" rtlCol="0">
            <a:spAutoFit/>
          </a:bodyPr>
          <a:lstStyle>
            <a:lvl1pPr>
              <a:defRPr sz="3600" b="1" i="0">
                <a:solidFill>
                  <a:srgbClr val="7C45AD"/>
                </a:solidFill>
                <a:latin typeface="Arial"/>
                <a:ea typeface="+mj-ea"/>
                <a:cs typeface="Arial"/>
              </a:defRPr>
            </a:lvl1pPr>
          </a:lstStyle>
          <a:p>
            <a:pPr marL="12700">
              <a:spcBef>
                <a:spcPts val="105"/>
              </a:spcBef>
            </a:pPr>
            <a:r>
              <a:rPr lang="en-US" spc="-20" dirty="0"/>
              <a:t>3. Low Level Block</a:t>
            </a:r>
            <a:br>
              <a:rPr lang="en-US" spc="-20" dirty="0"/>
            </a:br>
            <a:r>
              <a:rPr lang="en-US" sz="3200" spc="-20" dirty="0"/>
              <a:t>3.2.3 SHA Top:</a:t>
            </a:r>
          </a:p>
        </p:txBody>
      </p:sp>
    </p:spTree>
    <p:extLst>
      <p:ext uri="{BB962C8B-B14F-4D97-AF65-F5344CB8AC3E}">
        <p14:creationId xmlns:p14="http://schemas.microsoft.com/office/powerpoint/2010/main" val="172111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017" y="2200274"/>
            <a:ext cx="7871459" cy="575310"/>
          </a:xfrm>
          <a:prstGeom prst="rect">
            <a:avLst/>
          </a:prstGeom>
        </p:spPr>
        <p:txBody>
          <a:bodyPr vert="horz" wrap="square" lIns="0" tIns="13335" rIns="0" bIns="0" rtlCol="0">
            <a:spAutoFit/>
          </a:bodyPr>
          <a:lstStyle/>
          <a:p>
            <a:pPr marL="12700">
              <a:lnSpc>
                <a:spcPct val="100000"/>
              </a:lnSpc>
              <a:spcBef>
                <a:spcPts val="105"/>
              </a:spcBef>
            </a:pPr>
            <a:r>
              <a:rPr dirty="0"/>
              <a:t>4.</a:t>
            </a:r>
            <a:r>
              <a:rPr spc="-85" dirty="0"/>
              <a:t> </a:t>
            </a:r>
            <a:r>
              <a:t>RTL</a:t>
            </a:r>
            <a:r>
              <a:rPr spc="-110"/>
              <a:t> </a:t>
            </a:r>
            <a:r>
              <a:rPr lang="en-US" spc="-20"/>
              <a:t>Verification</a:t>
            </a:r>
            <a:endParaRPr spc="-10" dirty="0"/>
          </a:p>
        </p:txBody>
      </p:sp>
      <p:sp>
        <p:nvSpPr>
          <p:cNvPr id="3" name="object 3"/>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46</a:t>
            </a:fld>
            <a:endParaRPr spc="-25" dirty="0"/>
          </a:p>
        </p:txBody>
      </p:sp>
      <p:sp>
        <p:nvSpPr>
          <p:cNvPr id="5" name="object 5"/>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47</a:t>
            </a:fld>
            <a:endParaRPr spc="-25" dirty="0"/>
          </a:p>
        </p:txBody>
      </p:sp>
      <p:sp>
        <p:nvSpPr>
          <p:cNvPr id="9" name="object 9"/>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12" name="object 3">
            <a:extLst>
              <a:ext uri="{FF2B5EF4-FFF2-40B4-BE49-F238E27FC236}">
                <a16:creationId xmlns:a16="http://schemas.microsoft.com/office/drawing/2014/main" id="{C4CF8311-391C-4623-AFC7-49C2079BF768}"/>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4.1 RTL Design</a:t>
            </a:r>
            <a:endParaRPr sz="3000">
              <a:latin typeface="Arial"/>
              <a:cs typeface="Arial"/>
            </a:endParaRPr>
          </a:p>
        </p:txBody>
      </p:sp>
      <p:pic>
        <p:nvPicPr>
          <p:cNvPr id="4" name="Picture 3">
            <a:extLst>
              <a:ext uri="{FF2B5EF4-FFF2-40B4-BE49-F238E27FC236}">
                <a16:creationId xmlns:a16="http://schemas.microsoft.com/office/drawing/2014/main" id="{1BABE8E6-CB55-A794-2C8F-78A83CDAB820}"/>
              </a:ext>
            </a:extLst>
          </p:cNvPr>
          <p:cNvPicPr>
            <a:picLocks noChangeAspect="1"/>
          </p:cNvPicPr>
          <p:nvPr/>
        </p:nvPicPr>
        <p:blipFill>
          <a:blip r:embed="rId2"/>
          <a:stretch>
            <a:fillRect/>
          </a:stretch>
        </p:blipFill>
        <p:spPr>
          <a:xfrm>
            <a:off x="508317" y="1623324"/>
            <a:ext cx="3677163" cy="3686689"/>
          </a:xfrm>
          <a:prstGeom prst="rect">
            <a:avLst/>
          </a:prstGeom>
        </p:spPr>
      </p:pic>
      <p:pic>
        <p:nvPicPr>
          <p:cNvPr id="6" name="Picture 5">
            <a:extLst>
              <a:ext uri="{FF2B5EF4-FFF2-40B4-BE49-F238E27FC236}">
                <a16:creationId xmlns:a16="http://schemas.microsoft.com/office/drawing/2014/main" id="{0F011B9D-0B51-0B91-CA28-8CC921D25A93}"/>
              </a:ext>
            </a:extLst>
          </p:cNvPr>
          <p:cNvPicPr>
            <a:picLocks noChangeAspect="1"/>
          </p:cNvPicPr>
          <p:nvPr/>
        </p:nvPicPr>
        <p:blipFill>
          <a:blip r:embed="rId3"/>
          <a:stretch>
            <a:fillRect/>
          </a:stretch>
        </p:blipFill>
        <p:spPr>
          <a:xfrm>
            <a:off x="4109449" y="1668593"/>
            <a:ext cx="3810532" cy="2584154"/>
          </a:xfrm>
          <a:prstGeom prst="rect">
            <a:avLst/>
          </a:prstGeom>
        </p:spPr>
      </p:pic>
      <p:pic>
        <p:nvPicPr>
          <p:cNvPr id="11" name="Picture 10">
            <a:extLst>
              <a:ext uri="{FF2B5EF4-FFF2-40B4-BE49-F238E27FC236}">
                <a16:creationId xmlns:a16="http://schemas.microsoft.com/office/drawing/2014/main" id="{CF62A0DB-B750-2E0D-A302-06A5F9264EF3}"/>
              </a:ext>
            </a:extLst>
          </p:cNvPr>
          <p:cNvPicPr>
            <a:picLocks noChangeAspect="1"/>
          </p:cNvPicPr>
          <p:nvPr/>
        </p:nvPicPr>
        <p:blipFill>
          <a:blip r:embed="rId4"/>
          <a:stretch>
            <a:fillRect/>
          </a:stretch>
        </p:blipFill>
        <p:spPr>
          <a:xfrm>
            <a:off x="4109449" y="4307848"/>
            <a:ext cx="3810532" cy="1695687"/>
          </a:xfrm>
          <a:prstGeom prst="rect">
            <a:avLst/>
          </a:prstGeom>
        </p:spPr>
      </p:pic>
      <p:pic>
        <p:nvPicPr>
          <p:cNvPr id="14" name="Picture 13">
            <a:extLst>
              <a:ext uri="{FF2B5EF4-FFF2-40B4-BE49-F238E27FC236}">
                <a16:creationId xmlns:a16="http://schemas.microsoft.com/office/drawing/2014/main" id="{3161A433-0968-1189-0D40-A2BA0A9D28A5}"/>
              </a:ext>
            </a:extLst>
          </p:cNvPr>
          <p:cNvPicPr>
            <a:picLocks noChangeAspect="1"/>
          </p:cNvPicPr>
          <p:nvPr/>
        </p:nvPicPr>
        <p:blipFill>
          <a:blip r:embed="rId5"/>
          <a:stretch>
            <a:fillRect/>
          </a:stretch>
        </p:blipFill>
        <p:spPr>
          <a:xfrm>
            <a:off x="7543800" y="1668593"/>
            <a:ext cx="4721638" cy="141047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0610CEB-9CCA-1625-4285-2204BB584B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3CBD56-F135-899E-14B9-7C59667C4F62}"/>
              </a:ext>
            </a:extLst>
          </p:cNvPr>
          <p:cNvSpPr txBox="1">
            <a:spLocks noGrp="1"/>
          </p:cNvSpPr>
          <p:nvPr>
            <p:ph type="title"/>
          </p:nvPr>
        </p:nvSpPr>
        <p:spPr>
          <a:xfrm>
            <a:off x="508317" y="251290"/>
            <a:ext cx="7871459" cy="678231"/>
          </a:xfrm>
          <a:prstGeom prst="rect">
            <a:avLst/>
          </a:prstGeom>
        </p:spPr>
        <p:txBody>
          <a:bodyPr vert="horz" wrap="square" lIns="0" tIns="123032" rIns="0" bIns="0" rtlCol="0">
            <a:spAutoFit/>
          </a:bodyPr>
          <a:lstStyle/>
          <a:p>
            <a:pPr marL="12700">
              <a:lnSpc>
                <a:spcPct val="100000"/>
              </a:lnSpc>
              <a:spcBef>
                <a:spcPts val="105"/>
              </a:spcBef>
            </a:pPr>
            <a:r>
              <a:rPr lang="en-US" dirty="0"/>
              <a:t>4.</a:t>
            </a:r>
            <a:r>
              <a:rPr lang="en-US" spc="-85" dirty="0"/>
              <a:t> </a:t>
            </a:r>
            <a:r>
              <a:rPr lang="en-US" dirty="0"/>
              <a:t>RTL</a:t>
            </a:r>
            <a:r>
              <a:rPr lang="en-US" spc="-110" dirty="0"/>
              <a:t> </a:t>
            </a:r>
            <a:r>
              <a:rPr lang="en-US" spc="-20" dirty="0"/>
              <a:t>Verification</a:t>
            </a:r>
            <a:endParaRPr spc="-10" dirty="0"/>
          </a:p>
        </p:txBody>
      </p:sp>
      <p:sp>
        <p:nvSpPr>
          <p:cNvPr id="7" name="object 7">
            <a:extLst>
              <a:ext uri="{FF2B5EF4-FFF2-40B4-BE49-F238E27FC236}">
                <a16:creationId xmlns:a16="http://schemas.microsoft.com/office/drawing/2014/main" id="{3817BB96-3EA9-B04F-C845-F61E2624851D}"/>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040DA6C0-3BD4-AC50-11EE-13CFA87147F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48</a:t>
            </a:fld>
            <a:endParaRPr spc="-25" dirty="0"/>
          </a:p>
        </p:txBody>
      </p:sp>
      <p:sp>
        <p:nvSpPr>
          <p:cNvPr id="9" name="object 9">
            <a:extLst>
              <a:ext uri="{FF2B5EF4-FFF2-40B4-BE49-F238E27FC236}">
                <a16:creationId xmlns:a16="http://schemas.microsoft.com/office/drawing/2014/main" id="{07AC2D6C-45F3-8972-C6FE-7C5AEFC4AD2A}"/>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30BDD015-3648-26C5-6647-C22B6E536936}"/>
              </a:ext>
            </a:extLst>
          </p:cNvPr>
          <p:cNvSpPr txBox="1"/>
          <p:nvPr/>
        </p:nvSpPr>
        <p:spPr>
          <a:xfrm>
            <a:off x="508317" y="929521"/>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4.2 Verification Plans</a:t>
            </a:r>
            <a:endParaRPr sz="3000" dirty="0">
              <a:latin typeface="Arial"/>
              <a:cs typeface="Arial"/>
            </a:endParaRPr>
          </a:p>
        </p:txBody>
      </p:sp>
      <p:graphicFrame>
        <p:nvGraphicFramePr>
          <p:cNvPr id="4" name="Table 3">
            <a:extLst>
              <a:ext uri="{FF2B5EF4-FFF2-40B4-BE49-F238E27FC236}">
                <a16:creationId xmlns:a16="http://schemas.microsoft.com/office/drawing/2014/main" id="{36D36BAC-C679-0EA5-4088-B8C0C9B18E81}"/>
              </a:ext>
            </a:extLst>
          </p:cNvPr>
          <p:cNvGraphicFramePr>
            <a:graphicFrameLocks noGrp="1"/>
          </p:cNvGraphicFramePr>
          <p:nvPr>
            <p:extLst>
              <p:ext uri="{D42A27DB-BD31-4B8C-83A1-F6EECF244321}">
                <p14:modId xmlns:p14="http://schemas.microsoft.com/office/powerpoint/2010/main" val="1582245288"/>
              </p:ext>
            </p:extLst>
          </p:nvPr>
        </p:nvGraphicFramePr>
        <p:xfrm>
          <a:off x="508317" y="1668593"/>
          <a:ext cx="11199176" cy="4572000"/>
        </p:xfrm>
        <a:graphic>
          <a:graphicData uri="http://schemas.openxmlformats.org/drawingml/2006/table">
            <a:tbl>
              <a:tblPr firstRow="1" bandRow="1">
                <a:tableStyleId>{00A15C55-8517-42AA-B614-E9B94910E393}</a:tableStyleId>
              </a:tblPr>
              <a:tblGrid>
                <a:gridCol w="1930083">
                  <a:extLst>
                    <a:ext uri="{9D8B030D-6E8A-4147-A177-3AD203B41FA5}">
                      <a16:colId xmlns:a16="http://schemas.microsoft.com/office/drawing/2014/main" val="579931218"/>
                    </a:ext>
                  </a:extLst>
                </a:gridCol>
                <a:gridCol w="3886200">
                  <a:extLst>
                    <a:ext uri="{9D8B030D-6E8A-4147-A177-3AD203B41FA5}">
                      <a16:colId xmlns:a16="http://schemas.microsoft.com/office/drawing/2014/main" val="1158279828"/>
                    </a:ext>
                  </a:extLst>
                </a:gridCol>
                <a:gridCol w="5382893">
                  <a:extLst>
                    <a:ext uri="{9D8B030D-6E8A-4147-A177-3AD203B41FA5}">
                      <a16:colId xmlns:a16="http://schemas.microsoft.com/office/drawing/2014/main" val="1379675645"/>
                    </a:ext>
                  </a:extLst>
                </a:gridCol>
              </a:tblGrid>
              <a:tr h="198120">
                <a:tc>
                  <a:txBody>
                    <a:bodyPr/>
                    <a:lstStyle/>
                    <a:p>
                      <a:pPr algn="ctr"/>
                      <a:r>
                        <a:rPr lang="en-US" sz="1600">
                          <a:latin typeface="Arial" panose="020B0604020202020204" pitchFamily="34" charset="0"/>
                          <a:cs typeface="Arial" panose="020B0604020202020204" pitchFamily="34" charset="0"/>
                        </a:rPr>
                        <a:t>Test case</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Descriptions</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Expected results</a:t>
                      </a:r>
                    </a:p>
                  </a:txBody>
                  <a:tcPr>
                    <a:solidFill>
                      <a:srgbClr val="7030A0"/>
                    </a:solidFill>
                  </a:tcPr>
                </a:tc>
                <a:extLst>
                  <a:ext uri="{0D108BD9-81ED-4DB2-BD59-A6C34878D82A}">
                    <a16:rowId xmlns:a16="http://schemas.microsoft.com/office/drawing/2014/main" val="539352098"/>
                  </a:ext>
                </a:extLst>
              </a:tr>
              <a:tr h="0">
                <a:tc rowSpan="3">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Write/Read Slave 0</a:t>
                      </a:r>
                    </a:p>
                    <a:p>
                      <a:pPr algn="ctr"/>
                      <a:endParaRPr lang="en-US" sz="1600" dirty="0">
                        <a:latin typeface="Arial" panose="020B0604020202020204" pitchFamily="34" charset="0"/>
                        <a:cs typeface="Arial" panose="020B0604020202020204" pitchFamily="34" charset="0"/>
                      </a:endParaRPr>
                    </a:p>
                  </a:txBody>
                  <a:tcPr anchor="ctr"/>
                </a:tc>
                <a:tc rowSpan="3">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Perform a write of </a:t>
                      </a:r>
                      <a:r>
                        <a:rPr lang="en-US" sz="1600" dirty="0">
                          <a:solidFill>
                            <a:schemeClr val="dk1"/>
                          </a:solidFill>
                          <a:latin typeface="Arial" panose="020B0604020202020204" pitchFamily="34" charset="0"/>
                          <a:ea typeface="+mn-ea"/>
                          <a:cs typeface="Arial" panose="020B0604020202020204" pitchFamily="34" charset="0"/>
                        </a:rPr>
                        <a:t>0x24681357</a:t>
                      </a:r>
                      <a:r>
                        <a:rPr lang="en-US" sz="1600" dirty="0">
                          <a:latin typeface="Arial" panose="020B0604020202020204" pitchFamily="34" charset="0"/>
                          <a:cs typeface="Arial" panose="020B0604020202020204" pitchFamily="34" charset="0"/>
                        </a:rPr>
                        <a:t> to address </a:t>
                      </a:r>
                      <a:r>
                        <a:rPr lang="en-US" sz="1600" dirty="0">
                          <a:solidFill>
                            <a:schemeClr val="dk1"/>
                          </a:solidFill>
                          <a:latin typeface="Arial" panose="020B0604020202020204" pitchFamily="34" charset="0"/>
                          <a:ea typeface="+mn-ea"/>
                          <a:cs typeface="Arial" panose="020B0604020202020204" pitchFamily="34" charset="0"/>
                        </a:rPr>
                        <a:t>0x8 (Slave 0)</a:t>
                      </a:r>
                      <a:r>
                        <a:rPr lang="en-US" sz="1600" dirty="0">
                          <a:latin typeface="Arial" panose="020B0604020202020204" pitchFamily="34" charset="0"/>
                          <a:cs typeface="Arial" panose="020B0604020202020204" pitchFamily="34" charset="0"/>
                        </a:rPr>
                        <a:t> of Slave 0, followed by a read from the same address.</a:t>
                      </a:r>
                    </a:p>
                    <a:p>
                      <a:pPr algn="just"/>
                      <a:endParaRPr lang="en-US" sz="1600" dirty="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err="1">
                          <a:solidFill>
                            <a:schemeClr val="dk1"/>
                          </a:solidFill>
                          <a:latin typeface="Arial" panose="020B0604020202020204" pitchFamily="34" charset="0"/>
                          <a:ea typeface="+mn-ea"/>
                          <a:cs typeface="Arial" panose="020B0604020202020204" pitchFamily="34" charset="0"/>
                        </a:rPr>
                        <a:t>PSELx</a:t>
                      </a:r>
                      <a:r>
                        <a:rPr lang="en-US" sz="1600" dirty="0">
                          <a:solidFill>
                            <a:schemeClr val="dk1"/>
                          </a:solidFill>
                          <a:latin typeface="Arial" panose="020B0604020202020204" pitchFamily="34" charset="0"/>
                          <a:ea typeface="+mn-ea"/>
                          <a:cs typeface="Arial" panose="020B0604020202020204" pitchFamily="34" charset="0"/>
                        </a:rPr>
                        <a:t>[0]</a:t>
                      </a:r>
                      <a:r>
                        <a:rPr lang="en-US" sz="1600" dirty="0">
                          <a:latin typeface="Arial" panose="020B0604020202020204" pitchFamily="34" charset="0"/>
                          <a:cs typeface="Arial" panose="020B0604020202020204" pitchFamily="34" charset="0"/>
                        </a:rPr>
                        <a:t> must be asserted (logic 1).</a:t>
                      </a:r>
                    </a:p>
                  </a:txBody>
                  <a:tcPr/>
                </a:tc>
                <a:extLst>
                  <a:ext uri="{0D108BD9-81ED-4DB2-BD59-A6C34878D82A}">
                    <a16:rowId xmlns:a16="http://schemas.microsoft.com/office/drawing/2014/main" val="1815105458"/>
                  </a:ext>
                </a:extLst>
              </a:tr>
              <a:tr h="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pPr algn="just"/>
                      <a:endParaRPr lang="en-US" sz="1600">
                        <a:latin typeface="Arial" panose="020B0604020202020204" pitchFamily="34" charset="0"/>
                        <a:cs typeface="Arial" panose="020B0604020202020204" pitchFamily="34"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SHA_DATA must match the hash value of </a:t>
                      </a:r>
                      <a:r>
                        <a:rPr lang="en-US" sz="1600" dirty="0">
                          <a:solidFill>
                            <a:schemeClr val="dk1"/>
                          </a:solidFill>
                          <a:latin typeface="Arial" panose="020B0604020202020204" pitchFamily="34" charset="0"/>
                          <a:ea typeface="+mn-ea"/>
                          <a:cs typeface="Arial" panose="020B0604020202020204" pitchFamily="34" charset="0"/>
                        </a:rPr>
                        <a:t>0x24681357 (</a:t>
                      </a:r>
                      <a:r>
                        <a:rPr lang="en-ID" sz="1600" b="0" i="0" dirty="0">
                          <a:solidFill>
                            <a:schemeClr val="dk1"/>
                          </a:solidFill>
                          <a:effectLst/>
                          <a:latin typeface="Arial" panose="020B0604020202020204" pitchFamily="34" charset="0"/>
                          <a:ea typeface="+mn-ea"/>
                          <a:cs typeface="Arial" panose="020B0604020202020204" pitchFamily="34" charset="0"/>
                        </a:rPr>
                        <a:t>0xce379e80b65d6cfc26f88a27906599a3c24f47a1faffa8a37bc66b091206b5a4</a:t>
                      </a:r>
                      <a:r>
                        <a:rPr lang="en-US" sz="1600" dirty="0">
                          <a:solidFill>
                            <a:schemeClr val="dk1"/>
                          </a:solidFill>
                          <a:latin typeface="Arial" panose="020B0604020202020204" pitchFamily="34" charset="0"/>
                          <a:ea typeface="+mn-ea"/>
                          <a:cs typeface="Arial" panose="020B0604020202020204" pitchFamily="34" charset="0"/>
                        </a:rPr>
                        <a:t>)</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378172955"/>
                  </a:ext>
                </a:extLst>
              </a:tr>
              <a:tr h="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pPr algn="just"/>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solidFill>
                            <a:schemeClr val="dk1"/>
                          </a:solidFill>
                          <a:latin typeface="Arial" panose="020B0604020202020204" pitchFamily="34" charset="0"/>
                          <a:ea typeface="+mn-ea"/>
                          <a:cs typeface="Arial" panose="020B0604020202020204" pitchFamily="34" charset="0"/>
                        </a:rPr>
                        <a:t>PSLVERR</a:t>
                      </a:r>
                      <a:r>
                        <a:rPr lang="en-US" sz="1600" dirty="0">
                          <a:latin typeface="Arial" panose="020B0604020202020204" pitchFamily="34" charset="0"/>
                          <a:cs typeface="Arial" panose="020B0604020202020204" pitchFamily="34" charset="0"/>
                        </a:rPr>
                        <a:t> must be </a:t>
                      </a:r>
                      <a:r>
                        <a:rPr lang="en-US" sz="1600" dirty="0">
                          <a:solidFill>
                            <a:schemeClr val="dk1"/>
                          </a:solidFill>
                          <a:latin typeface="Arial" panose="020B0604020202020204" pitchFamily="34" charset="0"/>
                          <a:ea typeface="+mn-ea"/>
                          <a:cs typeface="Arial" panose="020B0604020202020204" pitchFamily="34" charset="0"/>
                        </a:rPr>
                        <a:t>0</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59865615"/>
                  </a:ext>
                </a:extLst>
              </a:tr>
              <a:tr h="152400">
                <a:tc rowSpan="3">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Write/Read Slave 1</a:t>
                      </a:r>
                    </a:p>
                    <a:p>
                      <a:pPr algn="ctr"/>
                      <a:endParaRPr lang="en-US" sz="1600" dirty="0">
                        <a:latin typeface="Arial" panose="020B0604020202020204" pitchFamily="34" charset="0"/>
                        <a:cs typeface="Arial" panose="020B0604020202020204" pitchFamily="34" charset="0"/>
                      </a:endParaRPr>
                    </a:p>
                  </a:txBody>
                  <a:tcPr anchor="ctr"/>
                </a:tc>
                <a:tc rowSpan="3">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Perform a write of </a:t>
                      </a:r>
                      <a:r>
                        <a:rPr lang="en-US" sz="1600" dirty="0">
                          <a:solidFill>
                            <a:schemeClr val="dk1"/>
                          </a:solidFill>
                          <a:latin typeface="Arial" panose="020B0604020202020204" pitchFamily="34" charset="0"/>
                          <a:ea typeface="+mn-ea"/>
                          <a:cs typeface="Arial" panose="020B0604020202020204" pitchFamily="34" charset="0"/>
                        </a:rPr>
                        <a:t>0x1234abcd</a:t>
                      </a:r>
                      <a:r>
                        <a:rPr lang="en-US" sz="1600" dirty="0">
                          <a:latin typeface="Arial" panose="020B0604020202020204" pitchFamily="34" charset="0"/>
                          <a:cs typeface="Arial" panose="020B0604020202020204" pitchFamily="34" charset="0"/>
                        </a:rPr>
                        <a:t> to address </a:t>
                      </a:r>
                      <a:r>
                        <a:rPr lang="en-US" sz="1600" dirty="0">
                          <a:solidFill>
                            <a:schemeClr val="dk1"/>
                          </a:solidFill>
                          <a:latin typeface="Arial" panose="020B0604020202020204" pitchFamily="34" charset="0"/>
                          <a:ea typeface="+mn-ea"/>
                          <a:cs typeface="Arial" panose="020B0604020202020204" pitchFamily="34" charset="0"/>
                        </a:rPr>
                        <a:t>0x4 (Slave 1)</a:t>
                      </a:r>
                      <a:r>
                        <a:rPr lang="en-US" sz="1600" dirty="0">
                          <a:latin typeface="Arial" panose="020B0604020202020204" pitchFamily="34" charset="0"/>
                          <a:cs typeface="Arial" panose="020B0604020202020204" pitchFamily="34" charset="0"/>
                        </a:rPr>
                        <a:t> of Slave 1, followed by a read from the same address.</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err="1">
                          <a:solidFill>
                            <a:schemeClr val="dk1"/>
                          </a:solidFill>
                          <a:latin typeface="Arial" panose="020B0604020202020204" pitchFamily="34" charset="0"/>
                          <a:ea typeface="+mn-ea"/>
                          <a:cs typeface="Arial" panose="020B0604020202020204" pitchFamily="34" charset="0"/>
                        </a:rPr>
                        <a:t>PSELx</a:t>
                      </a:r>
                      <a:r>
                        <a:rPr lang="en-US" sz="1600" dirty="0">
                          <a:solidFill>
                            <a:schemeClr val="dk1"/>
                          </a:solidFill>
                          <a:latin typeface="Arial" panose="020B0604020202020204" pitchFamily="34" charset="0"/>
                          <a:ea typeface="+mn-ea"/>
                          <a:cs typeface="Arial" panose="020B0604020202020204" pitchFamily="34" charset="0"/>
                        </a:rPr>
                        <a:t>[1]</a:t>
                      </a:r>
                      <a:r>
                        <a:rPr lang="en-US" sz="1600" dirty="0">
                          <a:latin typeface="Arial" panose="020B0604020202020204" pitchFamily="34" charset="0"/>
                          <a:cs typeface="Arial" panose="020B0604020202020204" pitchFamily="34" charset="0"/>
                        </a:rPr>
                        <a:t> must be asserted (logic 1).</a:t>
                      </a:r>
                    </a:p>
                  </a:txBody>
                  <a:tcPr/>
                </a:tc>
                <a:extLst>
                  <a:ext uri="{0D108BD9-81ED-4DB2-BD59-A6C34878D82A}">
                    <a16:rowId xmlns:a16="http://schemas.microsoft.com/office/drawing/2014/main" val="738089962"/>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SHA_DATA must match the hash value of </a:t>
                      </a:r>
                      <a:r>
                        <a:rPr lang="en-US" sz="1600" dirty="0">
                          <a:solidFill>
                            <a:schemeClr val="dk1"/>
                          </a:solidFill>
                          <a:latin typeface="Arial" panose="020B0604020202020204" pitchFamily="34" charset="0"/>
                          <a:ea typeface="+mn-ea"/>
                          <a:cs typeface="Arial" panose="020B0604020202020204" pitchFamily="34" charset="0"/>
                        </a:rPr>
                        <a:t>0x1234abcd (</a:t>
                      </a:r>
                      <a:r>
                        <a:rPr lang="en-ID" sz="1600" b="0" i="0" dirty="0">
                          <a:solidFill>
                            <a:schemeClr val="dk1"/>
                          </a:solidFill>
                          <a:effectLst/>
                          <a:latin typeface="Arial" panose="020B0604020202020204" pitchFamily="34" charset="0"/>
                          <a:ea typeface="+mn-ea"/>
                          <a:cs typeface="Arial" panose="020B0604020202020204" pitchFamily="34" charset="0"/>
                        </a:rPr>
                        <a:t>0x9b11457aa29d65e4940b67b7da16bd370d29bf6a3247a28066f93ac407b8b811</a:t>
                      </a:r>
                      <a:r>
                        <a:rPr lang="en-US" sz="1600" dirty="0">
                          <a:solidFill>
                            <a:schemeClr val="dk1"/>
                          </a:solidFill>
                          <a:latin typeface="Arial" panose="020B0604020202020204" pitchFamily="34" charset="0"/>
                          <a:ea typeface="+mn-ea"/>
                          <a:cs typeface="Arial" panose="020B0604020202020204" pitchFamily="34" charset="0"/>
                        </a:rPr>
                        <a:t>)</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248575633"/>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solidFill>
                            <a:schemeClr val="dk1"/>
                          </a:solidFill>
                          <a:latin typeface="Arial" panose="020B0604020202020204" pitchFamily="34" charset="0"/>
                          <a:ea typeface="+mn-ea"/>
                          <a:cs typeface="Arial" panose="020B0604020202020204" pitchFamily="34" charset="0"/>
                        </a:rPr>
                        <a:t>PSLVERR</a:t>
                      </a:r>
                      <a:r>
                        <a:rPr lang="en-US" sz="1600" dirty="0">
                          <a:latin typeface="Arial" panose="020B0604020202020204" pitchFamily="34" charset="0"/>
                          <a:cs typeface="Arial" panose="020B0604020202020204" pitchFamily="34" charset="0"/>
                        </a:rPr>
                        <a:t> must be </a:t>
                      </a:r>
                      <a:r>
                        <a:rPr lang="en-US" sz="1600" dirty="0">
                          <a:solidFill>
                            <a:schemeClr val="dk1"/>
                          </a:solidFill>
                          <a:latin typeface="Arial" panose="020B0604020202020204" pitchFamily="34" charset="0"/>
                          <a:ea typeface="+mn-ea"/>
                          <a:cs typeface="Arial" panose="020B0604020202020204" pitchFamily="34" charset="0"/>
                        </a:rPr>
                        <a:t>0</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001921777"/>
                  </a:ext>
                </a:extLst>
              </a:tr>
              <a:tr h="152400">
                <a:tc rowSpan="3">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Address Range Error</a:t>
                      </a:r>
                    </a:p>
                    <a:p>
                      <a:pPr algn="ctr"/>
                      <a:endParaRPr lang="en-US" sz="1600" dirty="0">
                        <a:latin typeface="Arial" panose="020B0604020202020204" pitchFamily="34" charset="0"/>
                        <a:cs typeface="Arial" panose="020B0604020202020204" pitchFamily="34" charset="0"/>
                      </a:endParaRPr>
                    </a:p>
                  </a:txBody>
                  <a:tcPr anchor="ctr"/>
                </a:tc>
                <a:tc row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Access (Read/Write) address </a:t>
                      </a:r>
                      <a:r>
                        <a:rPr lang="vi-VN" sz="1600" b="0" i="0" dirty="0">
                          <a:solidFill>
                            <a:schemeClr val="dk1"/>
                          </a:solidFill>
                          <a:effectLst/>
                          <a:latin typeface="+mn-lt"/>
                          <a:ea typeface="+mn-ea"/>
                          <a:cs typeface="+mn-cs"/>
                        </a:rPr>
                        <a:t>0x00010000</a:t>
                      </a:r>
                      <a:r>
                        <a:rPr lang="en-US" sz="1600" dirty="0">
                          <a:latin typeface="Arial" panose="020B0604020202020204" pitchFamily="34" charset="0"/>
                          <a:cs typeface="Arial" panose="020B0604020202020204" pitchFamily="34" charset="0"/>
                        </a:rPr>
                        <a:t>, which exceeds the memory size (</a:t>
                      </a:r>
                      <a:r>
                        <a:rPr lang="vi-VN" sz="1600" dirty="0" err="1">
                          <a:latin typeface="Arial" panose="020B0604020202020204" pitchFamily="34" charset="0"/>
                          <a:cs typeface="Arial" panose="020B0604020202020204" pitchFamily="34" charset="0"/>
                        </a:rPr>
                        <a:t>pADDR</a:t>
                      </a:r>
                      <a:r>
                        <a:rPr lang="vi-VN" sz="1600" dirty="0">
                          <a:latin typeface="Arial" panose="020B0604020202020204" pitchFamily="34" charset="0"/>
                          <a:cs typeface="Arial" panose="020B0604020202020204" pitchFamily="34" charset="0"/>
                        </a:rPr>
                        <a:t>[15:0]</a:t>
                      </a:r>
                      <a:r>
                        <a:rPr lang="en-US" sz="1600" dirty="0">
                          <a:latin typeface="Arial" panose="020B0604020202020204" pitchFamily="34" charset="0"/>
                          <a:cs typeface="Arial" panose="020B0604020202020204" pitchFamily="34" charset="0"/>
                        </a:rPr>
                        <a:t>) of the Slave.</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Slave must still respond with </a:t>
                      </a:r>
                      <a:r>
                        <a:rPr lang="en-US" sz="1600" dirty="0">
                          <a:solidFill>
                            <a:schemeClr val="dk1"/>
                          </a:solidFill>
                          <a:latin typeface="Arial" panose="020B0604020202020204" pitchFamily="34" charset="0"/>
                          <a:ea typeface="+mn-ea"/>
                          <a:cs typeface="Arial" panose="020B0604020202020204" pitchFamily="34" charset="0"/>
                        </a:rPr>
                        <a:t>PREADY = 1</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82656015"/>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solidFill>
                            <a:schemeClr val="dk1"/>
                          </a:solidFill>
                          <a:latin typeface="Arial" panose="020B0604020202020204" pitchFamily="34" charset="0"/>
                          <a:ea typeface="+mn-ea"/>
                          <a:cs typeface="Arial" panose="020B0604020202020204" pitchFamily="34" charset="0"/>
                        </a:rPr>
                        <a:t>PSLVERR</a:t>
                      </a:r>
                      <a:r>
                        <a:rPr lang="en-US" sz="1600" dirty="0">
                          <a:latin typeface="Arial" panose="020B0604020202020204" pitchFamily="34" charset="0"/>
                          <a:cs typeface="Arial" panose="020B0604020202020204" pitchFamily="34" charset="0"/>
                        </a:rPr>
                        <a:t> signal must be asserted (logic 1) during both Write and Read cycles.</a:t>
                      </a:r>
                    </a:p>
                  </a:txBody>
                  <a:tcPr/>
                </a:tc>
                <a:extLst>
                  <a:ext uri="{0D108BD9-81ED-4DB2-BD59-A6C34878D82A}">
                    <a16:rowId xmlns:a16="http://schemas.microsoft.com/office/drawing/2014/main" val="2453470509"/>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SHA_DATA should return </a:t>
                      </a:r>
                      <a:r>
                        <a:rPr lang="en-US" sz="1600" dirty="0">
                          <a:solidFill>
                            <a:schemeClr val="dk1"/>
                          </a:solidFill>
                          <a:latin typeface="Arial" panose="020B0604020202020204" pitchFamily="34" charset="0"/>
                          <a:ea typeface="+mn-ea"/>
                          <a:cs typeface="Arial" panose="020B0604020202020204" pitchFamily="34" charset="0"/>
                        </a:rPr>
                        <a:t>0</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693121582"/>
                  </a:ext>
                </a:extLst>
              </a:tr>
            </a:tbl>
          </a:graphicData>
        </a:graphic>
      </p:graphicFrame>
    </p:spTree>
    <p:extLst>
      <p:ext uri="{BB962C8B-B14F-4D97-AF65-F5344CB8AC3E}">
        <p14:creationId xmlns:p14="http://schemas.microsoft.com/office/powerpoint/2010/main" val="259869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864D16-2BEB-C254-3C92-ABF3235A34C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99718E-EE41-AFE8-1D91-04CD443C52DD}"/>
              </a:ext>
            </a:extLst>
          </p:cNvPr>
          <p:cNvSpPr txBox="1">
            <a:spLocks noGrp="1"/>
          </p:cNvSpPr>
          <p:nvPr>
            <p:ph type="title"/>
          </p:nvPr>
        </p:nvSpPr>
        <p:spPr>
          <a:xfrm>
            <a:off x="508317" y="251290"/>
            <a:ext cx="7871459" cy="678231"/>
          </a:xfrm>
          <a:prstGeom prst="rect">
            <a:avLst/>
          </a:prstGeom>
        </p:spPr>
        <p:txBody>
          <a:bodyPr vert="horz" wrap="square" lIns="0" tIns="123032" rIns="0" bIns="0" rtlCol="0">
            <a:spAutoFit/>
          </a:bodyPr>
          <a:lstStyle/>
          <a:p>
            <a:pPr marL="12700">
              <a:lnSpc>
                <a:spcPct val="100000"/>
              </a:lnSpc>
              <a:spcBef>
                <a:spcPts val="105"/>
              </a:spcBef>
            </a:pPr>
            <a:r>
              <a:rPr lang="en-US" dirty="0"/>
              <a:t>4.</a:t>
            </a:r>
            <a:r>
              <a:rPr lang="en-US" spc="-85" dirty="0"/>
              <a:t> </a:t>
            </a:r>
            <a:r>
              <a:rPr lang="en-US" dirty="0"/>
              <a:t>RTL</a:t>
            </a:r>
            <a:r>
              <a:rPr lang="en-US" spc="-110" dirty="0"/>
              <a:t> </a:t>
            </a:r>
            <a:r>
              <a:rPr lang="en-US" spc="-20" dirty="0"/>
              <a:t>Verification</a:t>
            </a:r>
            <a:endParaRPr spc="-10" dirty="0"/>
          </a:p>
        </p:txBody>
      </p:sp>
      <p:sp>
        <p:nvSpPr>
          <p:cNvPr id="7" name="object 7">
            <a:extLst>
              <a:ext uri="{FF2B5EF4-FFF2-40B4-BE49-F238E27FC236}">
                <a16:creationId xmlns:a16="http://schemas.microsoft.com/office/drawing/2014/main" id="{90636B33-E44F-951B-3541-EF3792743FCC}"/>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5267D0CE-A69A-93A8-FBD6-3A9F7B3367F2}"/>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49</a:t>
            </a:fld>
            <a:endParaRPr spc="-25" dirty="0"/>
          </a:p>
        </p:txBody>
      </p:sp>
      <p:sp>
        <p:nvSpPr>
          <p:cNvPr id="9" name="object 9">
            <a:extLst>
              <a:ext uri="{FF2B5EF4-FFF2-40B4-BE49-F238E27FC236}">
                <a16:creationId xmlns:a16="http://schemas.microsoft.com/office/drawing/2014/main" id="{171611D7-A961-977E-19BB-4DD53212D6D5}"/>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FC781781-FBE1-1363-54E8-6717F63FDE46}"/>
              </a:ext>
            </a:extLst>
          </p:cNvPr>
          <p:cNvSpPr txBox="1"/>
          <p:nvPr/>
        </p:nvSpPr>
        <p:spPr>
          <a:xfrm>
            <a:off x="508317" y="929521"/>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dirty="0">
                <a:solidFill>
                  <a:srgbClr val="7C45AD"/>
                </a:solidFill>
                <a:latin typeface="Arial"/>
                <a:cs typeface="Arial"/>
              </a:rPr>
              <a:t>4.2 Verification Plans</a:t>
            </a:r>
            <a:endParaRPr sz="3000" dirty="0">
              <a:latin typeface="Arial"/>
              <a:cs typeface="Arial"/>
            </a:endParaRPr>
          </a:p>
        </p:txBody>
      </p:sp>
      <p:graphicFrame>
        <p:nvGraphicFramePr>
          <p:cNvPr id="4" name="Table 3">
            <a:extLst>
              <a:ext uri="{FF2B5EF4-FFF2-40B4-BE49-F238E27FC236}">
                <a16:creationId xmlns:a16="http://schemas.microsoft.com/office/drawing/2014/main" id="{534B0203-C1C0-B0CD-384D-72D63779349F}"/>
              </a:ext>
            </a:extLst>
          </p:cNvPr>
          <p:cNvGraphicFramePr>
            <a:graphicFrameLocks noGrp="1"/>
          </p:cNvGraphicFramePr>
          <p:nvPr>
            <p:extLst>
              <p:ext uri="{D42A27DB-BD31-4B8C-83A1-F6EECF244321}">
                <p14:modId xmlns:p14="http://schemas.microsoft.com/office/powerpoint/2010/main" val="1002695065"/>
              </p:ext>
            </p:extLst>
          </p:nvPr>
        </p:nvGraphicFramePr>
        <p:xfrm>
          <a:off x="508317" y="1668593"/>
          <a:ext cx="11199176" cy="1341120"/>
        </p:xfrm>
        <a:graphic>
          <a:graphicData uri="http://schemas.openxmlformats.org/drawingml/2006/table">
            <a:tbl>
              <a:tblPr firstRow="1" bandRow="1">
                <a:tableStyleId>{00A15C55-8517-42AA-B614-E9B94910E393}</a:tableStyleId>
              </a:tblPr>
              <a:tblGrid>
                <a:gridCol w="1930083">
                  <a:extLst>
                    <a:ext uri="{9D8B030D-6E8A-4147-A177-3AD203B41FA5}">
                      <a16:colId xmlns:a16="http://schemas.microsoft.com/office/drawing/2014/main" val="579931218"/>
                    </a:ext>
                  </a:extLst>
                </a:gridCol>
                <a:gridCol w="3886200">
                  <a:extLst>
                    <a:ext uri="{9D8B030D-6E8A-4147-A177-3AD203B41FA5}">
                      <a16:colId xmlns:a16="http://schemas.microsoft.com/office/drawing/2014/main" val="1158279828"/>
                    </a:ext>
                  </a:extLst>
                </a:gridCol>
                <a:gridCol w="5382893">
                  <a:extLst>
                    <a:ext uri="{9D8B030D-6E8A-4147-A177-3AD203B41FA5}">
                      <a16:colId xmlns:a16="http://schemas.microsoft.com/office/drawing/2014/main" val="1379675645"/>
                    </a:ext>
                  </a:extLst>
                </a:gridCol>
              </a:tblGrid>
              <a:tr h="198120">
                <a:tc>
                  <a:txBody>
                    <a:bodyPr/>
                    <a:lstStyle/>
                    <a:p>
                      <a:pPr algn="ctr"/>
                      <a:r>
                        <a:rPr lang="en-US" sz="1600">
                          <a:latin typeface="Arial" panose="020B0604020202020204" pitchFamily="34" charset="0"/>
                          <a:cs typeface="Arial" panose="020B0604020202020204" pitchFamily="34" charset="0"/>
                        </a:rPr>
                        <a:t>Test case</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Descriptions</a:t>
                      </a:r>
                    </a:p>
                  </a:txBody>
                  <a:tcPr>
                    <a:solidFill>
                      <a:srgbClr val="7030A0"/>
                    </a:solidFill>
                  </a:tcPr>
                </a:tc>
                <a:tc>
                  <a:txBody>
                    <a:bodyPr/>
                    <a:lstStyle/>
                    <a:p>
                      <a:pPr algn="ctr"/>
                      <a:r>
                        <a:rPr lang="en-US" sz="1600">
                          <a:latin typeface="Arial" panose="020B0604020202020204" pitchFamily="34" charset="0"/>
                          <a:cs typeface="Arial" panose="020B0604020202020204" pitchFamily="34" charset="0"/>
                        </a:rPr>
                        <a:t>Expected results</a:t>
                      </a:r>
                    </a:p>
                  </a:txBody>
                  <a:tcPr>
                    <a:solidFill>
                      <a:srgbClr val="7030A0"/>
                    </a:solidFill>
                  </a:tcPr>
                </a:tc>
                <a:extLst>
                  <a:ext uri="{0D108BD9-81ED-4DB2-BD59-A6C34878D82A}">
                    <a16:rowId xmlns:a16="http://schemas.microsoft.com/office/drawing/2014/main" val="539352098"/>
                  </a:ext>
                </a:extLst>
              </a:tr>
              <a:tr h="152400">
                <a:tc rowSpan="3">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Empty Address</a:t>
                      </a:r>
                    </a:p>
                    <a:p>
                      <a:pPr algn="ctr"/>
                      <a:endParaRPr lang="en-US" sz="1600" dirty="0">
                        <a:latin typeface="Arial" panose="020B0604020202020204" pitchFamily="34" charset="0"/>
                        <a:cs typeface="Arial" panose="020B0604020202020204" pitchFamily="34" charset="0"/>
                      </a:endParaRPr>
                    </a:p>
                  </a:txBody>
                  <a:tcPr anchor="ctr"/>
                </a:tc>
                <a:tc rowSpan="3">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READ empty address </a:t>
                      </a:r>
                      <a:r>
                        <a:rPr lang="en-US" sz="1600" b="0" i="0" dirty="0">
                          <a:solidFill>
                            <a:schemeClr val="dk1"/>
                          </a:solidFill>
                          <a:effectLst/>
                          <a:latin typeface="+mn-lt"/>
                          <a:ea typeface="+mn-ea"/>
                          <a:cs typeface="+mn-cs"/>
                        </a:rPr>
                        <a:t>0x1</a:t>
                      </a:r>
                      <a:endParaRPr lang="en-US" sz="1600" dirty="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Slave must still respond with </a:t>
                      </a:r>
                      <a:r>
                        <a:rPr lang="en-US" sz="1600" dirty="0">
                          <a:solidFill>
                            <a:schemeClr val="dk1"/>
                          </a:solidFill>
                          <a:latin typeface="Arial" panose="020B0604020202020204" pitchFamily="34" charset="0"/>
                          <a:ea typeface="+mn-ea"/>
                          <a:cs typeface="Arial" panose="020B0604020202020204" pitchFamily="34" charset="0"/>
                        </a:rPr>
                        <a:t>PREADY = 1</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82656015"/>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solidFill>
                            <a:schemeClr val="dk1"/>
                          </a:solidFill>
                          <a:latin typeface="Arial" panose="020B0604020202020204" pitchFamily="34" charset="0"/>
                          <a:ea typeface="+mn-ea"/>
                          <a:cs typeface="Arial" panose="020B0604020202020204" pitchFamily="34" charset="0"/>
                        </a:rPr>
                        <a:t>PSLVERR</a:t>
                      </a:r>
                      <a:r>
                        <a:rPr lang="en-US" sz="1600" dirty="0">
                          <a:latin typeface="Arial" panose="020B0604020202020204" pitchFamily="34" charset="0"/>
                          <a:cs typeface="Arial" panose="020B0604020202020204" pitchFamily="34" charset="0"/>
                        </a:rPr>
                        <a:t> signal must be 0</a:t>
                      </a:r>
                    </a:p>
                  </a:txBody>
                  <a:tcPr/>
                </a:tc>
                <a:extLst>
                  <a:ext uri="{0D108BD9-81ED-4DB2-BD59-A6C34878D82A}">
                    <a16:rowId xmlns:a16="http://schemas.microsoft.com/office/drawing/2014/main" val="2453470509"/>
                  </a:ext>
                </a:extLst>
              </a:tr>
              <a:tr h="152400">
                <a:tc vMerge="1">
                  <a:txBody>
                    <a:bodyPr/>
                    <a:lstStyle/>
                    <a:p>
                      <a:pPr algn="ctr"/>
                      <a:endParaRPr lang="en-US" sz="1600">
                        <a:latin typeface="Arial" panose="020B0604020202020204" pitchFamily="34" charset="0"/>
                        <a:cs typeface="Arial" panose="020B0604020202020204" pitchFamily="34" charset="0"/>
                      </a:endParaRPr>
                    </a:p>
                  </a:txBody>
                  <a:tcPr anchor="ctr"/>
                </a:tc>
                <a:tc vMerge="1">
                  <a:txBody>
                    <a:bodyPr/>
                    <a:lstStyle/>
                    <a:p>
                      <a:endParaRPr lang="en-US" sz="1600">
                        <a:latin typeface="Arial" panose="020B0604020202020204" pitchFamily="34" charset="0"/>
                        <a:cs typeface="Arial" panose="020B0604020202020204" pitchFamily="34"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600" dirty="0">
                          <a:latin typeface="Arial" panose="020B0604020202020204" pitchFamily="34" charset="0"/>
                          <a:cs typeface="Arial" panose="020B0604020202020204" pitchFamily="34" charset="0"/>
                        </a:rPr>
                        <a:t>SHA_DATA should return </a:t>
                      </a:r>
                      <a:r>
                        <a:rPr lang="en-US" sz="1600" dirty="0">
                          <a:solidFill>
                            <a:schemeClr val="dk1"/>
                          </a:solidFill>
                          <a:latin typeface="Arial" panose="020B0604020202020204" pitchFamily="34" charset="0"/>
                          <a:ea typeface="+mn-ea"/>
                          <a:cs typeface="Arial" panose="020B0604020202020204" pitchFamily="34" charset="0"/>
                        </a:rPr>
                        <a:t>0</a:t>
                      </a: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693121582"/>
                  </a:ext>
                </a:extLst>
              </a:tr>
            </a:tbl>
          </a:graphicData>
        </a:graphic>
      </p:graphicFrame>
    </p:spTree>
    <p:extLst>
      <p:ext uri="{BB962C8B-B14F-4D97-AF65-F5344CB8AC3E}">
        <p14:creationId xmlns:p14="http://schemas.microsoft.com/office/powerpoint/2010/main" val="31621579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BEAB3F-EF56-E700-8DAB-6284288094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037406-CB23-0843-7984-512EF9FBBAA4}"/>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D652D771-999B-63F4-45EA-2596C12937BF}"/>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E06FC934-6339-83F4-2344-A2D1FDD674BF}"/>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50</a:t>
            </a:fld>
            <a:endParaRPr spc="-25" dirty="0"/>
          </a:p>
        </p:txBody>
      </p:sp>
      <p:sp>
        <p:nvSpPr>
          <p:cNvPr id="9" name="object 9">
            <a:extLst>
              <a:ext uri="{FF2B5EF4-FFF2-40B4-BE49-F238E27FC236}">
                <a16:creationId xmlns:a16="http://schemas.microsoft.com/office/drawing/2014/main" id="{13CD6513-85DC-AE1B-FECA-C70902B83287}"/>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77498FB7-4C9B-E579-C2E9-2582753EFC00}"/>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4.3 Results</a:t>
            </a:r>
            <a:endParaRPr sz="3000">
              <a:latin typeface="Arial"/>
              <a:cs typeface="Arial"/>
            </a:endParaRPr>
          </a:p>
        </p:txBody>
      </p:sp>
      <p:sp>
        <p:nvSpPr>
          <p:cNvPr id="6" name="TextBox 5">
            <a:extLst>
              <a:ext uri="{FF2B5EF4-FFF2-40B4-BE49-F238E27FC236}">
                <a16:creationId xmlns:a16="http://schemas.microsoft.com/office/drawing/2014/main" id="{2A259F0A-9990-74C2-673D-53342BFD0205}"/>
              </a:ext>
            </a:extLst>
          </p:cNvPr>
          <p:cNvSpPr txBox="1"/>
          <p:nvPr/>
        </p:nvSpPr>
        <p:spPr>
          <a:xfrm>
            <a:off x="1048416" y="4908073"/>
            <a:ext cx="10095037" cy="1200329"/>
          </a:xfrm>
          <a:prstGeom prst="rect">
            <a:avLst/>
          </a:prstGeom>
          <a:noFill/>
        </p:spPr>
        <p:txBody>
          <a:bodyPr wrap="square">
            <a:spAutoFit/>
          </a:bodyPr>
          <a:lstStyle/>
          <a:p>
            <a:pPr algn="ctr"/>
            <a:r>
              <a:rPr lang="en-US" b="1" dirty="0"/>
              <a:t>Write and Read Slave 0</a:t>
            </a:r>
          </a:p>
          <a:p>
            <a:r>
              <a:rPr lang="en-US" b="1" dirty="0"/>
              <a:t>Write Data: </a:t>
            </a:r>
            <a:r>
              <a:rPr lang="en-US" dirty="0"/>
              <a:t>0x24681357</a:t>
            </a:r>
          </a:p>
          <a:p>
            <a:r>
              <a:rPr lang="en-US" b="1" dirty="0"/>
              <a:t>SHA_DATA: </a:t>
            </a:r>
            <a:r>
              <a:rPr lang="en-ID" sz="1800" dirty="0">
                <a:solidFill>
                  <a:schemeClr val="dk1"/>
                </a:solidFill>
                <a:latin typeface="Arial" panose="020B0604020202020204" pitchFamily="34" charset="0"/>
                <a:cs typeface="Arial" panose="020B0604020202020204" pitchFamily="34" charset="0"/>
              </a:rPr>
              <a:t>0xce379e80b65d6cfc26f88a27906599a3c24f47a1faffa8a37bc66b091206b5a4</a:t>
            </a:r>
          </a:p>
          <a:p>
            <a:r>
              <a:rPr lang="en-ID" b="1" dirty="0">
                <a:solidFill>
                  <a:schemeClr val="dk1"/>
                </a:solidFill>
                <a:latin typeface="Arial" panose="020B0604020202020204" pitchFamily="34" charset="0"/>
                <a:cs typeface="Arial" panose="020B0604020202020204" pitchFamily="34" charset="0"/>
              </a:rPr>
              <a:t>ADDR: </a:t>
            </a:r>
            <a:r>
              <a:rPr lang="en-ID" dirty="0">
                <a:solidFill>
                  <a:schemeClr val="dk1"/>
                </a:solidFill>
                <a:latin typeface="Arial" panose="020B0604020202020204" pitchFamily="34" charset="0"/>
                <a:cs typeface="Arial" panose="020B0604020202020204" pitchFamily="34" charset="0"/>
              </a:rPr>
              <a:t>0x08</a:t>
            </a:r>
            <a:endParaRPr lang="en-US" dirty="0"/>
          </a:p>
        </p:txBody>
      </p:sp>
      <p:pic>
        <p:nvPicPr>
          <p:cNvPr id="11" name="Picture 10">
            <a:extLst>
              <a:ext uri="{FF2B5EF4-FFF2-40B4-BE49-F238E27FC236}">
                <a16:creationId xmlns:a16="http://schemas.microsoft.com/office/drawing/2014/main" id="{ABBD6BEE-531D-960A-7756-4D6B05042356}"/>
              </a:ext>
            </a:extLst>
          </p:cNvPr>
          <p:cNvPicPr>
            <a:picLocks noChangeAspect="1"/>
          </p:cNvPicPr>
          <p:nvPr/>
        </p:nvPicPr>
        <p:blipFill>
          <a:blip r:embed="rId2"/>
          <a:stretch>
            <a:fillRect/>
          </a:stretch>
        </p:blipFill>
        <p:spPr>
          <a:xfrm>
            <a:off x="537322" y="1668593"/>
            <a:ext cx="11117226" cy="3219899"/>
          </a:xfrm>
          <a:prstGeom prst="rect">
            <a:avLst/>
          </a:prstGeom>
        </p:spPr>
      </p:pic>
    </p:spTree>
    <p:extLst>
      <p:ext uri="{BB962C8B-B14F-4D97-AF65-F5344CB8AC3E}">
        <p14:creationId xmlns:p14="http://schemas.microsoft.com/office/powerpoint/2010/main" val="1589808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2CA6D5B-4720-CC11-42AE-07C02789BD0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5385CFC-A063-2682-6E73-619F8F16948E}"/>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255AAAA5-9C26-0BAF-00FD-6331ED93160D}"/>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DF3F1006-864C-0A46-4D2B-F779C7EC6541}"/>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51</a:t>
            </a:fld>
            <a:endParaRPr spc="-25" dirty="0"/>
          </a:p>
        </p:txBody>
      </p:sp>
      <p:sp>
        <p:nvSpPr>
          <p:cNvPr id="9" name="object 9">
            <a:extLst>
              <a:ext uri="{FF2B5EF4-FFF2-40B4-BE49-F238E27FC236}">
                <a16:creationId xmlns:a16="http://schemas.microsoft.com/office/drawing/2014/main" id="{7B804E34-1858-A8CD-89CA-33054F5C3949}"/>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DCFDE583-01DC-81B1-465A-B08A36F84121}"/>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4.3 Results</a:t>
            </a:r>
            <a:endParaRPr sz="3000">
              <a:latin typeface="Arial"/>
              <a:cs typeface="Arial"/>
            </a:endParaRPr>
          </a:p>
        </p:txBody>
      </p:sp>
      <p:pic>
        <p:nvPicPr>
          <p:cNvPr id="10" name="Picture 9">
            <a:extLst>
              <a:ext uri="{FF2B5EF4-FFF2-40B4-BE49-F238E27FC236}">
                <a16:creationId xmlns:a16="http://schemas.microsoft.com/office/drawing/2014/main" id="{E7528CCA-4591-2FA0-A7DD-9AC4C0AC08E4}"/>
              </a:ext>
            </a:extLst>
          </p:cNvPr>
          <p:cNvPicPr>
            <a:picLocks noChangeAspect="1"/>
          </p:cNvPicPr>
          <p:nvPr/>
        </p:nvPicPr>
        <p:blipFill>
          <a:blip r:embed="rId2"/>
          <a:stretch>
            <a:fillRect/>
          </a:stretch>
        </p:blipFill>
        <p:spPr>
          <a:xfrm>
            <a:off x="432532" y="1668593"/>
            <a:ext cx="11326806" cy="3219899"/>
          </a:xfrm>
          <a:prstGeom prst="rect">
            <a:avLst/>
          </a:prstGeom>
        </p:spPr>
      </p:pic>
      <p:sp>
        <p:nvSpPr>
          <p:cNvPr id="11" name="TextBox 10">
            <a:extLst>
              <a:ext uri="{FF2B5EF4-FFF2-40B4-BE49-F238E27FC236}">
                <a16:creationId xmlns:a16="http://schemas.microsoft.com/office/drawing/2014/main" id="{CF9EB465-1CC5-D390-354F-0B10ABFCCFCD}"/>
              </a:ext>
            </a:extLst>
          </p:cNvPr>
          <p:cNvSpPr txBox="1"/>
          <p:nvPr/>
        </p:nvSpPr>
        <p:spPr>
          <a:xfrm>
            <a:off x="1048416" y="4908073"/>
            <a:ext cx="10095037" cy="1200329"/>
          </a:xfrm>
          <a:prstGeom prst="rect">
            <a:avLst/>
          </a:prstGeom>
          <a:noFill/>
        </p:spPr>
        <p:txBody>
          <a:bodyPr wrap="square">
            <a:spAutoFit/>
          </a:bodyPr>
          <a:lstStyle/>
          <a:p>
            <a:pPr algn="ctr"/>
            <a:r>
              <a:rPr lang="en-US" b="1" dirty="0"/>
              <a:t>Write and Read Slave 1</a:t>
            </a:r>
          </a:p>
          <a:p>
            <a:r>
              <a:rPr lang="en-US" b="1" dirty="0"/>
              <a:t>Write Data: </a:t>
            </a:r>
            <a:r>
              <a:rPr lang="en-US" dirty="0"/>
              <a:t>0x1234abcd</a:t>
            </a:r>
          </a:p>
          <a:p>
            <a:r>
              <a:rPr lang="en-US" b="1" dirty="0"/>
              <a:t>SHA_DATA: </a:t>
            </a:r>
            <a:r>
              <a:rPr lang="en-ID" sz="1800" dirty="0">
                <a:solidFill>
                  <a:schemeClr val="dk1"/>
                </a:solidFill>
                <a:latin typeface="Arial" panose="020B0604020202020204" pitchFamily="34" charset="0"/>
                <a:cs typeface="Arial" panose="020B0604020202020204" pitchFamily="34" charset="0"/>
              </a:rPr>
              <a:t>0x9b11457aa29d65e4940b67b7da16bd370d29bf6a3247a28066f93ac407b8b811</a:t>
            </a:r>
          </a:p>
          <a:p>
            <a:r>
              <a:rPr lang="en-ID" b="1" dirty="0">
                <a:solidFill>
                  <a:schemeClr val="dk1"/>
                </a:solidFill>
                <a:latin typeface="Arial" panose="020B0604020202020204" pitchFamily="34" charset="0"/>
                <a:cs typeface="Arial" panose="020B0604020202020204" pitchFamily="34" charset="0"/>
              </a:rPr>
              <a:t>ADDR: </a:t>
            </a:r>
            <a:r>
              <a:rPr lang="en-ID" dirty="0">
                <a:solidFill>
                  <a:schemeClr val="dk1"/>
                </a:solidFill>
                <a:latin typeface="Arial" panose="020B0604020202020204" pitchFamily="34" charset="0"/>
                <a:cs typeface="Arial" panose="020B0604020202020204" pitchFamily="34" charset="0"/>
              </a:rPr>
              <a:t>0x80000004</a:t>
            </a:r>
            <a:endParaRPr lang="en-US" dirty="0"/>
          </a:p>
        </p:txBody>
      </p:sp>
    </p:spTree>
    <p:extLst>
      <p:ext uri="{BB962C8B-B14F-4D97-AF65-F5344CB8AC3E}">
        <p14:creationId xmlns:p14="http://schemas.microsoft.com/office/powerpoint/2010/main" val="32790146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89722D-0DBD-E332-7513-57512C580E4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BD17513-EA7B-4B9C-E895-713543940144}"/>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5321B998-5C80-1113-C686-6AB2E7680ADA}"/>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C31F4ECD-887B-BF55-E96E-20773CE67302}"/>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52</a:t>
            </a:fld>
            <a:endParaRPr spc="-25" dirty="0"/>
          </a:p>
        </p:txBody>
      </p:sp>
      <p:sp>
        <p:nvSpPr>
          <p:cNvPr id="9" name="object 9">
            <a:extLst>
              <a:ext uri="{FF2B5EF4-FFF2-40B4-BE49-F238E27FC236}">
                <a16:creationId xmlns:a16="http://schemas.microsoft.com/office/drawing/2014/main" id="{45E0D5AC-1722-4065-98DE-1A2E4770C1D9}"/>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a:t>
            </a:r>
            <a:r>
              <a:rPr lang="en-US" dirty="0"/>
              <a:t>26 – Kim Gia Bao</a:t>
            </a:r>
            <a:endParaRPr spc="-10" dirty="0"/>
          </a:p>
        </p:txBody>
      </p:sp>
      <p:sp>
        <p:nvSpPr>
          <p:cNvPr id="3" name="object 3">
            <a:extLst>
              <a:ext uri="{FF2B5EF4-FFF2-40B4-BE49-F238E27FC236}">
                <a16:creationId xmlns:a16="http://schemas.microsoft.com/office/drawing/2014/main" id="{84722DF9-3043-4C59-646A-3D035C65705C}"/>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4.3 Results</a:t>
            </a:r>
            <a:endParaRPr sz="3000">
              <a:latin typeface="Arial"/>
              <a:cs typeface="Arial"/>
            </a:endParaRPr>
          </a:p>
        </p:txBody>
      </p:sp>
      <p:sp>
        <p:nvSpPr>
          <p:cNvPr id="11" name="TextBox 10">
            <a:extLst>
              <a:ext uri="{FF2B5EF4-FFF2-40B4-BE49-F238E27FC236}">
                <a16:creationId xmlns:a16="http://schemas.microsoft.com/office/drawing/2014/main" id="{8CFB3FDC-8B4B-9CBF-F225-7756AC9E5645}"/>
              </a:ext>
            </a:extLst>
          </p:cNvPr>
          <p:cNvSpPr txBox="1"/>
          <p:nvPr/>
        </p:nvSpPr>
        <p:spPr>
          <a:xfrm>
            <a:off x="1048417" y="4277715"/>
            <a:ext cx="10095037" cy="1477328"/>
          </a:xfrm>
          <a:prstGeom prst="rect">
            <a:avLst/>
          </a:prstGeom>
          <a:noFill/>
        </p:spPr>
        <p:txBody>
          <a:bodyPr wrap="square">
            <a:spAutoFit/>
          </a:bodyPr>
          <a:lstStyle/>
          <a:p>
            <a:pPr algn="ctr"/>
            <a:r>
              <a:rPr lang="en-US" b="1" dirty="0"/>
              <a:t>Write and Read Range Error Address</a:t>
            </a:r>
          </a:p>
          <a:p>
            <a:r>
              <a:rPr lang="en-US" b="1" dirty="0"/>
              <a:t>Write Data: </a:t>
            </a:r>
            <a:r>
              <a:rPr lang="en-US" dirty="0"/>
              <a:t>0x01234567</a:t>
            </a:r>
          </a:p>
          <a:p>
            <a:r>
              <a:rPr lang="en-US" b="1" dirty="0"/>
              <a:t>SHA_DATA: </a:t>
            </a:r>
            <a:r>
              <a:rPr lang="en-ID" sz="1800" dirty="0">
                <a:solidFill>
                  <a:schemeClr val="dk1"/>
                </a:solidFill>
                <a:latin typeface="Arial" panose="020B0604020202020204" pitchFamily="34" charset="0"/>
                <a:cs typeface="Arial" panose="020B0604020202020204" pitchFamily="34" charset="0"/>
              </a:rPr>
              <a:t>0</a:t>
            </a:r>
          </a:p>
          <a:p>
            <a:r>
              <a:rPr lang="en-ID" b="1" dirty="0">
                <a:solidFill>
                  <a:schemeClr val="dk1"/>
                </a:solidFill>
                <a:latin typeface="Arial" panose="020B0604020202020204" pitchFamily="34" charset="0"/>
                <a:cs typeface="Arial" panose="020B0604020202020204" pitchFamily="34" charset="0"/>
              </a:rPr>
              <a:t>ADDR: </a:t>
            </a:r>
            <a:r>
              <a:rPr lang="vi-VN" dirty="0">
                <a:solidFill>
                  <a:schemeClr val="dk1"/>
                </a:solidFill>
                <a:latin typeface="Arial" panose="020B0604020202020204" pitchFamily="34" charset="0"/>
                <a:cs typeface="Arial" panose="020B0604020202020204" pitchFamily="34" charset="0"/>
              </a:rPr>
              <a:t>0x00010</a:t>
            </a:r>
            <a:r>
              <a:rPr lang="en-ID" dirty="0">
                <a:solidFill>
                  <a:schemeClr val="dk1"/>
                </a:solidFill>
                <a:latin typeface="Arial" panose="020B0604020202020204" pitchFamily="34" charset="0"/>
                <a:cs typeface="Arial" panose="020B0604020202020204" pitchFamily="34" charset="0"/>
              </a:rPr>
              <a:t>000</a:t>
            </a:r>
          </a:p>
          <a:p>
            <a:r>
              <a:rPr lang="en-ID" b="1" dirty="0" err="1">
                <a:solidFill>
                  <a:schemeClr val="dk1"/>
                </a:solidFill>
                <a:latin typeface="Arial" panose="020B0604020202020204" pitchFamily="34" charset="0"/>
                <a:cs typeface="Arial" panose="020B0604020202020204" pitchFamily="34" charset="0"/>
              </a:rPr>
              <a:t>pSLVERR</a:t>
            </a:r>
            <a:r>
              <a:rPr lang="en-ID" b="1" dirty="0">
                <a:solidFill>
                  <a:schemeClr val="dk1"/>
                </a:solidFill>
                <a:latin typeface="Arial" panose="020B0604020202020204" pitchFamily="34" charset="0"/>
                <a:cs typeface="Arial" panose="020B0604020202020204" pitchFamily="34" charset="0"/>
              </a:rPr>
              <a:t>: </a:t>
            </a:r>
            <a:r>
              <a:rPr lang="en-ID" dirty="0">
                <a:solidFill>
                  <a:schemeClr val="dk1"/>
                </a:solidFill>
                <a:latin typeface="Arial" panose="020B0604020202020204" pitchFamily="34" charset="0"/>
                <a:cs typeface="Arial" panose="020B0604020202020204" pitchFamily="34" charset="0"/>
              </a:rPr>
              <a:t>1</a:t>
            </a:r>
            <a:endParaRPr lang="en-US" b="1" dirty="0"/>
          </a:p>
        </p:txBody>
      </p:sp>
      <p:pic>
        <p:nvPicPr>
          <p:cNvPr id="6" name="Picture 5">
            <a:extLst>
              <a:ext uri="{FF2B5EF4-FFF2-40B4-BE49-F238E27FC236}">
                <a16:creationId xmlns:a16="http://schemas.microsoft.com/office/drawing/2014/main" id="{640F3A47-C996-1919-41FF-1B8D087D800E}"/>
              </a:ext>
            </a:extLst>
          </p:cNvPr>
          <p:cNvPicPr>
            <a:picLocks noChangeAspect="1"/>
          </p:cNvPicPr>
          <p:nvPr/>
        </p:nvPicPr>
        <p:blipFill>
          <a:blip r:embed="rId2"/>
          <a:stretch>
            <a:fillRect/>
          </a:stretch>
        </p:blipFill>
        <p:spPr>
          <a:xfrm>
            <a:off x="508743" y="1981200"/>
            <a:ext cx="11174384" cy="2162477"/>
          </a:xfrm>
          <a:prstGeom prst="rect">
            <a:avLst/>
          </a:prstGeom>
        </p:spPr>
      </p:pic>
    </p:spTree>
    <p:extLst>
      <p:ext uri="{BB962C8B-B14F-4D97-AF65-F5344CB8AC3E}">
        <p14:creationId xmlns:p14="http://schemas.microsoft.com/office/powerpoint/2010/main" val="31292023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B9B8D3-90FE-1602-30EB-E1C52A49169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4F265C5-F115-F497-219F-3320A9E0E9ED}"/>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29F31CD9-CF3C-00EB-28DE-4F27218B249A}"/>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82CC237A-775B-12D3-5C48-C03B68DA186B}"/>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53</a:t>
            </a:fld>
            <a:endParaRPr spc="-25" dirty="0"/>
          </a:p>
        </p:txBody>
      </p:sp>
      <p:sp>
        <p:nvSpPr>
          <p:cNvPr id="9" name="object 9">
            <a:extLst>
              <a:ext uri="{FF2B5EF4-FFF2-40B4-BE49-F238E27FC236}">
                <a16:creationId xmlns:a16="http://schemas.microsoft.com/office/drawing/2014/main" id="{4288F87E-B158-856A-11F2-C1B0160B5EA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5D079CAF-9CAD-073A-E07B-5F8756183A7E}"/>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4.3 Results</a:t>
            </a:r>
            <a:endParaRPr sz="3000">
              <a:latin typeface="Arial"/>
              <a:cs typeface="Arial"/>
            </a:endParaRPr>
          </a:p>
        </p:txBody>
      </p:sp>
      <p:sp>
        <p:nvSpPr>
          <p:cNvPr id="11" name="TextBox 10">
            <a:extLst>
              <a:ext uri="{FF2B5EF4-FFF2-40B4-BE49-F238E27FC236}">
                <a16:creationId xmlns:a16="http://schemas.microsoft.com/office/drawing/2014/main" id="{C8BC593B-0A59-9790-C353-33E0D4335C10}"/>
              </a:ext>
            </a:extLst>
          </p:cNvPr>
          <p:cNvSpPr txBox="1"/>
          <p:nvPr/>
        </p:nvSpPr>
        <p:spPr>
          <a:xfrm>
            <a:off x="1048416" y="4632410"/>
            <a:ext cx="10095037" cy="1200329"/>
          </a:xfrm>
          <a:prstGeom prst="rect">
            <a:avLst/>
          </a:prstGeom>
          <a:noFill/>
        </p:spPr>
        <p:txBody>
          <a:bodyPr wrap="square">
            <a:spAutoFit/>
          </a:bodyPr>
          <a:lstStyle/>
          <a:p>
            <a:pPr algn="ctr"/>
            <a:r>
              <a:rPr lang="en-US" b="1" dirty="0"/>
              <a:t>Read Empty Address</a:t>
            </a:r>
          </a:p>
          <a:p>
            <a:r>
              <a:rPr lang="en-US" b="1" dirty="0"/>
              <a:t>SHA_DATA: </a:t>
            </a:r>
            <a:r>
              <a:rPr lang="en-ID" sz="1800" dirty="0">
                <a:solidFill>
                  <a:schemeClr val="dk1"/>
                </a:solidFill>
                <a:latin typeface="Arial" panose="020B0604020202020204" pitchFamily="34" charset="0"/>
                <a:cs typeface="Arial" panose="020B0604020202020204" pitchFamily="34" charset="0"/>
              </a:rPr>
              <a:t>0</a:t>
            </a:r>
          </a:p>
          <a:p>
            <a:r>
              <a:rPr lang="en-ID" b="1" dirty="0">
                <a:solidFill>
                  <a:schemeClr val="dk1"/>
                </a:solidFill>
                <a:latin typeface="Arial" panose="020B0604020202020204" pitchFamily="34" charset="0"/>
                <a:cs typeface="Arial" panose="020B0604020202020204" pitchFamily="34" charset="0"/>
              </a:rPr>
              <a:t>ADDR: </a:t>
            </a:r>
            <a:r>
              <a:rPr lang="en-ID" dirty="0">
                <a:solidFill>
                  <a:schemeClr val="dk1"/>
                </a:solidFill>
                <a:latin typeface="Arial" panose="020B0604020202020204" pitchFamily="34" charset="0"/>
                <a:cs typeface="Arial" panose="020B0604020202020204" pitchFamily="34" charset="0"/>
              </a:rPr>
              <a:t>0x1</a:t>
            </a:r>
          </a:p>
          <a:p>
            <a:r>
              <a:rPr lang="en-ID" b="1" dirty="0" err="1">
                <a:solidFill>
                  <a:schemeClr val="dk1"/>
                </a:solidFill>
                <a:latin typeface="Arial" panose="020B0604020202020204" pitchFamily="34" charset="0"/>
                <a:cs typeface="Arial" panose="020B0604020202020204" pitchFamily="34" charset="0"/>
              </a:rPr>
              <a:t>pSLVERR</a:t>
            </a:r>
            <a:r>
              <a:rPr lang="en-ID" b="1" dirty="0">
                <a:solidFill>
                  <a:schemeClr val="dk1"/>
                </a:solidFill>
                <a:latin typeface="Arial" panose="020B0604020202020204" pitchFamily="34" charset="0"/>
                <a:cs typeface="Arial" panose="020B0604020202020204" pitchFamily="34" charset="0"/>
              </a:rPr>
              <a:t>: </a:t>
            </a:r>
            <a:r>
              <a:rPr lang="en-ID" dirty="0">
                <a:solidFill>
                  <a:schemeClr val="dk1"/>
                </a:solidFill>
                <a:latin typeface="Arial" panose="020B0604020202020204" pitchFamily="34" charset="0"/>
                <a:cs typeface="Arial" panose="020B0604020202020204" pitchFamily="34" charset="0"/>
              </a:rPr>
              <a:t>0</a:t>
            </a:r>
            <a:endParaRPr lang="en-US" b="1" dirty="0"/>
          </a:p>
        </p:txBody>
      </p:sp>
      <p:pic>
        <p:nvPicPr>
          <p:cNvPr id="6" name="Picture 5">
            <a:extLst>
              <a:ext uri="{FF2B5EF4-FFF2-40B4-BE49-F238E27FC236}">
                <a16:creationId xmlns:a16="http://schemas.microsoft.com/office/drawing/2014/main" id="{EF162ABE-E914-B58B-3B18-0183BEF865E7}"/>
              </a:ext>
            </a:extLst>
          </p:cNvPr>
          <p:cNvPicPr>
            <a:picLocks noChangeAspect="1"/>
          </p:cNvPicPr>
          <p:nvPr/>
        </p:nvPicPr>
        <p:blipFill>
          <a:blip r:embed="rId2"/>
          <a:stretch>
            <a:fillRect/>
          </a:stretch>
        </p:blipFill>
        <p:spPr>
          <a:xfrm>
            <a:off x="423005" y="1588273"/>
            <a:ext cx="11345858" cy="2972215"/>
          </a:xfrm>
          <a:prstGeom prst="rect">
            <a:avLst/>
          </a:prstGeom>
        </p:spPr>
      </p:pic>
    </p:spTree>
    <p:extLst>
      <p:ext uri="{BB962C8B-B14F-4D97-AF65-F5344CB8AC3E}">
        <p14:creationId xmlns:p14="http://schemas.microsoft.com/office/powerpoint/2010/main" val="9837939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2D4D53-2C29-2F98-6285-38B069F0CC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E3715A-33A9-760E-DFA7-CFFF9CE093D0}"/>
              </a:ext>
            </a:extLst>
          </p:cNvPr>
          <p:cNvSpPr txBox="1">
            <a:spLocks noGrp="1"/>
          </p:cNvSpPr>
          <p:nvPr>
            <p:ph type="title"/>
          </p:nvPr>
        </p:nvSpPr>
        <p:spPr>
          <a:xfrm>
            <a:off x="508317" y="370616"/>
            <a:ext cx="7871459" cy="678231"/>
          </a:xfrm>
          <a:prstGeom prst="rect">
            <a:avLst/>
          </a:prstGeom>
        </p:spPr>
        <p:txBody>
          <a:bodyPr vert="horz" wrap="square" lIns="0" tIns="123032" rIns="0" bIns="0" rtlCol="0">
            <a:spAutoFit/>
          </a:bodyPr>
          <a:lstStyle/>
          <a:p>
            <a:pPr marL="12700">
              <a:lnSpc>
                <a:spcPct val="100000"/>
              </a:lnSpc>
              <a:spcBef>
                <a:spcPts val="105"/>
              </a:spcBef>
            </a:pPr>
            <a:r>
              <a:rPr lang="en-US"/>
              <a:t>4.</a:t>
            </a:r>
            <a:r>
              <a:rPr lang="en-US" spc="-85"/>
              <a:t> </a:t>
            </a:r>
            <a:r>
              <a:rPr lang="en-US"/>
              <a:t>RTL</a:t>
            </a:r>
            <a:r>
              <a:rPr lang="en-US" spc="-110"/>
              <a:t> </a:t>
            </a:r>
            <a:r>
              <a:rPr lang="en-US" spc="-20"/>
              <a:t>Verification</a:t>
            </a:r>
            <a:endParaRPr spc="-10" dirty="0"/>
          </a:p>
        </p:txBody>
      </p:sp>
      <p:sp>
        <p:nvSpPr>
          <p:cNvPr id="7" name="object 7">
            <a:extLst>
              <a:ext uri="{FF2B5EF4-FFF2-40B4-BE49-F238E27FC236}">
                <a16:creationId xmlns:a16="http://schemas.microsoft.com/office/drawing/2014/main" id="{9DA91BDE-D64F-BB51-3216-C06F76D0E3F5}"/>
              </a:ext>
            </a:extLst>
          </p:cNvPr>
          <p:cNvSpPr txBox="1">
            <a:spLocks noGrp="1"/>
          </p:cNvSpPr>
          <p:nvPr>
            <p:ph type="dt" sz="half" idx="6"/>
          </p:nvPr>
        </p:nvSpPr>
        <p:spPr>
          <a:prstGeom prst="rect">
            <a:avLst/>
          </a:prstGeom>
        </p:spPr>
        <p:txBody>
          <a:bodyPr vert="horz" wrap="square" lIns="0" tIns="6350" rIns="0" bIns="0" rtlCol="0">
            <a:spAutoFit/>
          </a:bodyPr>
          <a:lstStyle/>
          <a:p>
            <a:pPr marL="12700">
              <a:lnSpc>
                <a:spcPct val="100000"/>
              </a:lnSpc>
              <a:spcBef>
                <a:spcPts val="50"/>
              </a:spcBef>
            </a:pPr>
            <a:r>
              <a:rPr dirty="0"/>
              <a:t>Thiết</a:t>
            </a:r>
            <a:r>
              <a:rPr spc="-20" dirty="0"/>
              <a:t> </a:t>
            </a:r>
            <a:r>
              <a:rPr dirty="0"/>
              <a:t>Kế</a:t>
            </a:r>
            <a:r>
              <a:rPr spc="-40" dirty="0"/>
              <a:t> </a:t>
            </a:r>
            <a:r>
              <a:rPr dirty="0"/>
              <a:t>Vi</a:t>
            </a:r>
            <a:r>
              <a:rPr spc="10" dirty="0"/>
              <a:t> </a:t>
            </a:r>
            <a:r>
              <a:rPr spc="-20" dirty="0"/>
              <a:t>Mạch</a:t>
            </a:r>
          </a:p>
        </p:txBody>
      </p:sp>
      <p:sp>
        <p:nvSpPr>
          <p:cNvPr id="8" name="object 8">
            <a:extLst>
              <a:ext uri="{FF2B5EF4-FFF2-40B4-BE49-F238E27FC236}">
                <a16:creationId xmlns:a16="http://schemas.microsoft.com/office/drawing/2014/main" id="{51BFBB3E-F5EC-17CF-B15F-3509EAC07A76}"/>
              </a:ext>
            </a:extLst>
          </p:cNvPr>
          <p:cNvSpPr txBox="1">
            <a:spLocks noGrp="1"/>
          </p:cNvSpPr>
          <p:nvPr>
            <p:ph type="sldNum" sz="quarter" idx="7"/>
          </p:nvPr>
        </p:nvSpPr>
        <p:spPr>
          <a:prstGeom prst="rect">
            <a:avLst/>
          </a:prstGeom>
        </p:spPr>
        <p:txBody>
          <a:bodyPr vert="horz" wrap="square" lIns="0" tIns="6350" rIns="0" bIns="0" rtlCol="0">
            <a:spAutoFit/>
          </a:bodyPr>
          <a:lstStyle/>
          <a:p>
            <a:pPr marL="38100">
              <a:lnSpc>
                <a:spcPct val="100000"/>
              </a:lnSpc>
              <a:spcBef>
                <a:spcPts val="50"/>
              </a:spcBef>
            </a:pPr>
            <a:fld id="{81D60167-4931-47E6-BA6A-407CBD079E47}" type="slidenum">
              <a:rPr spc="-25" dirty="0"/>
              <a:t>54</a:t>
            </a:fld>
            <a:endParaRPr spc="-25" dirty="0"/>
          </a:p>
        </p:txBody>
      </p:sp>
      <p:sp>
        <p:nvSpPr>
          <p:cNvPr id="9" name="object 9">
            <a:extLst>
              <a:ext uri="{FF2B5EF4-FFF2-40B4-BE49-F238E27FC236}">
                <a16:creationId xmlns:a16="http://schemas.microsoft.com/office/drawing/2014/main" id="{2DF6D3E2-C635-9809-BC2B-CF848DB7B5B2}"/>
              </a:ext>
            </a:extLst>
          </p:cNvPr>
          <p:cNvSpPr txBox="1">
            <a:spLocks noGrp="1"/>
          </p:cNvSpPr>
          <p:nvPr>
            <p:ph type="ftr" sz="quarter" idx="5"/>
          </p:nvPr>
        </p:nvSpPr>
        <p:spPr>
          <a:xfrm>
            <a:off x="10138156" y="6594240"/>
            <a:ext cx="1029334" cy="128881"/>
          </a:xfrm>
          <a:prstGeom prst="rect">
            <a:avLst/>
          </a:prstGeom>
        </p:spPr>
        <p:txBody>
          <a:bodyPr vert="horz" wrap="square" lIns="0" tIns="5715" rIns="0" bIns="0" rtlCol="0">
            <a:spAutoFit/>
          </a:bodyPr>
          <a:lstStyle/>
          <a:p>
            <a:pPr marL="12700">
              <a:lnSpc>
                <a:spcPct val="100000"/>
              </a:lnSpc>
              <a:spcBef>
                <a:spcPts val="45"/>
              </a:spcBef>
            </a:pPr>
            <a:r>
              <a:rPr dirty="0"/>
              <a:t>©</a:t>
            </a:r>
            <a:r>
              <a:rPr spc="-45" dirty="0"/>
              <a:t> </a:t>
            </a:r>
            <a:r>
              <a:rPr dirty="0"/>
              <a:t>202</a:t>
            </a:r>
            <a:r>
              <a:rPr lang="en-US" dirty="0"/>
              <a:t>6 – Kim Gia Bao</a:t>
            </a:r>
            <a:endParaRPr spc="-10" dirty="0"/>
          </a:p>
        </p:txBody>
      </p:sp>
      <p:sp>
        <p:nvSpPr>
          <p:cNvPr id="3" name="object 3">
            <a:extLst>
              <a:ext uri="{FF2B5EF4-FFF2-40B4-BE49-F238E27FC236}">
                <a16:creationId xmlns:a16="http://schemas.microsoft.com/office/drawing/2014/main" id="{AE523072-FDE9-78C7-8145-D04D9CAFDE5B}"/>
              </a:ext>
            </a:extLst>
          </p:cNvPr>
          <p:cNvSpPr txBox="1"/>
          <p:nvPr/>
        </p:nvSpPr>
        <p:spPr>
          <a:xfrm>
            <a:off x="508317" y="1121155"/>
            <a:ext cx="5435283" cy="475130"/>
          </a:xfrm>
          <a:prstGeom prst="rect">
            <a:avLst/>
          </a:prstGeom>
        </p:spPr>
        <p:txBody>
          <a:bodyPr vert="horz" wrap="square" lIns="0" tIns="13335" rIns="0" bIns="0" rtlCol="0">
            <a:spAutoFit/>
          </a:bodyPr>
          <a:lstStyle/>
          <a:p>
            <a:pPr marL="12700">
              <a:lnSpc>
                <a:spcPct val="100000"/>
              </a:lnSpc>
              <a:spcBef>
                <a:spcPts val="105"/>
              </a:spcBef>
            </a:pPr>
            <a:r>
              <a:rPr lang="en-US" sz="3000" b="1">
                <a:solidFill>
                  <a:srgbClr val="7C45AD"/>
                </a:solidFill>
                <a:latin typeface="Arial"/>
                <a:cs typeface="Arial"/>
              </a:rPr>
              <a:t>4.3 Results</a:t>
            </a:r>
            <a:endParaRPr sz="3000">
              <a:latin typeface="Arial"/>
              <a:cs typeface="Arial"/>
            </a:endParaRPr>
          </a:p>
        </p:txBody>
      </p:sp>
      <p:pic>
        <p:nvPicPr>
          <p:cNvPr id="6" name="Picture 5">
            <a:extLst>
              <a:ext uri="{FF2B5EF4-FFF2-40B4-BE49-F238E27FC236}">
                <a16:creationId xmlns:a16="http://schemas.microsoft.com/office/drawing/2014/main" id="{F413F8B5-F044-BA85-3E0D-09985C044E69}"/>
              </a:ext>
            </a:extLst>
          </p:cNvPr>
          <p:cNvPicPr>
            <a:picLocks noChangeAspect="1"/>
          </p:cNvPicPr>
          <p:nvPr/>
        </p:nvPicPr>
        <p:blipFill>
          <a:blip r:embed="rId2"/>
          <a:stretch>
            <a:fillRect/>
          </a:stretch>
        </p:blipFill>
        <p:spPr>
          <a:xfrm>
            <a:off x="0" y="1630614"/>
            <a:ext cx="12192000" cy="3596772"/>
          </a:xfrm>
          <a:prstGeom prst="rect">
            <a:avLst/>
          </a:prstGeom>
        </p:spPr>
      </p:pic>
    </p:spTree>
    <p:extLst>
      <p:ext uri="{BB962C8B-B14F-4D97-AF65-F5344CB8AC3E}">
        <p14:creationId xmlns:p14="http://schemas.microsoft.com/office/powerpoint/2010/main" val="38436020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
            <a:ext cx="12192000" cy="6857999"/>
            <a:chOff x="0" y="1"/>
            <a:chExt cx="12192000" cy="6857999"/>
          </a:xfrm>
        </p:grpSpPr>
        <p:pic>
          <p:nvPicPr>
            <p:cNvPr id="3" name="object 3"/>
            <p:cNvPicPr/>
            <p:nvPr/>
          </p:nvPicPr>
          <p:blipFill>
            <a:blip r:embed="rId2" cstate="print"/>
            <a:stretch>
              <a:fillRect/>
            </a:stretch>
          </p:blipFill>
          <p:spPr>
            <a:xfrm>
              <a:off x="0" y="1"/>
              <a:ext cx="12192000" cy="6857999"/>
            </a:xfrm>
            <a:prstGeom prst="rect">
              <a:avLst/>
            </a:prstGeom>
          </p:spPr>
        </p:pic>
        <p:pic>
          <p:nvPicPr>
            <p:cNvPr id="4" name="object 4"/>
            <p:cNvPicPr/>
            <p:nvPr/>
          </p:nvPicPr>
          <p:blipFill>
            <a:blip r:embed="rId3" cstate="print"/>
            <a:stretch>
              <a:fillRect/>
            </a:stretch>
          </p:blipFill>
          <p:spPr>
            <a:xfrm>
              <a:off x="0" y="800100"/>
              <a:ext cx="9163049" cy="5257800"/>
            </a:xfrm>
            <a:prstGeom prst="rect">
              <a:avLst/>
            </a:prstGeom>
          </p:spPr>
        </p:pic>
        <p:pic>
          <p:nvPicPr>
            <p:cNvPr id="5" name="object 5"/>
            <p:cNvPicPr/>
            <p:nvPr/>
          </p:nvPicPr>
          <p:blipFill>
            <a:blip r:embed="rId4" cstate="print"/>
            <a:stretch>
              <a:fillRect/>
            </a:stretch>
          </p:blipFill>
          <p:spPr>
            <a:xfrm>
              <a:off x="28575" y="762000"/>
              <a:ext cx="9163050" cy="85725"/>
            </a:xfrm>
            <a:prstGeom prst="rect">
              <a:avLst/>
            </a:prstGeom>
          </p:spPr>
        </p:pic>
        <p:pic>
          <p:nvPicPr>
            <p:cNvPr id="6" name="object 6"/>
            <p:cNvPicPr/>
            <p:nvPr/>
          </p:nvPicPr>
          <p:blipFill>
            <a:blip r:embed="rId5" cstate="print"/>
            <a:stretch>
              <a:fillRect/>
            </a:stretch>
          </p:blipFill>
          <p:spPr>
            <a:xfrm>
              <a:off x="0" y="485775"/>
              <a:ext cx="8943974" cy="5876925"/>
            </a:xfrm>
            <a:prstGeom prst="rect">
              <a:avLst/>
            </a:prstGeom>
          </p:spPr>
        </p:pic>
        <p:pic>
          <p:nvPicPr>
            <p:cNvPr id="7" name="object 7"/>
            <p:cNvPicPr/>
            <p:nvPr/>
          </p:nvPicPr>
          <p:blipFill>
            <a:blip r:embed="rId6" cstate="print"/>
            <a:stretch>
              <a:fillRect/>
            </a:stretch>
          </p:blipFill>
          <p:spPr>
            <a:xfrm>
              <a:off x="0" y="514350"/>
              <a:ext cx="8924924" cy="5819775"/>
            </a:xfrm>
            <a:prstGeom prst="rect">
              <a:avLst/>
            </a:prstGeom>
          </p:spPr>
        </p:pic>
      </p:grpSp>
      <p:sp>
        <p:nvSpPr>
          <p:cNvPr id="8" name="object 8"/>
          <p:cNvSpPr txBox="1">
            <a:spLocks noGrp="1"/>
          </p:cNvSpPr>
          <p:nvPr>
            <p:ph type="title"/>
          </p:nvPr>
        </p:nvSpPr>
        <p:spPr>
          <a:xfrm>
            <a:off x="2697733" y="2503487"/>
            <a:ext cx="3277870" cy="1670050"/>
          </a:xfrm>
          <a:prstGeom prst="rect">
            <a:avLst/>
          </a:prstGeom>
        </p:spPr>
        <p:txBody>
          <a:bodyPr vert="horz" wrap="square" lIns="0" tIns="28575" rIns="0" bIns="0" rtlCol="0">
            <a:spAutoFit/>
          </a:bodyPr>
          <a:lstStyle/>
          <a:p>
            <a:pPr marL="12700" marR="5080" indent="10160">
              <a:lnSpc>
                <a:spcPts val="6459"/>
              </a:lnSpc>
              <a:spcBef>
                <a:spcPts val="225"/>
              </a:spcBef>
            </a:pPr>
            <a:r>
              <a:rPr sz="5400" b="0" dirty="0">
                <a:solidFill>
                  <a:srgbClr val="FFFFFF"/>
                </a:solidFill>
                <a:latin typeface="Arial"/>
                <a:cs typeface="Arial"/>
              </a:rPr>
              <a:t>Thanks</a:t>
            </a:r>
            <a:r>
              <a:rPr sz="5400" b="0" spc="-20" dirty="0">
                <a:solidFill>
                  <a:srgbClr val="FFFFFF"/>
                </a:solidFill>
                <a:latin typeface="Arial"/>
                <a:cs typeface="Arial"/>
              </a:rPr>
              <a:t> </a:t>
            </a:r>
            <a:r>
              <a:rPr sz="5400" b="0" spc="-25" dirty="0">
                <a:solidFill>
                  <a:srgbClr val="FFFFFF"/>
                </a:solidFill>
                <a:latin typeface="Arial"/>
                <a:cs typeface="Arial"/>
              </a:rPr>
              <a:t>for </a:t>
            </a:r>
            <a:r>
              <a:rPr sz="5400" b="0" spc="-10" dirty="0">
                <a:solidFill>
                  <a:srgbClr val="FFFFFF"/>
                </a:solidFill>
                <a:latin typeface="Arial"/>
                <a:cs typeface="Arial"/>
              </a:rPr>
              <a:t>watching</a:t>
            </a:r>
            <a:endParaRPr sz="54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4955</TotalTime>
  <Words>4103</Words>
  <Application>Microsoft Office PowerPoint</Application>
  <PresentationFormat>Widescreen</PresentationFormat>
  <Paragraphs>639</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Courier New</vt:lpstr>
      <vt:lpstr>Times New Roman</vt:lpstr>
      <vt:lpstr>Office Theme</vt:lpstr>
      <vt:lpstr>Design Specifications IP APB BUS PROTOCOL &amp; SHA-256</vt:lpstr>
      <vt:lpstr>Table Content</vt:lpstr>
      <vt:lpstr>1. Specifications</vt:lpstr>
      <vt:lpstr>1.1. SHA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1.2. APB BUS PROTOCOL</vt:lpstr>
      <vt:lpstr>1.2. APB BUS PROTOCOL</vt:lpstr>
      <vt:lpstr>1.2. APB BUS PROTOCOL</vt:lpstr>
      <vt:lpstr>1.2. APB BUS PROTOCOL</vt:lpstr>
      <vt:lpstr>1.2. APB BUS PROTOCOL</vt:lpstr>
      <vt:lpstr>1.2. APB BUS PROTOCOL</vt:lpstr>
      <vt:lpstr>1.2. APB BUS PROTOCOL</vt:lpstr>
      <vt:lpstr>1.2. APB BUS PROTOCOL</vt:lpstr>
      <vt:lpstr>1.2. APB BUS PROTOCOL</vt:lpstr>
      <vt:lpstr>1.2. APB BUS PROTOCOL</vt:lpstr>
      <vt:lpstr>1.2. APB BUS PROTOCOL</vt:lpstr>
      <vt:lpstr>1.2. APB BUS PROTOCOL</vt:lpstr>
      <vt:lpstr>1.2. APB BUS PROTOCOL</vt:lpstr>
      <vt:lpstr>1.2. APB BUS PROTOCOL</vt:lpstr>
      <vt:lpstr>2. High Level Block Design</vt:lpstr>
      <vt:lpstr>2. High Level Block 2.1. Interface</vt:lpstr>
      <vt:lpstr>2. High Level Block 2.1. Interface APB_Master:</vt:lpstr>
      <vt:lpstr>2. High Level Block 2.1. Interface APB_Slave:</vt:lpstr>
      <vt:lpstr>2. High Level Block 2.2. Waveform – Write Transfer</vt:lpstr>
      <vt:lpstr>2. High Level Block 2.2. Waveform – Read Transfer</vt:lpstr>
      <vt:lpstr>2. High Level Block Design</vt:lpstr>
      <vt:lpstr>2. High Level Block Design</vt:lpstr>
      <vt:lpstr>2. High Level Block Design</vt:lpstr>
      <vt:lpstr>3. Low Level Block Design</vt:lpstr>
      <vt:lpstr>3. Low Level Block 3.1. APB_Master</vt:lpstr>
      <vt:lpstr>3. Low Level Block 3.1. APB_Master</vt:lpstr>
      <vt:lpstr>3. Low Level Block 3.1. APB_Slave</vt:lpstr>
      <vt:lpstr>3. Low Level Block 3.1. APB_Slave</vt:lpstr>
      <vt:lpstr>PowerPoint Presentation</vt:lpstr>
      <vt:lpstr>PowerPoint Presentation</vt:lpstr>
      <vt:lpstr>PowerPoint Presentation</vt:lpstr>
      <vt:lpstr>4. RTL Verification</vt:lpstr>
      <vt:lpstr>4. RTL Verification</vt:lpstr>
      <vt:lpstr>4. RTL Verification</vt:lpstr>
      <vt:lpstr>4. RTL Verification</vt:lpstr>
      <vt:lpstr>4. RTL Verification</vt:lpstr>
      <vt:lpstr>4. RTL Verification</vt:lpstr>
      <vt:lpstr>4. RTL Verification</vt:lpstr>
      <vt:lpstr>4. RTL Verification</vt:lpstr>
      <vt:lpstr>4. RTL Verification</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Kim Gia Bảo</cp:lastModifiedBy>
  <cp:revision>70</cp:revision>
  <dcterms:created xsi:type="dcterms:W3CDTF">2025-12-13T15:45:28Z</dcterms:created>
  <dcterms:modified xsi:type="dcterms:W3CDTF">2026-03-12T11:59:39Z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2025-06-10T00:00:00Z</vt:filetime>
  </property>
  <property fmtid="{D5CDD505-2E9C-101B-9397-08002B2CF9AE}" pid="3" name="LastSaved">
    <vt:filetime>2025-12-13T00:00:00Z</vt:filetime>
  </property>
  <property fmtid="{D5CDD505-2E9C-101B-9397-08002B2CF9AE}" pid="4" name="Producer">
    <vt:lpwstr>3-Heights(TM) PDF Security Shell 4.8.25.2 (http://www.pdf-tools.com)</vt:lpwstr>
  </property>
</Properties>
</file>